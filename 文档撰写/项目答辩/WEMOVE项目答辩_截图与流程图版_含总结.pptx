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 20 秒</a:t>
            </a:r>
          </a:p>
          <a:p>
            <a:endParaRPr/>
          </a:p>
          <a:p>
            <a:r>
              <a:t>我们制作的是 WEMOVE 运动玩具网站。今天先沿着使用者的操作展示功能，再用三张工程图解释状态流转、模块协作与交易一致性。所有交易环节均为课程模拟。</a:t>
            </a:r>
          </a:p>
          <a:p>
            <a:endParaRPr/>
          </a:p>
          <a:p>
            <a:r>
              <a:t>依据：</a:t>
            </a:r>
          </a:p>
          <a:p>
            <a:r>
              <a:t>• project-implementation/project-requirements/WEMOVE网站重构需求文档.md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 35 秒</a:t>
            </a:r>
          </a:p>
          <a:p>
            <a:endParaRPr/>
          </a:p>
          <a:p>
            <a:r>
              <a:t>首页把商品、玩法灵感与购买渠道组织成统一入口。儿童是商品使用对象，账户与交易服务面向成年人。消费者可以从发现商品继续到结算和服务，采购人员则走经销合作与询价流程。我们沿用网站的悠哉中文、Barlow Condensed 品牌字和 Caveat 英文主题字，整份答辩也保持相同配色与字体。</a:t>
            </a:r>
          </a:p>
          <a:p>
            <a:endParaRPr/>
          </a:p>
          <a:p>
            <a:r>
              <a:t>依据：</a:t>
            </a:r>
          </a:p>
          <a:p>
            <a:r>
              <a:t>• project-implementation/apps/web/src/pages/HomePage.vue</a:t>
            </a:r>
          </a:p>
          <a:p>
            <a:r>
              <a:t>• project-implementation/apps/web/src/theme.css</a:t>
            </a:r>
          </a:p>
          <a:p>
            <a:r>
              <a:t>• 截图：http://127.0.0.1:5173/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 40 秒</a:t>
            </a:r>
          </a:p>
          <a:p>
            <a:endParaRPr/>
          </a:p>
          <a:p>
            <a:r>
              <a:t>这一页直接看商品目录。左侧集中处理分类和价格范围，右侧按拍立得卡片组织商品；搜索支持名称和 SKU，排序帮助用户缩小范围。这里强调的是从视觉浏览转向明确筛选的过程。商品可售状态、公开价格由后端商品模块提供，经销价格在专属入口中处理。图片为课程使用的 AI 概念配图，不是商品实拍。</a:t>
            </a:r>
          </a:p>
          <a:p>
            <a:endParaRPr/>
          </a:p>
          <a:p>
            <a:r>
              <a:t>依据：</a:t>
            </a:r>
          </a:p>
          <a:p>
            <a:r>
              <a:t>• project-implementation/apps/web/src/pages/ProductsPage.vue</a:t>
            </a:r>
          </a:p>
          <a:p>
            <a:r>
              <a:t>• project-implementation/docs/modules/catalog/角色B模块设计.md</a:t>
            </a:r>
          </a:p>
          <a:p>
            <a:r>
              <a:t>• 截图：http://127.0.0.1:5173/products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 45 秒</a:t>
            </a:r>
          </a:p>
          <a:p>
            <a:endParaRPr/>
          </a:p>
          <a:p>
            <a:r>
              <a:t>详情页进一步解释商品适合谁、在哪使用、如何开始玩。右侧提供适龄与使用场景，价格与可售状态连接购买操作；页面下方的玩法配图让抽象描述更易理解。界面展示和后端商品信息保持联系，进入购物车之后仍会重新检查商品是否可售，而不是仅依赖页面当时显示的价格和状态。</a:t>
            </a:r>
          </a:p>
          <a:p>
            <a:endParaRPr/>
          </a:p>
          <a:p>
            <a:r>
              <a:t>依据：</a:t>
            </a:r>
          </a:p>
          <a:p>
            <a:r>
              <a:t>• project-implementation/apps/web/src/pages/ProductDetailPage.vue</a:t>
            </a:r>
          </a:p>
          <a:p>
            <a:r>
              <a:t>• project-implementation/docs/modules/catalog/角色B模块设计.md</a:t>
            </a:r>
          </a:p>
          <a:p>
            <a:r>
              <a:t>• 截图：http://127.0.0.1:5173/products/86ffd678-3a01-46df-b13f-5cb676dd83f1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 35 秒</a:t>
            </a:r>
          </a:p>
          <a:p>
            <a:endParaRPr/>
          </a:p>
          <a:p>
            <a:r>
              <a:t>身份模块覆盖注册、登录、个人资料和会话管理。这里使用示例账户说明界面，避免展示真实个人信息。权限不只体现在菜单上，后端在每次访问时检查账户状态和资源归属，例如普通用户只能查看自己的订单和工单。经销能力还会结合有效合作资格计算，并不等同于单独一个基础角色。</a:t>
            </a:r>
          </a:p>
          <a:p>
            <a:endParaRPr/>
          </a:p>
          <a:p>
            <a:r>
              <a:t>依据：</a:t>
            </a:r>
          </a:p>
          <a:p>
            <a:r>
              <a:t>• project-implementation/docs/modules/identity/README.md</a:t>
            </a:r>
          </a:p>
          <a:p>
            <a:r>
              <a:t>• project-implementation/apps/web/src/pages/ProfilePage.vue</a:t>
            </a:r>
          </a:p>
          <a:p>
            <a:r>
              <a:t>• 只读预览：/account/profile?preview=1&amp;role=user&amp;state=normal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 50 秒</a:t>
            </a:r>
          </a:p>
          <a:p>
            <a:endParaRPr/>
          </a:p>
          <a:p>
            <a:r>
              <a:t>左边是购物车，右边是结算。用户选定商品和数量后，服务器会复核商品当前状态、价格和购物车版本，防止使用过期页面直接形成不可信金额。创建订单时保存商品、价格和地址快照，类似保留当时的小票。创建订单本身不扣减或预留库存，库存会在模拟付款成功时处理。截图是只读示例界面，不作为本次真实交易已执行的证据。</a:t>
            </a:r>
          </a:p>
          <a:p>
            <a:endParaRPr/>
          </a:p>
          <a:p>
            <a:r>
              <a:t>依据：</a:t>
            </a:r>
          </a:p>
          <a:p>
            <a:r>
              <a:t>• project-implementation/apps/api/src/main/java/wemove/commerce/service/CheckoutService.java</a:t>
            </a:r>
          </a:p>
          <a:p>
            <a:r>
              <a:t>• project-implementation/docs/modules/commerce/README.md</a:t>
            </a:r>
          </a:p>
          <a:p>
            <a:r>
              <a:t>• 只读预览：/cart 与 /checkout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 65 秒</a:t>
            </a:r>
          </a:p>
          <a:p>
            <a:endParaRPr/>
          </a:p>
          <a:p>
            <a:r>
              <a:t>主线从待付款到已付款，再由管理员模拟发货，最后由订单本人确认收货。模拟付款失败后仍是待付款，库存不变，不存在单独的失败订单状态。未付款时取消也不改变库存。已付款且尚未发货时取消，返还全单库存，并记录整单模拟退款。两种取消均支持订单本人或管理员操作，发货后不能再沿该取消路径处理。所有动作还受到订单归属、版本与状态校验约束。</a:t>
            </a:r>
          </a:p>
          <a:p>
            <a:endParaRPr/>
          </a:p>
          <a:p>
            <a:r>
              <a:t>依据：</a:t>
            </a:r>
          </a:p>
          <a:p>
            <a:r>
              <a:t>• project-implementation/apps/api/src/main/java/wemove/commerce/service/OrderCommandService.java</a:t>
            </a:r>
          </a:p>
          <a:p>
            <a:r>
              <a:t>• project-implementation/apps/api/src/main/java/wemove/catalog/service/InventoryService.java</a:t>
            </a:r>
          </a:p>
          <a:p>
            <a:r>
              <a:t>• project-implementation/apps/api/src/main/java/wemove/commerce/domain/CommerceRules.java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 45 秒</a:t>
            </a:r>
          </a:p>
          <a:p>
            <a:endParaRPr/>
          </a:p>
          <a:p>
            <a:r>
              <a:t>通过合作审核并取得有效资格后，采购人员可以访问专属商品目录，填写数量和采购需求，形成独立询价。询价保存当时的参考价，允许表达超过现有库存的需求，不直接创建零售订单，也不扣减库存。右侧是当前测试账户实际可读取的询价及状态历史，可以看出从待处理、处理中到已回复的过程。企业或资格暂停会影响后续经销访问。</a:t>
            </a:r>
          </a:p>
          <a:p>
            <a:endParaRPr/>
          </a:p>
          <a:p>
            <a:r>
              <a:t>依据：</a:t>
            </a:r>
          </a:p>
          <a:p>
            <a:r>
              <a:t>• project-implementation/docs/modules/dealership/README.md</a:t>
            </a:r>
          </a:p>
          <a:p>
            <a:r>
              <a:t>• project-implementation/apps/api/src/main/java/wemove/dealership/service/DealerAccess.java</a:t>
            </a:r>
          </a:p>
          <a:p>
            <a:r>
              <a:t>• 截图：/dealer/catalog、/account/inquiries 与询价状态历史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 40 秒</a:t>
            </a:r>
          </a:p>
          <a:p>
            <a:endParaRPr/>
          </a:p>
          <a:p>
            <a:r>
              <a:t>客服入口让用户按照一般咨询、产品咨询或售后问题描述需求，并在需要时关联商品或本人订单。工单后续支持补充回复、管理员处理和关闭，内部备注与面向用户的回复分开返回。当前测试账户没有历史工单，所以这里展示真实入口与说明，不虚构处理记录。运营侧另有总览与只读审计检索，帮助追踪关键操作。课程范围为文本工单。</a:t>
            </a:r>
          </a:p>
          <a:p>
            <a:endParaRPr/>
          </a:p>
          <a:p>
            <a:r>
              <a:t>依据：</a:t>
            </a:r>
          </a:p>
          <a:p>
            <a:r>
              <a:t>• project-implementation/docs/modules/support/README.md</a:t>
            </a:r>
          </a:p>
          <a:p>
            <a:r>
              <a:t>• project-implementation/apps/web/src/pages/support/TicketSubmitPage.vue</a:t>
            </a:r>
          </a:p>
          <a:p>
            <a:r>
              <a:t>• 截图：http://127.0.0.1:5173/contact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 45 秒</a:t>
            </a:r>
          </a:p>
          <a:p>
            <a:endParaRPr/>
          </a:p>
          <a:p>
            <a:r>
              <a:t>内容模块现在已经接入。文章编辑器把正文拆成文字块和图文块，提供左右图文、通栏图片、图注与替代文字，并支持实时预览和调整顺序。保存草稿与发布是分开的动作，发布后由公开文章页读取，文章下线后旧链接不再提供内容。后台还维护 FAQ、首页 Banner 与品牌设置。截图用于呈现现有编辑界面，未在本次采集中保存或发布任何文章。</a:t>
            </a:r>
          </a:p>
          <a:p>
            <a:endParaRPr/>
          </a:p>
          <a:p>
            <a:r>
              <a:t>依据：</a:t>
            </a:r>
          </a:p>
          <a:p>
            <a:r>
              <a:t>• project-implementation/docs/modules/content/README.md</a:t>
            </a:r>
          </a:p>
          <a:p>
            <a:r>
              <a:t>• project-implementation/docs/modules/content/文章图文排版.md</a:t>
            </a:r>
          </a:p>
          <a:p>
            <a:r>
              <a:t>• 只读预览：/admin/content?preview=1&amp;role=admin&amp;state=normal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 40 秒</a:t>
            </a:r>
          </a:p>
          <a:p>
            <a:endParaRPr/>
          </a:p>
          <a:p>
            <a:r>
              <a:t>下载中心按关键词、类型和关联商品帮助用户找到资料，后台统一维护发布状态、可见范围和文件替换。公开资料面向所有访客，经销资料要求有效资格，内部资料仅供管理员使用。下载接口每次重新核验账户与资格；替换文件后旧下载地址失效，避免用户继续取到过期资料。图片媒体也由同一模块维护，文章与商品通过引用使用素材。这里未执行实际下载或替换。</a:t>
            </a:r>
          </a:p>
          <a:p>
            <a:endParaRPr/>
          </a:p>
          <a:p>
            <a:r>
              <a:t>依据：</a:t>
            </a:r>
          </a:p>
          <a:p>
            <a:r>
              <a:t>• project-implementation/docs/modules/content/README.md</a:t>
            </a:r>
          </a:p>
          <a:p>
            <a:r>
              <a:t>• project-implementation/docs/modules/content/媒体与下载资料说明.md</a:t>
            </a:r>
          </a:p>
          <a:p>
            <a:r>
              <a:t>• 只读预览：/downloads、/admin/files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 50 秒</a:t>
            </a:r>
          </a:p>
          <a:p>
            <a:endParaRPr/>
          </a:p>
          <a:p>
            <a:r>
              <a:t>我们采用模块化单体，一个 Vue 前端连接一个 Spring Boot 后端进程，六个业务模块共用 MySQL。A 负责身份，B 商品库存，C 零售，D 经销，E 内容文件，F 支持与运营。模块按业务职责组织，公共能力提供事务、幂等、身份端口和错误响应。图中特别画出订单到商品库存的协作，付款时通过库存服务处理扣减。这样的组织降低部署成本，并让本地数据库事务覆盖相关业务写入。</a:t>
            </a:r>
          </a:p>
          <a:p>
            <a:endParaRPr/>
          </a:p>
          <a:p>
            <a:r>
              <a:t>依据：</a:t>
            </a:r>
          </a:p>
          <a:p>
            <a:r>
              <a:t>• project-implementation/apps/web/package.json</a:t>
            </a:r>
          </a:p>
          <a:p>
            <a:r>
              <a:t>• project-implementation/apps/api/pom.xml</a:t>
            </a:r>
          </a:p>
          <a:p>
            <a:r>
              <a:t>• project-implementation/project-requirements/WEMOVE团队分工与协作规范.md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 70 秒</a:t>
            </a:r>
          </a:p>
          <a:p>
            <a:endParaRPr/>
          </a:p>
          <a:p>
            <a:r>
              <a:t>幂等键可以理解为一次办理的凭条。网络超时后，浏览器带相同键和相同内容重试，服务端返回原结果，不重复扣库存；同一个键换了内容则返回冲突。身份检查通过后，幂等执行器在事务中锁定账户并读取已有记录。首次执行才继续校验订单归属、版本与状态，再调用库存服务、保存付款与订单历史和审计，最后保存响应并一起提交。中途失败则整体回滚。幂等键解决重复请求，订单版本解决页面过期，它们保护的是两类不同问题。图为核心调用的简化表达，省略了控制器和仓储等中间层。</a:t>
            </a:r>
          </a:p>
          <a:p>
            <a:endParaRPr/>
          </a:p>
          <a:p>
            <a:r>
              <a:t>依据：</a:t>
            </a:r>
          </a:p>
          <a:p>
            <a:r>
              <a:t>• project-implementation/apps/api/src/main/java/wemove/platform/idempotency/IdempotencyExecutor.java</a:t>
            </a:r>
          </a:p>
          <a:p>
            <a:r>
              <a:t>• project-implementation/apps/api/src/main/java/wemove/platform/SpringUnitOfWork.java</a:t>
            </a:r>
          </a:p>
          <a:p>
            <a:r>
              <a:t>• project-implementation/apps/api/src/main/java/wemove/commerce/service/OrderCommandService.java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 45 秒</a:t>
            </a:r>
          </a:p>
          <a:p>
            <a:endParaRPr/>
          </a:p>
          <a:p>
            <a:r>
              <a:t>验证分成三个层次。第一层是实际界面和业务操作，已有 API 冒烟以及文章编辑保存后重新读取的记录。第二层是自动检查，九月八日全站圆角与手绘图标验证记录了前端二十四个文件、一百七十一项通过，并记录类型检查与生产构建通过。这些数字不能跨批次累计，也不能代表所有后端模块都在当前版本重新执行。第三层是正式验收，一百五十九条目前仍是待审核的验收设计，需要在统一候选版本逐条执行并归档。</a:t>
            </a:r>
          </a:p>
          <a:p>
            <a:endParaRPr/>
          </a:p>
          <a:p>
            <a:r>
              <a:t>依据：</a:t>
            </a:r>
          </a:p>
          <a:p>
            <a:r>
              <a:t>• project-implementation/docs/verification/全站圆角与手绘图标验收.md</a:t>
            </a:r>
          </a:p>
          <a:p>
            <a:r>
              <a:t>• project-implementation/docs/verification/content/文章图文排版验证-20260908.md</a:t>
            </a:r>
          </a:p>
          <a:p>
            <a:r>
              <a:t>• project-implementation/tests/cases/WEMOVE成员测试用例审核总览.md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 40 秒</a:t>
            </a:r>
          </a:p>
          <a:p>
            <a:endParaRPr/>
          </a:p>
          <a:p>
            <a:r>
              <a:t>这次我们完成了六个业务模块：账户与权限提供统一身份基础，商品与库存支持检索、详情和商品管理，零售交易覆盖购物车、结算与订单流转，经销合作提供申请审核、专属目录、询价和渠道，内容模块支持文章、首页配置、媒体与资料下载，支持运营模块提供咨询工单、运营总览和审计查询。它们在同一套前后端中协作，并沿用统一的字体与视觉组件。支付、退款和物流仍采用课程模拟流程，正式验收按前页所示继续逐条执行。</a:t>
            </a:r>
          </a:p>
          <a:p>
            <a:endParaRPr/>
          </a:p>
          <a:p>
            <a:r>
              <a:t>依据：</a:t>
            </a:r>
          </a:p>
          <a:p>
            <a:r>
              <a:t>• 当前演示文稿第 2–13 页</a:t>
            </a:r>
          </a:p>
          <a:p>
            <a:r>
              <a:t>• project-implementation/docs/modules/identity/README.md</a:t>
            </a:r>
          </a:p>
          <a:p>
            <a:r>
              <a:t>• project-implementation/docs/modules/catalog/角色B模块设计.md</a:t>
            </a:r>
          </a:p>
          <a:p>
            <a:r>
              <a:t>• project-implementation/docs/modules/commerce/README.md</a:t>
            </a:r>
          </a:p>
          <a:p>
            <a:r>
              <a:t>• project-implementation/docs/modules/dealership/README.md</a:t>
            </a:r>
          </a:p>
          <a:p>
            <a:r>
              <a:t>• project-implementation/docs/modules/content/README.md</a:t>
            </a:r>
          </a:p>
          <a:p>
            <a:r>
              <a:t>• project-implementation/docs/modules/support/README.md</a:t>
            </a:r>
          </a:p>
          <a:p>
            <a:r>
              <a:t>• 图标取自 project-implementation/前端设计视觉参考/视觉组件/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建议讲述 10 秒</a:t>
            </a:r>
          </a:p>
          <a:p>
            <a:endParaRPr/>
          </a:p>
          <a:p>
            <a:r>
              <a:t>以上是 WEMOVE 的主要功能与实现方式。感谢聆听，欢迎老师提问。</a:t>
            </a:r>
          </a:p>
          <a:p>
            <a:endParaRPr/>
          </a:p>
          <a:p>
            <a:r>
              <a:t>依据：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9125" y="424628"/>
            <a:ext cx="333375" cy="322319"/>
          </a:xfrm>
          <a:prstGeom prst="rect">
            <a:avLst/>
          </a:prstGeom>
        </p:spPr>
      </p:pic>
      <p:sp>
        <p:nvSpPr>
          <p:cNvPr id="2" name="WEMOVE">
            <a:extLst>
              <a:ext uri="{FF2B5EF4-FFF2-40B4-BE49-F238E27FC236}">
                <a16:creationId xmlns:a16="http://schemas.microsoft.com/office/drawing/2014/main" id="{01621653-8B35-464C-AC95-6B84F48208E3}"/>
              </a:ext>
            </a:extLst>
          </p:cNvPr>
          <p:cNvSpPr>
            <a:spLocks noGrp="1"/>
          </p:cNvSpPr>
          <p:nvPr/>
        </p:nvSpPr>
        <p:spPr>
          <a:xfrm>
            <a:off x="1047750" y="419100"/>
            <a:ext cx="19050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550">
                <a:solidFill>
                  <a:srgbClr val="292E32"/>
                </a:solidFill>
                <a:latin typeface="Barlow Condensed SemiBold"/>
                <a:ea typeface="Barlow Condensed SemiBold"/>
                <a:cs typeface="Barlow Condensed SemiBold"/>
              </a:defRPr>
            </a:pPr>
            <a:r>
              <a:rPr sz="2550">
                <a:solidFill>
                  <a:srgbClr val="292E32"/>
                </a:solidFill>
                <a:latin typeface="Barlow Condensed SemiBold"/>
                <a:ea typeface="Barlow Condensed SemiBold"/>
                <a:cs typeface="Barlow Condensed SemiBold"/>
              </a:rPr>
              <a:t>WEMOVE</a:t>
            </a:r>
          </a:p>
        </p:txBody>
      </p:sp>
      <p:sp>
        <p:nvSpPr>
          <p:cNvPr id="3" name="软件开发实践 2 · 项目答辩">
            <a:extLst>
              <a:ext uri="{FF2B5EF4-FFF2-40B4-BE49-F238E27FC236}">
                <a16:creationId xmlns:a16="http://schemas.microsoft.com/office/drawing/2014/main" id="{6F1AD3F7-FFE4-406E-BBAE-77E993AA5892}"/>
              </a:ext>
            </a:extLst>
          </p:cNvPr>
          <p:cNvSpPr>
            <a:spLocks noGrp="1"/>
          </p:cNvSpPr>
          <p:nvPr/>
        </p:nvSpPr>
        <p:spPr>
          <a:xfrm>
            <a:off x="7334250" y="476250"/>
            <a:ext cx="42481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buNone/>
              <a:defRPr sz="1875">
                <a:solidFill>
                  <a:srgbClr val="626970"/>
                </a:solidFill>
                <a:latin typeface="Yozai"/>
                <a:ea typeface="Yozai"/>
                <a:cs typeface="Yozai"/>
              </a:defRPr>
            </a:pPr>
            <a:r>
              <a:rPr sz="1875">
                <a:solidFill>
                  <a:srgbClr val="626970"/>
                </a:solidFill>
                <a:latin typeface="Yozai"/>
                <a:ea typeface="Yozai"/>
                <a:cs typeface="Yozai"/>
              </a:rPr>
              <a:t>软件开发实践 2 · 项目答辩</a:t>
            </a:r>
          </a:p>
        </p:txBody>
      </p:sp>
      <p:sp>
        <p:nvSpPr>
          <p:cNvPr id="4" name="Life is better">
            <a:extLst>
              <a:ext uri="{FF2B5EF4-FFF2-40B4-BE49-F238E27FC236}">
                <a16:creationId xmlns:a16="http://schemas.microsoft.com/office/drawing/2014/main" id="{4275ED93-A735-483F-A9B8-058E0F9E061A}"/>
              </a:ext>
            </a:extLst>
          </p:cNvPr>
          <p:cNvSpPr>
            <a:spLocks noGrp="1"/>
          </p:cNvSpPr>
          <p:nvPr/>
        </p:nvSpPr>
        <p:spPr>
          <a:xfrm>
            <a:off x="762000" y="1524000"/>
            <a:ext cx="10668000" cy="1409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9600">
                <a:solidFill>
                  <a:srgbClr val="292E32"/>
                </a:solidFill>
                <a:latin typeface="Caveat"/>
                <a:ea typeface="Caveat"/>
                <a:cs typeface="Caveat"/>
              </a:defRPr>
            </a:pPr>
            <a:r>
              <a:rPr sz="9600">
                <a:solidFill>
                  <a:srgbClr val="292E32"/>
                </a:solidFill>
                <a:latin typeface="Caveat"/>
                <a:ea typeface="Caveat"/>
                <a:cs typeface="Caveat"/>
              </a:rPr>
              <a:t>Life is better</a:t>
            </a:r>
          </a:p>
        </p:txBody>
      </p:sp>
      <p:sp>
        <p:nvSpPr>
          <p:cNvPr id="5" name="at play.">
            <a:extLst>
              <a:ext uri="{FF2B5EF4-FFF2-40B4-BE49-F238E27FC236}">
                <a16:creationId xmlns:a16="http://schemas.microsoft.com/office/drawing/2014/main" id="{300DD7C9-7705-42D3-893A-7C596E4A8151}"/>
              </a:ext>
            </a:extLst>
          </p:cNvPr>
          <p:cNvSpPr>
            <a:spLocks noGrp="1"/>
          </p:cNvSpPr>
          <p:nvPr/>
        </p:nvSpPr>
        <p:spPr>
          <a:xfrm>
            <a:off x="762000" y="2952750"/>
            <a:ext cx="10668000" cy="152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0650">
                <a:solidFill>
                  <a:srgbClr val="355F52"/>
                </a:solidFill>
                <a:latin typeface="Caveat"/>
                <a:ea typeface="Caveat"/>
                <a:cs typeface="Caveat"/>
              </a:defRPr>
            </a:pPr>
            <a:r>
              <a:rPr sz="10650">
                <a:solidFill>
                  <a:srgbClr val="355F52"/>
                </a:solidFill>
                <a:latin typeface="Caveat"/>
                <a:ea typeface="Caveat"/>
                <a:cs typeface="Caveat"/>
              </a:rPr>
              <a:t>at play.</a:t>
            </a:r>
          </a:p>
        </p:txBody>
      </p:sp>
      <p:sp>
        <p:nvSpPr>
          <p:cNvPr id="6" name="WEMOVE 运动玩具业务门户">
            <a:extLst>
              <a:ext uri="{FF2B5EF4-FFF2-40B4-BE49-F238E27FC236}">
                <a16:creationId xmlns:a16="http://schemas.microsoft.com/office/drawing/2014/main" id="{EFDD254F-BD6A-4590-B307-5A9460C1CDA2}"/>
              </a:ext>
            </a:extLst>
          </p:cNvPr>
          <p:cNvSpPr>
            <a:spLocks noGrp="1"/>
          </p:cNvSpPr>
          <p:nvPr/>
        </p:nvSpPr>
        <p:spPr>
          <a:xfrm>
            <a:off x="1047750" y="4848225"/>
            <a:ext cx="1009650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3225">
                <a:solidFill>
                  <a:srgbClr val="292E32"/>
                </a:solidFill>
                <a:latin typeface="Yozai Medium"/>
                <a:ea typeface="Yozai Medium"/>
                <a:cs typeface="Yozai Medium"/>
              </a:defRPr>
            </a:pPr>
            <a:r>
              <a:rPr sz="3225">
                <a:solidFill>
                  <a:srgbClr val="292E32"/>
                </a:solidFill>
                <a:latin typeface="Yozai Medium"/>
                <a:ea typeface="Yozai Medium"/>
                <a:cs typeface="Yozai Medium"/>
              </a:rPr>
              <a:t>WEMOVE 运动玩具</a:t>
            </a:r>
          </a:p>
        </p:txBody>
      </p:sp>
      <p:sp>
        <p:nvSpPr>
          <p:cNvPr id="7" name="把日常，玩出新花样。">
            <a:extLst>
              <a:ext uri="{FF2B5EF4-FFF2-40B4-BE49-F238E27FC236}">
                <a16:creationId xmlns:a16="http://schemas.microsoft.com/office/drawing/2014/main" id="{A38CCEE5-B327-4369-93E2-D6DB6A561FA7}"/>
              </a:ext>
            </a:extLst>
          </p:cNvPr>
          <p:cNvSpPr>
            <a:spLocks noGrp="1"/>
          </p:cNvSpPr>
          <p:nvPr/>
        </p:nvSpPr>
        <p:spPr>
          <a:xfrm>
            <a:off x="1047750" y="5562600"/>
            <a:ext cx="1009650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2100">
                <a:solidFill>
                  <a:srgbClr val="626970"/>
                </a:solidFill>
                <a:latin typeface="Yozai"/>
                <a:ea typeface="Yozai"/>
                <a:cs typeface="Yozai"/>
              </a:defRPr>
            </a:pPr>
            <a:r>
              <a:rPr sz="2100">
                <a:solidFill>
                  <a:srgbClr val="626970"/>
                </a:solidFill>
                <a:latin typeface="Yozai"/>
                <a:ea typeface="Yozai"/>
                <a:cs typeface="Yozai"/>
              </a:rPr>
              <a:t>把日常，玩出新花样。</a:t>
            </a:r>
          </a:p>
        </p:txBody>
      </p:sp>
    </p:spTree>
    <p:extLst>
      <p:ext uri="{BB962C8B-B14F-4D97-AF65-F5344CB8AC3E}">
        <p14:creationId xmlns:p14="http://schemas.microsoft.com/office/powerpoint/2010/main" val="314651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01 / WEBSITE">
            <a:extLst>
              <a:ext uri="{FF2B5EF4-FFF2-40B4-BE49-F238E27FC236}">
                <a16:creationId xmlns:a16="http://schemas.microsoft.com/office/drawing/2014/main" id="{8561A375-C8D1-479D-B647-D0082186F80D}"/>
              </a:ext>
            </a:extLst>
          </p:cNvPr>
          <p:cNvSpPr>
            <a:spLocks noGrp="1"/>
          </p:cNvSpPr>
          <p:nvPr/>
        </p:nvSpPr>
        <p:spPr>
          <a:xfrm>
            <a:off x="571500" y="29527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350">
                <a:solidFill>
                  <a:srgbClr val="355F52"/>
                </a:solidFill>
                <a:latin typeface="Barlow Condensed SemiBold"/>
                <a:ea typeface="Barlow Condensed SemiBold"/>
                <a:cs typeface="Barlow Condensed SemiBold"/>
              </a:defRPr>
            </a:pPr>
            <a:r>
              <a:rPr sz="1350">
                <a:solidFill>
                  <a:srgbClr val="355F52"/>
                </a:solidFill>
                <a:latin typeface="Barlow Condensed SemiBold"/>
                <a:ea typeface="Barlow Condensed SemiBold"/>
                <a:cs typeface="Barlow Condensed SemiBold"/>
              </a:rPr>
              <a:t>01 / WEBSITE</a:t>
            </a:r>
          </a:p>
        </p:txBody>
      </p:sp>
      <p:sp>
        <p:nvSpPr>
          <p:cNvPr id="2" name="从首页进入完整的购买体验">
            <a:extLst>
              <a:ext uri="{FF2B5EF4-FFF2-40B4-BE49-F238E27FC236}">
                <a16:creationId xmlns:a16="http://schemas.microsoft.com/office/drawing/2014/main" id="{D74D104E-80F8-4F6E-B648-5201282B1D58}"/>
              </a:ext>
            </a:extLst>
          </p:cNvPr>
          <p:cNvSpPr>
            <a:spLocks noGrp="1"/>
          </p:cNvSpPr>
          <p:nvPr/>
        </p:nvSpPr>
        <p:spPr>
          <a:xfrm>
            <a:off x="571500" y="647700"/>
            <a:ext cx="11049000" cy="504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850">
                <a:solidFill>
                  <a:srgbClr val="292E32"/>
                </a:solidFill>
                <a:latin typeface="Yozai Medium"/>
                <a:ea typeface="Yozai Medium"/>
                <a:cs typeface="Yozai Medium"/>
              </a:defRPr>
            </a:pPr>
            <a:r>
              <a:rPr sz="2850">
                <a:solidFill>
                  <a:srgbClr val="292E32"/>
                </a:solidFill>
                <a:latin typeface="Yozai Medium"/>
                <a:ea typeface="Yozai Medium"/>
                <a:cs typeface="Yozai Medium"/>
              </a:rPr>
              <a:t>从首页进入完整的购买体验</a:t>
            </a:r>
          </a:p>
        </p:txBody>
      </p:sp>
      <p:sp>
        <p:nvSpPr>
          <p:cNvPr id="3" name="面向成年消费者与采购人员">
            <a:extLst>
              <a:ext uri="{FF2B5EF4-FFF2-40B4-BE49-F238E27FC236}">
                <a16:creationId xmlns:a16="http://schemas.microsoft.com/office/drawing/2014/main" id="{52F0D41A-DFDD-4831-81F4-172E22975E10}"/>
              </a:ext>
            </a:extLst>
          </p:cNvPr>
          <p:cNvSpPr>
            <a:spLocks noGrp="1"/>
          </p:cNvSpPr>
          <p:nvPr/>
        </p:nvSpPr>
        <p:spPr>
          <a:xfrm>
            <a:off x="590550" y="1190625"/>
            <a:ext cx="110299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725">
                <a:solidFill>
                  <a:srgbClr val="626970"/>
                </a:solidFill>
                <a:latin typeface="Yozai"/>
                <a:ea typeface="Yozai"/>
                <a:cs typeface="Yozai"/>
              </a:defRPr>
            </a:pPr>
            <a:r>
              <a:rPr sz="1725">
                <a:solidFill>
                  <a:srgbClr val="626970"/>
                </a:solidFill>
                <a:latin typeface="Yozai"/>
                <a:ea typeface="Yozai"/>
                <a:cs typeface="Yozai"/>
              </a:rPr>
              <a:t>面向成年消费者与采购人员</a:t>
            </a:r>
          </a:p>
        </p:txBody>
      </p:sp>
      <p:sp>
        <p:nvSpPr>
          <p:cNvPr id="4" name="WEMOVE">
            <a:extLst>
              <a:ext uri="{FF2B5EF4-FFF2-40B4-BE49-F238E27FC236}">
                <a16:creationId xmlns:a16="http://schemas.microsoft.com/office/drawing/2014/main" id="{FF28A3E8-DBBE-4C8D-86F3-F34F5E1C322E}"/>
              </a:ext>
            </a:extLst>
          </p:cNvPr>
          <p:cNvSpPr>
            <a:spLocks noGrp="1"/>
          </p:cNvSpPr>
          <p:nvPr/>
        </p:nvSpPr>
        <p:spPr>
          <a:xfrm>
            <a:off x="571500" y="6467475"/>
            <a:ext cx="19050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350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defRPr>
            </a:pPr>
            <a:r>
              <a:rPr sz="1350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rPr>
              <a:t>WEMOVE</a:t>
            </a:r>
          </a:p>
        </p:txBody>
      </p:sp>
      <p:sp>
        <p:nvSpPr>
          <p:cNvPr id="5" name="02">
            <a:extLst>
              <a:ext uri="{FF2B5EF4-FFF2-40B4-BE49-F238E27FC236}">
                <a16:creationId xmlns:a16="http://schemas.microsoft.com/office/drawing/2014/main" id="{ECCA39B1-1756-4216-8CA4-DCAD7B651439}"/>
              </a:ext>
            </a:extLst>
          </p:cNvPr>
          <p:cNvSpPr>
            <a:spLocks noGrp="1"/>
          </p:cNvSpPr>
          <p:nvPr/>
        </p:nvSpPr>
        <p:spPr>
          <a:xfrm>
            <a:off x="11049000" y="6467475"/>
            <a:ext cx="5715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buNone/>
              <a:defRPr sz="1425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defRPr>
            </a:pPr>
            <a:r>
              <a:rPr sz="1425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rPr>
              <a:t>02</a:t>
            </a:r>
          </a:p>
        </p:txBody>
      </p:sp>
      <p:pic>
        <p:nvPicPr>
          <p:cNvPr id="20" name="图片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15051" y="1609725"/>
            <a:ext cx="7409148" cy="4552950"/>
          </a:xfrm>
          <a:prstGeom prst="rect">
            <a:avLst/>
          </a:prstGeom>
        </p:spPr>
      </p:pic>
      <p:sp>
        <p:nvSpPr>
          <p:cNvPr id="7" name="发现与了解">
            <a:extLst>
              <a:ext uri="{FF2B5EF4-FFF2-40B4-BE49-F238E27FC236}">
                <a16:creationId xmlns:a16="http://schemas.microsoft.com/office/drawing/2014/main" id="{BF6215DC-A15C-45A2-93FD-21BE7A106395}"/>
              </a:ext>
            </a:extLst>
          </p:cNvPr>
          <p:cNvSpPr>
            <a:spLocks noGrp="1"/>
          </p:cNvSpPr>
          <p:nvPr/>
        </p:nvSpPr>
        <p:spPr>
          <a:xfrm>
            <a:off x="9029700" y="1809750"/>
            <a:ext cx="25527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175">
                <a:solidFill>
                  <a:srgbClr val="355F52"/>
                </a:solidFill>
                <a:latin typeface="Yozai Medium"/>
                <a:ea typeface="Yozai Medium"/>
                <a:cs typeface="Yozai Medium"/>
              </a:defRPr>
            </a:pPr>
            <a:r>
              <a:rPr sz="2175">
                <a:solidFill>
                  <a:srgbClr val="355F52"/>
                </a:solidFill>
                <a:latin typeface="Yozai Medium"/>
                <a:ea typeface="Yozai Medium"/>
                <a:cs typeface="Yozai Medium"/>
              </a:rPr>
              <a:t>发现与了解</a:t>
            </a:r>
          </a:p>
        </p:txBody>
      </p:sp>
      <p:sp>
        <p:nvSpPr>
          <p:cNvPr id="8" name="浏览商品&#10;阅读玩法灵感">
            <a:extLst>
              <a:ext uri="{FF2B5EF4-FFF2-40B4-BE49-F238E27FC236}">
                <a16:creationId xmlns:a16="http://schemas.microsoft.com/office/drawing/2014/main" id="{6D13297D-05B9-4368-B64F-53EB50CE06C2}"/>
              </a:ext>
            </a:extLst>
          </p:cNvPr>
          <p:cNvSpPr>
            <a:spLocks noGrp="1"/>
          </p:cNvSpPr>
          <p:nvPr/>
        </p:nvSpPr>
        <p:spPr>
          <a:xfrm>
            <a:off x="9029700" y="2276475"/>
            <a:ext cx="2552700" cy="1047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875">
                <a:solidFill>
                  <a:srgbClr val="292E32"/>
                </a:solidFill>
                <a:latin typeface="Yozai"/>
                <a:ea typeface="Yozai"/>
                <a:cs typeface="Yozai"/>
              </a:defRPr>
            </a:pPr>
            <a:r>
              <a:rPr sz="1875">
                <a:solidFill>
                  <a:srgbClr val="292E32"/>
                </a:solidFill>
                <a:latin typeface="Yozai"/>
                <a:ea typeface="Yozai"/>
                <a:cs typeface="Yozai"/>
              </a:rPr>
              <a:t>浏览商品</a:t>
            </a:r>
          </a:p>
          <a:p>
            <a:pPr algn="l">
              <a:buNone/>
              <a:defRPr sz="1875">
                <a:solidFill>
                  <a:srgbClr val="292E32"/>
                </a:solidFill>
                <a:latin typeface="Yozai"/>
                <a:ea typeface="Yozai"/>
                <a:cs typeface="Yozai"/>
              </a:defRPr>
            </a:pPr>
            <a:r>
              <a:rPr sz="1875">
                <a:solidFill>
                  <a:srgbClr val="292E32"/>
                </a:solidFill>
                <a:latin typeface="Yozai"/>
                <a:ea typeface="Yozai"/>
                <a:cs typeface="Yozai"/>
              </a:rPr>
              <a:t>阅读玩法灵感</a:t>
            </a:r>
          </a:p>
        </p:txBody>
      </p:sp>
      <p:sp>
        <p:nvSpPr>
          <p:cNvPr id="9" name="购买与合作">
            <a:extLst>
              <a:ext uri="{FF2B5EF4-FFF2-40B4-BE49-F238E27FC236}">
                <a16:creationId xmlns:a16="http://schemas.microsoft.com/office/drawing/2014/main" id="{7BB89485-FA77-4DD1-B2C7-ED7702248BE1}"/>
              </a:ext>
            </a:extLst>
          </p:cNvPr>
          <p:cNvSpPr>
            <a:spLocks noGrp="1"/>
          </p:cNvSpPr>
          <p:nvPr/>
        </p:nvSpPr>
        <p:spPr>
          <a:xfrm>
            <a:off x="9029700" y="3457575"/>
            <a:ext cx="25527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175">
                <a:solidFill>
                  <a:srgbClr val="355F52"/>
                </a:solidFill>
                <a:latin typeface="Yozai Medium"/>
                <a:ea typeface="Yozai Medium"/>
                <a:cs typeface="Yozai Medium"/>
              </a:defRPr>
            </a:pPr>
            <a:r>
              <a:rPr sz="2175">
                <a:solidFill>
                  <a:srgbClr val="355F52"/>
                </a:solidFill>
                <a:latin typeface="Yozai Medium"/>
                <a:ea typeface="Yozai Medium"/>
                <a:cs typeface="Yozai Medium"/>
              </a:rPr>
              <a:t>购买与合作</a:t>
            </a:r>
          </a:p>
        </p:txBody>
      </p:sp>
      <p:sp>
        <p:nvSpPr>
          <p:cNvPr id="10" name="零售结算&#10;经销询价与服务">
            <a:extLst>
              <a:ext uri="{FF2B5EF4-FFF2-40B4-BE49-F238E27FC236}">
                <a16:creationId xmlns:a16="http://schemas.microsoft.com/office/drawing/2014/main" id="{0D5BA3D9-7C26-4A65-9BC7-755D03B92158}"/>
              </a:ext>
            </a:extLst>
          </p:cNvPr>
          <p:cNvSpPr>
            <a:spLocks noGrp="1"/>
          </p:cNvSpPr>
          <p:nvPr/>
        </p:nvSpPr>
        <p:spPr>
          <a:xfrm>
            <a:off x="9029700" y="3924300"/>
            <a:ext cx="2552700" cy="1047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875">
                <a:solidFill>
                  <a:srgbClr val="292E32"/>
                </a:solidFill>
                <a:latin typeface="Yozai"/>
                <a:ea typeface="Yozai"/>
                <a:cs typeface="Yozai"/>
              </a:defRPr>
            </a:pPr>
            <a:r>
              <a:rPr sz="1875">
                <a:solidFill>
                  <a:srgbClr val="292E32"/>
                </a:solidFill>
                <a:latin typeface="Yozai"/>
                <a:ea typeface="Yozai"/>
                <a:cs typeface="Yozai"/>
              </a:rPr>
              <a:t>零售结算</a:t>
            </a:r>
          </a:p>
          <a:p>
            <a:pPr algn="l">
              <a:buNone/>
              <a:defRPr sz="1875">
                <a:solidFill>
                  <a:srgbClr val="292E32"/>
                </a:solidFill>
                <a:latin typeface="Yozai"/>
                <a:ea typeface="Yozai"/>
                <a:cs typeface="Yozai"/>
              </a:defRPr>
            </a:pPr>
            <a:r>
              <a:rPr sz="1875">
                <a:solidFill>
                  <a:srgbClr val="292E32"/>
                </a:solidFill>
                <a:latin typeface="Yozai"/>
                <a:ea typeface="Yozai"/>
                <a:cs typeface="Yozai"/>
              </a:rPr>
              <a:t>经销询价与服务</a:t>
            </a:r>
          </a:p>
        </p:txBody>
      </p:sp>
      <p:sp>
        <p:nvSpPr>
          <p:cNvPr id="11" name="支付、退款与物流&#10;采用课程模拟流程">
            <a:extLst>
              <a:ext uri="{FF2B5EF4-FFF2-40B4-BE49-F238E27FC236}">
                <a16:creationId xmlns:a16="http://schemas.microsoft.com/office/drawing/2014/main" id="{CC6A9354-9E79-4B30-A8A2-C371B7A4925B}"/>
              </a:ext>
            </a:extLst>
          </p:cNvPr>
          <p:cNvSpPr>
            <a:spLocks noGrp="1"/>
          </p:cNvSpPr>
          <p:nvPr/>
        </p:nvSpPr>
        <p:spPr>
          <a:xfrm>
            <a:off x="9029700" y="5286375"/>
            <a:ext cx="2571750" cy="695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725">
                <a:solidFill>
                  <a:srgbClr val="355F52"/>
                </a:solidFill>
                <a:latin typeface="Yozai"/>
                <a:ea typeface="Yozai"/>
                <a:cs typeface="Yozai"/>
              </a:defRPr>
            </a:pPr>
            <a:r>
              <a:rPr sz="1725">
                <a:solidFill>
                  <a:srgbClr val="355F52"/>
                </a:solidFill>
                <a:latin typeface="Yozai"/>
                <a:ea typeface="Yozai"/>
                <a:cs typeface="Yozai"/>
              </a:rPr>
              <a:t>支付、退款与物流</a:t>
            </a:r>
          </a:p>
          <a:p>
            <a:pPr algn="l">
              <a:buNone/>
              <a:defRPr sz="1725">
                <a:solidFill>
                  <a:srgbClr val="355F52"/>
                </a:solidFill>
                <a:latin typeface="Yozai"/>
                <a:ea typeface="Yozai"/>
                <a:cs typeface="Yozai"/>
              </a:defRPr>
            </a:pPr>
            <a:r>
              <a:rPr sz="1725">
                <a:solidFill>
                  <a:srgbClr val="355F52"/>
                </a:solidFill>
                <a:latin typeface="Yozai"/>
                <a:ea typeface="Yozai"/>
                <a:cs typeface="Yozai"/>
              </a:rPr>
              <a:t>采用课程模拟流程</a:t>
            </a:r>
          </a:p>
        </p:txBody>
      </p:sp>
      <p:sp>
        <p:nvSpPr>
          <p:cNvPr id="12" name="本地网站截图 · 2026.09.08">
            <a:extLst>
              <a:ext uri="{FF2B5EF4-FFF2-40B4-BE49-F238E27FC236}">
                <a16:creationId xmlns:a16="http://schemas.microsoft.com/office/drawing/2014/main" id="{323BF394-CC2D-4C17-8F78-05AAA502AF08}"/>
              </a:ext>
            </a:extLst>
          </p:cNvPr>
          <p:cNvSpPr>
            <a:spLocks noGrp="1"/>
          </p:cNvSpPr>
          <p:nvPr/>
        </p:nvSpPr>
        <p:spPr>
          <a:xfrm>
            <a:off x="571500" y="6191250"/>
            <a:ext cx="809625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buNone/>
              <a:defRPr sz="1275">
                <a:solidFill>
                  <a:srgbClr val="626970"/>
                </a:solidFill>
                <a:latin typeface="Yozai"/>
                <a:ea typeface="Yozai"/>
                <a:cs typeface="Yozai"/>
              </a:defRPr>
            </a:pPr>
            <a:r>
              <a:rPr sz="1275">
                <a:solidFill>
                  <a:srgbClr val="626970"/>
                </a:solidFill>
                <a:latin typeface="Yozai"/>
                <a:ea typeface="Yozai"/>
                <a:cs typeface="Yozai"/>
              </a:rPr>
              <a:t>本地网站截图 · 2026.09.08</a:t>
            </a:r>
          </a:p>
        </p:txBody>
      </p:sp>
    </p:spTree>
    <p:extLst>
      <p:ext uri="{BB962C8B-B14F-4D97-AF65-F5344CB8AC3E}">
        <p14:creationId xmlns:p14="http://schemas.microsoft.com/office/powerpoint/2010/main" val="808165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02 / CATALOG">
            <a:extLst>
              <a:ext uri="{FF2B5EF4-FFF2-40B4-BE49-F238E27FC236}">
                <a16:creationId xmlns:a16="http://schemas.microsoft.com/office/drawing/2014/main" id="{8A3066D9-955F-4116-BE50-EB329B8D3668}"/>
              </a:ext>
            </a:extLst>
          </p:cNvPr>
          <p:cNvSpPr>
            <a:spLocks noGrp="1"/>
          </p:cNvSpPr>
          <p:nvPr/>
        </p:nvSpPr>
        <p:spPr>
          <a:xfrm>
            <a:off x="571500" y="29527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350">
                <a:solidFill>
                  <a:srgbClr val="355F52"/>
                </a:solidFill>
                <a:latin typeface="Barlow Condensed SemiBold"/>
                <a:ea typeface="Barlow Condensed SemiBold"/>
                <a:cs typeface="Barlow Condensed SemiBold"/>
              </a:defRPr>
            </a:pPr>
            <a:r>
              <a:rPr sz="1350">
                <a:solidFill>
                  <a:srgbClr val="355F52"/>
                </a:solidFill>
                <a:latin typeface="Barlow Condensed SemiBold"/>
                <a:ea typeface="Barlow Condensed SemiBold"/>
                <a:cs typeface="Barlow Condensed SemiBold"/>
              </a:rPr>
              <a:t>02 / CATALOG</a:t>
            </a:r>
          </a:p>
        </p:txBody>
      </p:sp>
      <p:sp>
        <p:nvSpPr>
          <p:cNvPr id="2" name="按需求找到商品">
            <a:extLst>
              <a:ext uri="{FF2B5EF4-FFF2-40B4-BE49-F238E27FC236}">
                <a16:creationId xmlns:a16="http://schemas.microsoft.com/office/drawing/2014/main" id="{28C98077-0E85-4F11-ADE3-446D168FE705}"/>
              </a:ext>
            </a:extLst>
          </p:cNvPr>
          <p:cNvSpPr>
            <a:spLocks noGrp="1"/>
          </p:cNvSpPr>
          <p:nvPr/>
        </p:nvSpPr>
        <p:spPr>
          <a:xfrm>
            <a:off x="571500" y="647700"/>
            <a:ext cx="11049000" cy="504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850">
                <a:solidFill>
                  <a:srgbClr val="292E32"/>
                </a:solidFill>
                <a:latin typeface="Yozai Medium"/>
                <a:ea typeface="Yozai Medium"/>
                <a:cs typeface="Yozai Medium"/>
              </a:defRPr>
            </a:pPr>
            <a:r>
              <a:rPr sz="2850">
                <a:solidFill>
                  <a:srgbClr val="292E32"/>
                </a:solidFill>
                <a:latin typeface="Yozai Medium"/>
                <a:ea typeface="Yozai Medium"/>
                <a:cs typeface="Yozai Medium"/>
              </a:rPr>
              <a:t>按需求找到商品</a:t>
            </a:r>
          </a:p>
        </p:txBody>
      </p:sp>
      <p:sp>
        <p:nvSpPr>
          <p:cNvPr id="3" name="分类与价格筛选，商品卡片提供直观的购买信息">
            <a:extLst>
              <a:ext uri="{FF2B5EF4-FFF2-40B4-BE49-F238E27FC236}">
                <a16:creationId xmlns:a16="http://schemas.microsoft.com/office/drawing/2014/main" id="{AA6C2D75-DED7-4A68-9B08-BDF185BED2ED}"/>
              </a:ext>
            </a:extLst>
          </p:cNvPr>
          <p:cNvSpPr>
            <a:spLocks noGrp="1"/>
          </p:cNvSpPr>
          <p:nvPr/>
        </p:nvSpPr>
        <p:spPr>
          <a:xfrm>
            <a:off x="590550" y="1190625"/>
            <a:ext cx="110299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725">
                <a:solidFill>
                  <a:srgbClr val="626970"/>
                </a:solidFill>
                <a:latin typeface="Yozai"/>
                <a:ea typeface="Yozai"/>
                <a:cs typeface="Yozai"/>
              </a:defRPr>
            </a:pPr>
            <a:r>
              <a:rPr sz="1725">
                <a:solidFill>
                  <a:srgbClr val="626970"/>
                </a:solidFill>
                <a:latin typeface="Yozai"/>
                <a:ea typeface="Yozai"/>
                <a:cs typeface="Yozai"/>
              </a:rPr>
              <a:t>分类与价格筛选，商品卡片提供直观的购买信息</a:t>
            </a:r>
          </a:p>
        </p:txBody>
      </p:sp>
      <p:sp>
        <p:nvSpPr>
          <p:cNvPr id="4" name="WEMOVE">
            <a:extLst>
              <a:ext uri="{FF2B5EF4-FFF2-40B4-BE49-F238E27FC236}">
                <a16:creationId xmlns:a16="http://schemas.microsoft.com/office/drawing/2014/main" id="{9B5AAF62-8F53-4C8B-8C77-62EA597F6997}"/>
              </a:ext>
            </a:extLst>
          </p:cNvPr>
          <p:cNvSpPr>
            <a:spLocks noGrp="1"/>
          </p:cNvSpPr>
          <p:nvPr/>
        </p:nvSpPr>
        <p:spPr>
          <a:xfrm>
            <a:off x="571500" y="6467475"/>
            <a:ext cx="19050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350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defRPr>
            </a:pPr>
            <a:r>
              <a:rPr sz="1350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rPr>
              <a:t>WEMOVE</a:t>
            </a:r>
          </a:p>
        </p:txBody>
      </p:sp>
      <p:sp>
        <p:nvSpPr>
          <p:cNvPr id="5" name="03">
            <a:extLst>
              <a:ext uri="{FF2B5EF4-FFF2-40B4-BE49-F238E27FC236}">
                <a16:creationId xmlns:a16="http://schemas.microsoft.com/office/drawing/2014/main" id="{644F538C-72BD-4A90-A635-ED118E5994DD}"/>
              </a:ext>
            </a:extLst>
          </p:cNvPr>
          <p:cNvSpPr>
            <a:spLocks noGrp="1"/>
          </p:cNvSpPr>
          <p:nvPr/>
        </p:nvSpPr>
        <p:spPr>
          <a:xfrm>
            <a:off x="11049000" y="6467475"/>
            <a:ext cx="5715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buNone/>
              <a:defRPr sz="1425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defRPr>
            </a:pPr>
            <a:r>
              <a:rPr sz="1425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rPr>
              <a:t>03</a:t>
            </a:r>
          </a:p>
        </p:txBody>
      </p:sp>
      <p:pic>
        <p:nvPicPr>
          <p:cNvPr id="15" name="图片 1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962150" y="1553199"/>
            <a:ext cx="8267700" cy="4675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7292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03 / PRODUCT DETAIL">
            <a:extLst>
              <a:ext uri="{FF2B5EF4-FFF2-40B4-BE49-F238E27FC236}">
                <a16:creationId xmlns:a16="http://schemas.microsoft.com/office/drawing/2014/main" id="{CB05D74B-81CC-4244-B4E0-28619A173CD1}"/>
              </a:ext>
            </a:extLst>
          </p:cNvPr>
          <p:cNvSpPr>
            <a:spLocks noGrp="1"/>
          </p:cNvSpPr>
          <p:nvPr/>
        </p:nvSpPr>
        <p:spPr>
          <a:xfrm>
            <a:off x="571500" y="29527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350">
                <a:solidFill>
                  <a:srgbClr val="355F52"/>
                </a:solidFill>
                <a:latin typeface="Barlow Condensed SemiBold"/>
                <a:ea typeface="Barlow Condensed SemiBold"/>
                <a:cs typeface="Barlow Condensed SemiBold"/>
              </a:defRPr>
            </a:pPr>
            <a:r>
              <a:rPr sz="1350">
                <a:solidFill>
                  <a:srgbClr val="355F52"/>
                </a:solidFill>
                <a:latin typeface="Barlow Condensed SemiBold"/>
                <a:ea typeface="Barlow Condensed SemiBold"/>
                <a:cs typeface="Barlow Condensed SemiBold"/>
              </a:rPr>
              <a:t>03 / PRODUCT DETAIL</a:t>
            </a:r>
          </a:p>
        </p:txBody>
      </p:sp>
      <p:sp>
        <p:nvSpPr>
          <p:cNvPr id="2" name="商品详情支持购买判断">
            <a:extLst>
              <a:ext uri="{FF2B5EF4-FFF2-40B4-BE49-F238E27FC236}">
                <a16:creationId xmlns:a16="http://schemas.microsoft.com/office/drawing/2014/main" id="{CE352A3C-408E-4633-B23F-340585DD27E3}"/>
              </a:ext>
            </a:extLst>
          </p:cNvPr>
          <p:cNvSpPr>
            <a:spLocks noGrp="1"/>
          </p:cNvSpPr>
          <p:nvPr/>
        </p:nvSpPr>
        <p:spPr>
          <a:xfrm>
            <a:off x="571500" y="647700"/>
            <a:ext cx="11049000" cy="504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850">
                <a:solidFill>
                  <a:srgbClr val="292E32"/>
                </a:solidFill>
                <a:latin typeface="Yozai Medium"/>
                <a:ea typeface="Yozai Medium"/>
                <a:cs typeface="Yozai Medium"/>
              </a:defRPr>
            </a:pPr>
            <a:r>
              <a:rPr sz="2850">
                <a:solidFill>
                  <a:srgbClr val="292E32"/>
                </a:solidFill>
                <a:latin typeface="Yozai Medium"/>
                <a:ea typeface="Yozai Medium"/>
                <a:cs typeface="Yozai Medium"/>
              </a:rPr>
              <a:t>商品详情支持购买判断</a:t>
            </a:r>
          </a:p>
        </p:txBody>
      </p:sp>
      <p:sp>
        <p:nvSpPr>
          <p:cNvPr id="3" name="适龄、场景、价格与库存信息集中呈现">
            <a:extLst>
              <a:ext uri="{FF2B5EF4-FFF2-40B4-BE49-F238E27FC236}">
                <a16:creationId xmlns:a16="http://schemas.microsoft.com/office/drawing/2014/main" id="{3DCAD5C7-BD15-4FBF-AA2B-D7ECED29787C}"/>
              </a:ext>
            </a:extLst>
          </p:cNvPr>
          <p:cNvSpPr>
            <a:spLocks noGrp="1"/>
          </p:cNvSpPr>
          <p:nvPr/>
        </p:nvSpPr>
        <p:spPr>
          <a:xfrm>
            <a:off x="590550" y="1190625"/>
            <a:ext cx="110299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725">
                <a:solidFill>
                  <a:srgbClr val="626970"/>
                </a:solidFill>
                <a:latin typeface="Yozai"/>
                <a:ea typeface="Yozai"/>
                <a:cs typeface="Yozai"/>
              </a:defRPr>
            </a:pPr>
            <a:r>
              <a:rPr sz="1725">
                <a:solidFill>
                  <a:srgbClr val="626970"/>
                </a:solidFill>
                <a:latin typeface="Yozai"/>
                <a:ea typeface="Yozai"/>
                <a:cs typeface="Yozai"/>
              </a:rPr>
              <a:t>适龄、场景、价格与库存信息集中呈现</a:t>
            </a:r>
          </a:p>
        </p:txBody>
      </p:sp>
      <p:sp>
        <p:nvSpPr>
          <p:cNvPr id="4" name="WEMOVE">
            <a:extLst>
              <a:ext uri="{FF2B5EF4-FFF2-40B4-BE49-F238E27FC236}">
                <a16:creationId xmlns:a16="http://schemas.microsoft.com/office/drawing/2014/main" id="{58C391A5-E66A-4997-897D-BF067290D4A6}"/>
              </a:ext>
            </a:extLst>
          </p:cNvPr>
          <p:cNvSpPr>
            <a:spLocks noGrp="1"/>
          </p:cNvSpPr>
          <p:nvPr/>
        </p:nvSpPr>
        <p:spPr>
          <a:xfrm>
            <a:off x="571500" y="6467475"/>
            <a:ext cx="19050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350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defRPr>
            </a:pPr>
            <a:r>
              <a:rPr sz="1350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rPr>
              <a:t>WEMOVE</a:t>
            </a:r>
          </a:p>
        </p:txBody>
      </p:sp>
      <p:sp>
        <p:nvSpPr>
          <p:cNvPr id="5" name="04">
            <a:extLst>
              <a:ext uri="{FF2B5EF4-FFF2-40B4-BE49-F238E27FC236}">
                <a16:creationId xmlns:a16="http://schemas.microsoft.com/office/drawing/2014/main" id="{8D253F55-288B-45E5-A91D-F8F3A233A01D}"/>
              </a:ext>
            </a:extLst>
          </p:cNvPr>
          <p:cNvSpPr>
            <a:spLocks noGrp="1"/>
          </p:cNvSpPr>
          <p:nvPr/>
        </p:nvSpPr>
        <p:spPr>
          <a:xfrm>
            <a:off x="11049000" y="6467475"/>
            <a:ext cx="5715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buNone/>
              <a:defRPr sz="1425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defRPr>
            </a:pPr>
            <a:r>
              <a:rPr sz="1425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rPr>
              <a:t>04</a:t>
            </a:r>
          </a:p>
        </p:txBody>
      </p:sp>
      <p:pic>
        <p:nvPicPr>
          <p:cNvPr id="19" name="图片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37912" y="1609725"/>
            <a:ext cx="6925325" cy="4429125"/>
          </a:xfrm>
          <a:prstGeom prst="rect">
            <a:avLst/>
          </a:prstGeom>
        </p:spPr>
      </p:pic>
      <p:sp>
        <p:nvSpPr>
          <p:cNvPr id="7" name="了解适用场景">
            <a:extLst>
              <a:ext uri="{FF2B5EF4-FFF2-40B4-BE49-F238E27FC236}">
                <a16:creationId xmlns:a16="http://schemas.microsoft.com/office/drawing/2014/main" id="{0D0370C8-AF9F-4AA8-ABCE-78FE41123A9F}"/>
              </a:ext>
            </a:extLst>
          </p:cNvPr>
          <p:cNvSpPr>
            <a:spLocks noGrp="1"/>
          </p:cNvSpPr>
          <p:nvPr/>
        </p:nvSpPr>
        <p:spPr>
          <a:xfrm>
            <a:off x="9020175" y="2076450"/>
            <a:ext cx="25717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175">
                <a:solidFill>
                  <a:srgbClr val="355F52"/>
                </a:solidFill>
                <a:latin typeface="Yozai Medium"/>
                <a:ea typeface="Yozai Medium"/>
                <a:cs typeface="Yozai Medium"/>
              </a:defRPr>
            </a:pPr>
            <a:r>
              <a:rPr sz="2175">
                <a:solidFill>
                  <a:srgbClr val="355F52"/>
                </a:solidFill>
                <a:latin typeface="Yozai Medium"/>
                <a:ea typeface="Yozai Medium"/>
                <a:cs typeface="Yozai Medium"/>
              </a:rPr>
              <a:t>了解适用场景</a:t>
            </a:r>
          </a:p>
        </p:txBody>
      </p:sp>
      <p:sp>
        <p:nvSpPr>
          <p:cNvPr id="8" name="年龄、用途与规格&#10;集中呈现">
            <a:extLst>
              <a:ext uri="{FF2B5EF4-FFF2-40B4-BE49-F238E27FC236}">
                <a16:creationId xmlns:a16="http://schemas.microsoft.com/office/drawing/2014/main" id="{879F3EAE-FC2E-4532-B960-24CDFC8CC94F}"/>
              </a:ext>
            </a:extLst>
          </p:cNvPr>
          <p:cNvSpPr>
            <a:spLocks noGrp="1"/>
          </p:cNvSpPr>
          <p:nvPr/>
        </p:nvSpPr>
        <p:spPr>
          <a:xfrm>
            <a:off x="9020175" y="2543175"/>
            <a:ext cx="2571750" cy="1047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875">
                <a:solidFill>
                  <a:srgbClr val="292E32"/>
                </a:solidFill>
                <a:latin typeface="Yozai"/>
                <a:ea typeface="Yozai"/>
                <a:cs typeface="Yozai"/>
              </a:defRPr>
            </a:pPr>
            <a:r>
              <a:rPr sz="1875">
                <a:solidFill>
                  <a:srgbClr val="292E32"/>
                </a:solidFill>
                <a:latin typeface="Yozai"/>
                <a:ea typeface="Yozai"/>
                <a:cs typeface="Yozai"/>
              </a:rPr>
              <a:t>年龄、用途与规格</a:t>
            </a:r>
          </a:p>
          <a:p>
            <a:pPr algn="l">
              <a:buNone/>
              <a:defRPr sz="1875">
                <a:solidFill>
                  <a:srgbClr val="292E32"/>
                </a:solidFill>
                <a:latin typeface="Yozai"/>
                <a:ea typeface="Yozai"/>
                <a:cs typeface="Yozai"/>
              </a:defRPr>
            </a:pPr>
            <a:r>
              <a:rPr sz="1875">
                <a:solidFill>
                  <a:srgbClr val="292E32"/>
                </a:solidFill>
                <a:latin typeface="Yozai"/>
                <a:ea typeface="Yozai"/>
                <a:cs typeface="Yozai"/>
              </a:rPr>
              <a:t>集中呈现</a:t>
            </a:r>
          </a:p>
        </p:txBody>
      </p:sp>
      <p:sp>
        <p:nvSpPr>
          <p:cNvPr id="9" name="确认购买信息">
            <a:extLst>
              <a:ext uri="{FF2B5EF4-FFF2-40B4-BE49-F238E27FC236}">
                <a16:creationId xmlns:a16="http://schemas.microsoft.com/office/drawing/2014/main" id="{97D5D96D-3605-4BC6-B82B-F52DDDDADD53}"/>
              </a:ext>
            </a:extLst>
          </p:cNvPr>
          <p:cNvSpPr>
            <a:spLocks noGrp="1"/>
          </p:cNvSpPr>
          <p:nvPr/>
        </p:nvSpPr>
        <p:spPr>
          <a:xfrm>
            <a:off x="9020175" y="3857625"/>
            <a:ext cx="25717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175">
                <a:solidFill>
                  <a:srgbClr val="355F52"/>
                </a:solidFill>
                <a:latin typeface="Yozai Medium"/>
                <a:ea typeface="Yozai Medium"/>
                <a:cs typeface="Yozai Medium"/>
              </a:defRPr>
            </a:pPr>
            <a:r>
              <a:rPr sz="2175">
                <a:solidFill>
                  <a:srgbClr val="355F52"/>
                </a:solidFill>
                <a:latin typeface="Yozai Medium"/>
                <a:ea typeface="Yozai Medium"/>
                <a:cs typeface="Yozai Medium"/>
              </a:rPr>
              <a:t>确认购买信息</a:t>
            </a:r>
          </a:p>
        </p:txBody>
      </p:sp>
      <p:sp>
        <p:nvSpPr>
          <p:cNvPr id="10" name="价格、库存与数量&#10;一处完成确认">
            <a:extLst>
              <a:ext uri="{FF2B5EF4-FFF2-40B4-BE49-F238E27FC236}">
                <a16:creationId xmlns:a16="http://schemas.microsoft.com/office/drawing/2014/main" id="{E1D05C0D-1726-4808-A0BA-C812D94B968C}"/>
              </a:ext>
            </a:extLst>
          </p:cNvPr>
          <p:cNvSpPr>
            <a:spLocks noGrp="1"/>
          </p:cNvSpPr>
          <p:nvPr/>
        </p:nvSpPr>
        <p:spPr>
          <a:xfrm>
            <a:off x="9020175" y="4324350"/>
            <a:ext cx="2571750" cy="1047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875">
                <a:solidFill>
                  <a:srgbClr val="292E32"/>
                </a:solidFill>
                <a:latin typeface="Yozai"/>
                <a:ea typeface="Yozai"/>
                <a:cs typeface="Yozai"/>
              </a:defRPr>
            </a:pPr>
            <a:r>
              <a:rPr sz="1875">
                <a:solidFill>
                  <a:srgbClr val="292E32"/>
                </a:solidFill>
                <a:latin typeface="Yozai"/>
                <a:ea typeface="Yozai"/>
                <a:cs typeface="Yozai"/>
              </a:rPr>
              <a:t>价格、库存与数量</a:t>
            </a:r>
          </a:p>
          <a:p>
            <a:pPr algn="l">
              <a:buNone/>
              <a:defRPr sz="1875">
                <a:solidFill>
                  <a:srgbClr val="292E32"/>
                </a:solidFill>
                <a:latin typeface="Yozai"/>
                <a:ea typeface="Yozai"/>
                <a:cs typeface="Yozai"/>
              </a:defRPr>
            </a:pPr>
            <a:r>
              <a:rPr sz="1875">
                <a:solidFill>
                  <a:srgbClr val="292E32"/>
                </a:solidFill>
                <a:latin typeface="Yozai"/>
                <a:ea typeface="Yozai"/>
                <a:cs typeface="Yozai"/>
              </a:rPr>
              <a:t>一处完成确认</a:t>
            </a:r>
          </a:p>
        </p:txBody>
      </p:sp>
    </p:spTree>
    <p:extLst>
      <p:ext uri="{BB962C8B-B14F-4D97-AF65-F5344CB8AC3E}">
        <p14:creationId xmlns:p14="http://schemas.microsoft.com/office/powerpoint/2010/main" val="1190416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04 / ACCOUNT">
            <a:extLst>
              <a:ext uri="{FF2B5EF4-FFF2-40B4-BE49-F238E27FC236}">
                <a16:creationId xmlns:a16="http://schemas.microsoft.com/office/drawing/2014/main" id="{D9FAF84A-5FCB-40D6-9F56-549FE5CDD329}"/>
              </a:ext>
            </a:extLst>
          </p:cNvPr>
          <p:cNvSpPr>
            <a:spLocks noGrp="1"/>
          </p:cNvSpPr>
          <p:nvPr/>
        </p:nvSpPr>
        <p:spPr>
          <a:xfrm>
            <a:off x="571500" y="29527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350">
                <a:solidFill>
                  <a:srgbClr val="355F52"/>
                </a:solidFill>
                <a:latin typeface="Barlow Condensed SemiBold"/>
                <a:ea typeface="Barlow Condensed SemiBold"/>
                <a:cs typeface="Barlow Condensed SemiBold"/>
              </a:defRPr>
            </a:pPr>
            <a:r>
              <a:rPr sz="1350">
                <a:solidFill>
                  <a:srgbClr val="355F52"/>
                </a:solidFill>
                <a:latin typeface="Barlow Condensed SemiBold"/>
                <a:ea typeface="Barlow Condensed SemiBold"/>
                <a:cs typeface="Barlow Condensed SemiBold"/>
              </a:rPr>
              <a:t>04 / ACCOUNT</a:t>
            </a:r>
          </a:p>
        </p:txBody>
      </p:sp>
      <p:sp>
        <p:nvSpPr>
          <p:cNvPr id="2" name="账户承接后续的订单与服务">
            <a:extLst>
              <a:ext uri="{FF2B5EF4-FFF2-40B4-BE49-F238E27FC236}">
                <a16:creationId xmlns:a16="http://schemas.microsoft.com/office/drawing/2014/main" id="{CFF5A0E6-6B3D-4A45-B1D8-2283BEECC30F}"/>
              </a:ext>
            </a:extLst>
          </p:cNvPr>
          <p:cNvSpPr>
            <a:spLocks noGrp="1"/>
          </p:cNvSpPr>
          <p:nvPr/>
        </p:nvSpPr>
        <p:spPr>
          <a:xfrm>
            <a:off x="571500" y="647700"/>
            <a:ext cx="11049000" cy="504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850">
                <a:solidFill>
                  <a:srgbClr val="292E32"/>
                </a:solidFill>
                <a:latin typeface="Yozai Medium"/>
                <a:ea typeface="Yozai Medium"/>
                <a:cs typeface="Yozai Medium"/>
              </a:defRPr>
            </a:pPr>
            <a:r>
              <a:rPr sz="2850">
                <a:solidFill>
                  <a:srgbClr val="292E32"/>
                </a:solidFill>
                <a:latin typeface="Yozai Medium"/>
                <a:ea typeface="Yozai Medium"/>
                <a:cs typeface="Yozai Medium"/>
              </a:rPr>
              <a:t>账户承接后续的订单与服务</a:t>
            </a:r>
          </a:p>
        </p:txBody>
      </p:sp>
      <p:sp>
        <p:nvSpPr>
          <p:cNvPr id="3" name="资料维护与会话管理，为个人业务提供身份基础">
            <a:extLst>
              <a:ext uri="{FF2B5EF4-FFF2-40B4-BE49-F238E27FC236}">
                <a16:creationId xmlns:a16="http://schemas.microsoft.com/office/drawing/2014/main" id="{3EF424AF-52A1-4C65-AA84-501EAD5390F8}"/>
              </a:ext>
            </a:extLst>
          </p:cNvPr>
          <p:cNvSpPr>
            <a:spLocks noGrp="1"/>
          </p:cNvSpPr>
          <p:nvPr/>
        </p:nvSpPr>
        <p:spPr>
          <a:xfrm>
            <a:off x="590550" y="1190625"/>
            <a:ext cx="110299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725">
                <a:solidFill>
                  <a:srgbClr val="626970"/>
                </a:solidFill>
                <a:latin typeface="Yozai"/>
                <a:ea typeface="Yozai"/>
                <a:cs typeface="Yozai"/>
              </a:defRPr>
            </a:pPr>
            <a:r>
              <a:rPr sz="1725">
                <a:solidFill>
                  <a:srgbClr val="626970"/>
                </a:solidFill>
                <a:latin typeface="Yozai"/>
                <a:ea typeface="Yozai"/>
                <a:cs typeface="Yozai"/>
              </a:rPr>
              <a:t>资料维护与会话管理，为个人业务提供身份基础</a:t>
            </a:r>
          </a:p>
        </p:txBody>
      </p:sp>
      <p:sp>
        <p:nvSpPr>
          <p:cNvPr id="4" name="WEMOVE">
            <a:extLst>
              <a:ext uri="{FF2B5EF4-FFF2-40B4-BE49-F238E27FC236}">
                <a16:creationId xmlns:a16="http://schemas.microsoft.com/office/drawing/2014/main" id="{6E5435B5-9C31-4C54-A5CD-ADFC22B3C0C3}"/>
              </a:ext>
            </a:extLst>
          </p:cNvPr>
          <p:cNvSpPr>
            <a:spLocks noGrp="1"/>
          </p:cNvSpPr>
          <p:nvPr/>
        </p:nvSpPr>
        <p:spPr>
          <a:xfrm>
            <a:off x="571500" y="6467475"/>
            <a:ext cx="19050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350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defRPr>
            </a:pPr>
            <a:r>
              <a:rPr sz="1350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rPr>
              <a:t>WEMOVE</a:t>
            </a:r>
          </a:p>
        </p:txBody>
      </p:sp>
      <p:sp>
        <p:nvSpPr>
          <p:cNvPr id="5" name="05">
            <a:extLst>
              <a:ext uri="{FF2B5EF4-FFF2-40B4-BE49-F238E27FC236}">
                <a16:creationId xmlns:a16="http://schemas.microsoft.com/office/drawing/2014/main" id="{A4BBBEAD-35E7-41A7-A91D-9D079220812F}"/>
              </a:ext>
            </a:extLst>
          </p:cNvPr>
          <p:cNvSpPr>
            <a:spLocks noGrp="1"/>
          </p:cNvSpPr>
          <p:nvPr/>
        </p:nvSpPr>
        <p:spPr>
          <a:xfrm>
            <a:off x="11049000" y="6467475"/>
            <a:ext cx="5715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buNone/>
              <a:defRPr sz="1425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defRPr>
            </a:pPr>
            <a:r>
              <a:rPr sz="1425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rPr>
              <a:t>05</a:t>
            </a:r>
          </a:p>
        </p:txBody>
      </p:sp>
      <p:pic>
        <p:nvPicPr>
          <p:cNvPr id="19" name="图片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2083404"/>
            <a:ext cx="8334375" cy="3862766"/>
          </a:xfrm>
          <a:prstGeom prst="rect">
            <a:avLst/>
          </a:prstGeom>
        </p:spPr>
      </p:pic>
      <p:sp>
        <p:nvSpPr>
          <p:cNvPr id="7" name="个人资料">
            <a:extLst>
              <a:ext uri="{FF2B5EF4-FFF2-40B4-BE49-F238E27FC236}">
                <a16:creationId xmlns:a16="http://schemas.microsoft.com/office/drawing/2014/main" id="{DF9B4913-1519-40A5-B3DF-C73807625DA2}"/>
              </a:ext>
            </a:extLst>
          </p:cNvPr>
          <p:cNvSpPr>
            <a:spLocks noGrp="1"/>
          </p:cNvSpPr>
          <p:nvPr/>
        </p:nvSpPr>
        <p:spPr>
          <a:xfrm>
            <a:off x="9286875" y="2143125"/>
            <a:ext cx="22860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175">
                <a:solidFill>
                  <a:srgbClr val="355F52"/>
                </a:solidFill>
                <a:latin typeface="Yozai Medium"/>
                <a:ea typeface="Yozai Medium"/>
                <a:cs typeface="Yozai Medium"/>
              </a:defRPr>
            </a:pPr>
            <a:r>
              <a:rPr sz="2175">
                <a:solidFill>
                  <a:srgbClr val="355F52"/>
                </a:solidFill>
                <a:latin typeface="Yozai Medium"/>
                <a:ea typeface="Yozai Medium"/>
                <a:cs typeface="Yozai Medium"/>
              </a:rPr>
              <a:t>个人资料</a:t>
            </a:r>
          </a:p>
        </p:txBody>
      </p:sp>
      <p:sp>
        <p:nvSpPr>
          <p:cNvPr id="8" name="维护联系方式&#10;查看账户状态">
            <a:extLst>
              <a:ext uri="{FF2B5EF4-FFF2-40B4-BE49-F238E27FC236}">
                <a16:creationId xmlns:a16="http://schemas.microsoft.com/office/drawing/2014/main" id="{A08E1188-5807-4AF9-8D69-750DBFDF9D4E}"/>
              </a:ext>
            </a:extLst>
          </p:cNvPr>
          <p:cNvSpPr>
            <a:spLocks noGrp="1"/>
          </p:cNvSpPr>
          <p:nvPr/>
        </p:nvSpPr>
        <p:spPr>
          <a:xfrm>
            <a:off x="9286875" y="2609850"/>
            <a:ext cx="2286000" cy="1047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875">
                <a:solidFill>
                  <a:srgbClr val="292E32"/>
                </a:solidFill>
                <a:latin typeface="Yozai"/>
                <a:ea typeface="Yozai"/>
                <a:cs typeface="Yozai"/>
              </a:defRPr>
            </a:pPr>
            <a:r>
              <a:rPr sz="1875">
                <a:solidFill>
                  <a:srgbClr val="292E32"/>
                </a:solidFill>
                <a:latin typeface="Yozai"/>
                <a:ea typeface="Yozai"/>
                <a:cs typeface="Yozai"/>
              </a:rPr>
              <a:t>维护联系方式</a:t>
            </a:r>
          </a:p>
          <a:p>
            <a:pPr algn="l">
              <a:buNone/>
              <a:defRPr sz="1875">
                <a:solidFill>
                  <a:srgbClr val="292E32"/>
                </a:solidFill>
                <a:latin typeface="Yozai"/>
                <a:ea typeface="Yozai"/>
                <a:cs typeface="Yozai"/>
              </a:defRPr>
            </a:pPr>
            <a:r>
              <a:rPr sz="1875">
                <a:solidFill>
                  <a:srgbClr val="292E32"/>
                </a:solidFill>
                <a:latin typeface="Yozai"/>
                <a:ea typeface="Yozai"/>
                <a:cs typeface="Yozai"/>
              </a:rPr>
              <a:t>查看账户状态</a:t>
            </a:r>
          </a:p>
        </p:txBody>
      </p:sp>
      <p:sp>
        <p:nvSpPr>
          <p:cNvPr id="9" name="自己的业务">
            <a:extLst>
              <a:ext uri="{FF2B5EF4-FFF2-40B4-BE49-F238E27FC236}">
                <a16:creationId xmlns:a16="http://schemas.microsoft.com/office/drawing/2014/main" id="{F9E434D0-6DD0-42DE-91CC-A337A648F1E1}"/>
              </a:ext>
            </a:extLst>
          </p:cNvPr>
          <p:cNvSpPr>
            <a:spLocks noGrp="1"/>
          </p:cNvSpPr>
          <p:nvPr/>
        </p:nvSpPr>
        <p:spPr>
          <a:xfrm>
            <a:off x="9286875" y="3895725"/>
            <a:ext cx="22860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175">
                <a:solidFill>
                  <a:srgbClr val="355F52"/>
                </a:solidFill>
                <a:latin typeface="Yozai Medium"/>
                <a:ea typeface="Yozai Medium"/>
                <a:cs typeface="Yozai Medium"/>
              </a:defRPr>
            </a:pPr>
            <a:r>
              <a:rPr sz="2175">
                <a:solidFill>
                  <a:srgbClr val="355F52"/>
                </a:solidFill>
                <a:latin typeface="Yozai Medium"/>
                <a:ea typeface="Yozai Medium"/>
                <a:cs typeface="Yozai Medium"/>
              </a:rPr>
              <a:t>自己的业务</a:t>
            </a:r>
          </a:p>
        </p:txBody>
      </p:sp>
      <p:sp>
        <p:nvSpPr>
          <p:cNvPr id="10" name="订单、询价与工单&#10;按数据归属访问">
            <a:extLst>
              <a:ext uri="{FF2B5EF4-FFF2-40B4-BE49-F238E27FC236}">
                <a16:creationId xmlns:a16="http://schemas.microsoft.com/office/drawing/2014/main" id="{D4399FEA-8F5E-46A9-9B8E-4FBA58879610}"/>
              </a:ext>
            </a:extLst>
          </p:cNvPr>
          <p:cNvSpPr>
            <a:spLocks noGrp="1"/>
          </p:cNvSpPr>
          <p:nvPr/>
        </p:nvSpPr>
        <p:spPr>
          <a:xfrm>
            <a:off x="9286875" y="4362450"/>
            <a:ext cx="2286000" cy="1047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875">
                <a:solidFill>
                  <a:srgbClr val="292E32"/>
                </a:solidFill>
                <a:latin typeface="Yozai"/>
                <a:ea typeface="Yozai"/>
                <a:cs typeface="Yozai"/>
              </a:defRPr>
            </a:pPr>
            <a:r>
              <a:rPr sz="1875">
                <a:solidFill>
                  <a:srgbClr val="292E32"/>
                </a:solidFill>
                <a:latin typeface="Yozai"/>
                <a:ea typeface="Yozai"/>
                <a:cs typeface="Yozai"/>
              </a:rPr>
              <a:t>订单、询价与工单</a:t>
            </a:r>
          </a:p>
          <a:p>
            <a:pPr algn="l">
              <a:buNone/>
              <a:defRPr sz="1875">
                <a:solidFill>
                  <a:srgbClr val="292E32"/>
                </a:solidFill>
                <a:latin typeface="Yozai"/>
                <a:ea typeface="Yozai"/>
                <a:cs typeface="Yozai"/>
              </a:defRPr>
            </a:pPr>
            <a:r>
              <a:rPr sz="1875">
                <a:solidFill>
                  <a:srgbClr val="292E32"/>
                </a:solidFill>
                <a:latin typeface="Yozai"/>
                <a:ea typeface="Yozai"/>
                <a:cs typeface="Yozai"/>
              </a:rPr>
              <a:t>按数据归属访问</a:t>
            </a:r>
          </a:p>
        </p:txBody>
      </p:sp>
      <p:sp>
        <p:nvSpPr>
          <p:cNvPr id="11" name="只读界面预览 · 示例账户，不连接后端">
            <a:extLst>
              <a:ext uri="{FF2B5EF4-FFF2-40B4-BE49-F238E27FC236}">
                <a16:creationId xmlns:a16="http://schemas.microsoft.com/office/drawing/2014/main" id="{05980CD1-31AC-42D9-906E-5A70274534D6}"/>
              </a:ext>
            </a:extLst>
          </p:cNvPr>
          <p:cNvSpPr>
            <a:spLocks noGrp="1"/>
          </p:cNvSpPr>
          <p:nvPr/>
        </p:nvSpPr>
        <p:spPr>
          <a:xfrm>
            <a:off x="571500" y="6200775"/>
            <a:ext cx="8334375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buNone/>
              <a:defRPr sz="1275">
                <a:solidFill>
                  <a:srgbClr val="626970"/>
                </a:solidFill>
                <a:latin typeface="Yozai"/>
                <a:ea typeface="Yozai"/>
                <a:cs typeface="Yozai"/>
              </a:defRPr>
            </a:pPr>
            <a:r>
              <a:rPr sz="1275">
                <a:solidFill>
                  <a:srgbClr val="626970"/>
                </a:solidFill>
                <a:latin typeface="Yozai"/>
                <a:ea typeface="Yozai"/>
                <a:cs typeface="Yozai"/>
              </a:rPr>
              <a:t>只读界面预览 · 示例账户</a:t>
            </a:r>
          </a:p>
        </p:txBody>
      </p:sp>
    </p:spTree>
    <p:extLst>
      <p:ext uri="{BB962C8B-B14F-4D97-AF65-F5344CB8AC3E}">
        <p14:creationId xmlns:p14="http://schemas.microsoft.com/office/powerpoint/2010/main" val="280000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05 / CHECKOUT">
            <a:extLst>
              <a:ext uri="{FF2B5EF4-FFF2-40B4-BE49-F238E27FC236}">
                <a16:creationId xmlns:a16="http://schemas.microsoft.com/office/drawing/2014/main" id="{3CDC53CD-179A-4954-95C9-E6E51F090914}"/>
              </a:ext>
            </a:extLst>
          </p:cNvPr>
          <p:cNvSpPr>
            <a:spLocks noGrp="1"/>
          </p:cNvSpPr>
          <p:nvPr/>
        </p:nvSpPr>
        <p:spPr>
          <a:xfrm>
            <a:off x="571500" y="29527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350">
                <a:solidFill>
                  <a:srgbClr val="355F52"/>
                </a:solidFill>
                <a:latin typeface="Barlow Condensed SemiBold"/>
                <a:ea typeface="Barlow Condensed SemiBold"/>
                <a:cs typeface="Barlow Condensed SemiBold"/>
              </a:defRPr>
            </a:pPr>
            <a:r>
              <a:rPr sz="1350">
                <a:solidFill>
                  <a:srgbClr val="355F52"/>
                </a:solidFill>
                <a:latin typeface="Barlow Condensed SemiBold"/>
                <a:ea typeface="Barlow Condensed SemiBold"/>
                <a:cs typeface="Barlow Condensed SemiBold"/>
              </a:rPr>
              <a:t>05 / CHECKOUT</a:t>
            </a:r>
          </a:p>
        </p:txBody>
      </p:sp>
      <p:sp>
        <p:nvSpPr>
          <p:cNvPr id="2" name="从购物车到可信结算">
            <a:extLst>
              <a:ext uri="{FF2B5EF4-FFF2-40B4-BE49-F238E27FC236}">
                <a16:creationId xmlns:a16="http://schemas.microsoft.com/office/drawing/2014/main" id="{5824EC5B-9EA3-4143-980C-D5768BA184D9}"/>
              </a:ext>
            </a:extLst>
          </p:cNvPr>
          <p:cNvSpPr>
            <a:spLocks noGrp="1"/>
          </p:cNvSpPr>
          <p:nvPr/>
        </p:nvSpPr>
        <p:spPr>
          <a:xfrm>
            <a:off x="571500" y="647700"/>
            <a:ext cx="11049000" cy="504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850">
                <a:solidFill>
                  <a:srgbClr val="292E32"/>
                </a:solidFill>
                <a:latin typeface="Yozai Medium"/>
                <a:ea typeface="Yozai Medium"/>
                <a:cs typeface="Yozai Medium"/>
              </a:defRPr>
            </a:pPr>
            <a:r>
              <a:rPr lang="zh-CN" altLang="en-US" sz="2850" dirty="0">
                <a:solidFill>
                  <a:srgbClr val="292E32"/>
                </a:solidFill>
                <a:latin typeface="Yozai Medium"/>
                <a:ea typeface="Yozai Medium"/>
                <a:cs typeface="Yozai Medium"/>
              </a:rPr>
              <a:t>交易系统</a:t>
            </a:r>
            <a:endParaRPr sz="2850" dirty="0">
              <a:solidFill>
                <a:srgbClr val="292E32"/>
              </a:solidFill>
              <a:latin typeface="Yozai Medium"/>
              <a:ea typeface="Yozai Medium"/>
              <a:cs typeface="Yozai Medium"/>
            </a:endParaRPr>
          </a:p>
        </p:txBody>
      </p:sp>
      <p:sp>
        <p:nvSpPr>
          <p:cNvPr id="3" name="服务器复核商品、价格与版本，订单保存当时的交易快照">
            <a:extLst>
              <a:ext uri="{FF2B5EF4-FFF2-40B4-BE49-F238E27FC236}">
                <a16:creationId xmlns:a16="http://schemas.microsoft.com/office/drawing/2014/main" id="{50399A74-3461-446F-838E-30CD25D958B9}"/>
              </a:ext>
            </a:extLst>
          </p:cNvPr>
          <p:cNvSpPr>
            <a:spLocks noGrp="1"/>
          </p:cNvSpPr>
          <p:nvPr/>
        </p:nvSpPr>
        <p:spPr>
          <a:xfrm>
            <a:off x="590550" y="1190625"/>
            <a:ext cx="110299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725">
                <a:solidFill>
                  <a:srgbClr val="626970"/>
                </a:solidFill>
                <a:latin typeface="Yozai"/>
                <a:ea typeface="Yozai"/>
                <a:cs typeface="Yozai"/>
              </a:defRPr>
            </a:pPr>
            <a:r>
              <a:rPr sz="1725">
                <a:solidFill>
                  <a:srgbClr val="626970"/>
                </a:solidFill>
                <a:latin typeface="Yozai"/>
                <a:ea typeface="Yozai"/>
                <a:cs typeface="Yozai"/>
              </a:rPr>
              <a:t>服务器复核商品、价格与版本，订单保存当时的交易快照</a:t>
            </a:r>
          </a:p>
        </p:txBody>
      </p:sp>
      <p:sp>
        <p:nvSpPr>
          <p:cNvPr id="4" name="WEMOVE">
            <a:extLst>
              <a:ext uri="{FF2B5EF4-FFF2-40B4-BE49-F238E27FC236}">
                <a16:creationId xmlns:a16="http://schemas.microsoft.com/office/drawing/2014/main" id="{083BF863-AA89-41CE-87EC-E67A4ADA807F}"/>
              </a:ext>
            </a:extLst>
          </p:cNvPr>
          <p:cNvSpPr>
            <a:spLocks noGrp="1"/>
          </p:cNvSpPr>
          <p:nvPr/>
        </p:nvSpPr>
        <p:spPr>
          <a:xfrm>
            <a:off x="571500" y="6467475"/>
            <a:ext cx="19050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350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defRPr>
            </a:pPr>
            <a:r>
              <a:rPr sz="1350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rPr>
              <a:t>WEMOVE</a:t>
            </a:r>
          </a:p>
        </p:txBody>
      </p:sp>
      <p:sp>
        <p:nvSpPr>
          <p:cNvPr id="5" name="06">
            <a:extLst>
              <a:ext uri="{FF2B5EF4-FFF2-40B4-BE49-F238E27FC236}">
                <a16:creationId xmlns:a16="http://schemas.microsoft.com/office/drawing/2014/main" id="{6A7720AF-9E1C-4495-A457-13314B254E6E}"/>
              </a:ext>
            </a:extLst>
          </p:cNvPr>
          <p:cNvSpPr>
            <a:spLocks noGrp="1"/>
          </p:cNvSpPr>
          <p:nvPr/>
        </p:nvSpPr>
        <p:spPr>
          <a:xfrm>
            <a:off x="11049000" y="6467475"/>
            <a:ext cx="5715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buNone/>
              <a:defRPr sz="1425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defRPr>
            </a:pPr>
            <a:r>
              <a:rPr sz="1425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rPr>
              <a:t>06</a:t>
            </a:r>
          </a:p>
        </p:txBody>
      </p:sp>
      <p:sp>
        <p:nvSpPr>
          <p:cNvPr id="6" name="01 购物车：选定商品与数量">
            <a:extLst>
              <a:ext uri="{FF2B5EF4-FFF2-40B4-BE49-F238E27FC236}">
                <a16:creationId xmlns:a16="http://schemas.microsoft.com/office/drawing/2014/main" id="{B578F497-E5BA-4C2E-8C79-29B0F948E5F0}"/>
              </a:ext>
            </a:extLst>
          </p:cNvPr>
          <p:cNvSpPr>
            <a:spLocks noGrp="1"/>
          </p:cNvSpPr>
          <p:nvPr/>
        </p:nvSpPr>
        <p:spPr>
          <a:xfrm>
            <a:off x="571500" y="1743075"/>
            <a:ext cx="46482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025">
                <a:solidFill>
                  <a:srgbClr val="355F52"/>
                </a:solidFill>
                <a:latin typeface="Yozai Medium"/>
                <a:ea typeface="Yozai Medium"/>
                <a:cs typeface="Yozai Medium"/>
              </a:defRPr>
            </a:pPr>
            <a:r>
              <a:rPr sz="2025">
                <a:solidFill>
                  <a:srgbClr val="355F52"/>
                </a:solidFill>
                <a:latin typeface="Yozai Medium"/>
                <a:ea typeface="Yozai Medium"/>
                <a:cs typeface="Yozai Medium"/>
              </a:rPr>
              <a:t>01 购物车：选定商品与数量</a:t>
            </a:r>
          </a:p>
        </p:txBody>
      </p:sp>
      <p:pic>
        <p:nvPicPr>
          <p:cNvPr id="22" name="图片 1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2181883"/>
            <a:ext cx="6191250" cy="2894284"/>
          </a:xfrm>
          <a:prstGeom prst="rect">
            <a:avLst/>
          </a:prstGeom>
        </p:spPr>
      </p:pic>
      <p:sp>
        <p:nvSpPr>
          <p:cNvPr id="8" name="02 结算：固定成交快照">
            <a:extLst>
              <a:ext uri="{FF2B5EF4-FFF2-40B4-BE49-F238E27FC236}">
                <a16:creationId xmlns:a16="http://schemas.microsoft.com/office/drawing/2014/main" id="{777F4A88-4638-424A-872C-1678BCD8DD13}"/>
              </a:ext>
            </a:extLst>
          </p:cNvPr>
          <p:cNvSpPr>
            <a:spLocks noGrp="1"/>
          </p:cNvSpPr>
          <p:nvPr/>
        </p:nvSpPr>
        <p:spPr>
          <a:xfrm>
            <a:off x="7172325" y="1743075"/>
            <a:ext cx="442912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025">
                <a:solidFill>
                  <a:srgbClr val="355F52"/>
                </a:solidFill>
                <a:latin typeface="Yozai Medium"/>
                <a:ea typeface="Yozai Medium"/>
                <a:cs typeface="Yozai Medium"/>
              </a:defRPr>
            </a:pPr>
            <a:r>
              <a:rPr sz="2025">
                <a:solidFill>
                  <a:srgbClr val="355F52"/>
                </a:solidFill>
                <a:latin typeface="Yozai Medium"/>
                <a:ea typeface="Yozai Medium"/>
                <a:cs typeface="Yozai Medium"/>
              </a:rPr>
              <a:t>02 结算：固定成交快照</a:t>
            </a:r>
          </a:p>
        </p:txBody>
      </p:sp>
      <p:pic>
        <p:nvPicPr>
          <p:cNvPr id="24" name="图片 2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394315" y="2181225"/>
            <a:ext cx="3975620" cy="3848100"/>
          </a:xfrm>
          <a:prstGeom prst="rect">
            <a:avLst/>
          </a:prstGeom>
        </p:spPr>
      </p:pic>
      <p:sp>
        <p:nvSpPr>
          <p:cNvPr id="10" name="数量与金额可见">
            <a:extLst>
              <a:ext uri="{FF2B5EF4-FFF2-40B4-BE49-F238E27FC236}">
                <a16:creationId xmlns:a16="http://schemas.microsoft.com/office/drawing/2014/main" id="{E77B0164-6784-488E-835C-92B737F7DF29}"/>
              </a:ext>
            </a:extLst>
          </p:cNvPr>
          <p:cNvSpPr>
            <a:spLocks noGrp="1"/>
          </p:cNvSpPr>
          <p:nvPr/>
        </p:nvSpPr>
        <p:spPr>
          <a:xfrm>
            <a:off x="723900" y="5276850"/>
            <a:ext cx="619125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950">
                <a:solidFill>
                  <a:srgbClr val="355F52"/>
                </a:solidFill>
                <a:latin typeface="Yozai"/>
                <a:ea typeface="Yozai"/>
                <a:cs typeface="Yozai"/>
              </a:defRPr>
            </a:pPr>
            <a:r>
              <a:rPr sz="1950">
                <a:solidFill>
                  <a:srgbClr val="355F52"/>
                </a:solidFill>
                <a:latin typeface="Yozai"/>
                <a:ea typeface="Yozai"/>
                <a:cs typeface="Yozai"/>
              </a:rPr>
              <a:t>数量与金额可见</a:t>
            </a:r>
          </a:p>
        </p:txBody>
      </p:sp>
      <p:sp>
        <p:nvSpPr>
          <p:cNvPr id="11" name="服务端确认后形成订单">
            <a:extLst>
              <a:ext uri="{FF2B5EF4-FFF2-40B4-BE49-F238E27FC236}">
                <a16:creationId xmlns:a16="http://schemas.microsoft.com/office/drawing/2014/main" id="{BE150B3B-C061-4C34-BDDD-E91C89C69EF5}"/>
              </a:ext>
            </a:extLst>
          </p:cNvPr>
          <p:cNvSpPr>
            <a:spLocks noGrp="1"/>
          </p:cNvSpPr>
          <p:nvPr/>
        </p:nvSpPr>
        <p:spPr>
          <a:xfrm>
            <a:off x="723900" y="5705475"/>
            <a:ext cx="61912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875">
                <a:solidFill>
                  <a:srgbClr val="626970"/>
                </a:solidFill>
                <a:latin typeface="Yozai"/>
                <a:ea typeface="Yozai"/>
                <a:cs typeface="Yozai"/>
              </a:defRPr>
            </a:pPr>
            <a:r>
              <a:rPr sz="1875">
                <a:solidFill>
                  <a:srgbClr val="626970"/>
                </a:solidFill>
                <a:latin typeface="Yozai"/>
                <a:ea typeface="Yozai"/>
                <a:cs typeface="Yozai"/>
              </a:rPr>
              <a:t>服务端确认后形成订单</a:t>
            </a:r>
          </a:p>
        </p:txBody>
      </p:sp>
      <p:sp>
        <p:nvSpPr>
          <p:cNvPr id="12" name="只读界面预览 · 示例数据，不连接后端">
            <a:extLst>
              <a:ext uri="{FF2B5EF4-FFF2-40B4-BE49-F238E27FC236}">
                <a16:creationId xmlns:a16="http://schemas.microsoft.com/office/drawing/2014/main" id="{17DB8DB3-8AB5-4A26-844E-EBD6FD1E2EB4}"/>
              </a:ext>
            </a:extLst>
          </p:cNvPr>
          <p:cNvSpPr>
            <a:spLocks noGrp="1"/>
          </p:cNvSpPr>
          <p:nvPr/>
        </p:nvSpPr>
        <p:spPr>
          <a:xfrm>
            <a:off x="571500" y="6134100"/>
            <a:ext cx="11049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buNone/>
              <a:defRPr sz="1275">
                <a:solidFill>
                  <a:srgbClr val="626970"/>
                </a:solidFill>
                <a:latin typeface="Yozai"/>
                <a:ea typeface="Yozai"/>
                <a:cs typeface="Yozai"/>
              </a:defRPr>
            </a:pPr>
            <a:r>
              <a:rPr sz="1275">
                <a:solidFill>
                  <a:srgbClr val="626970"/>
                </a:solidFill>
                <a:latin typeface="Yozai"/>
                <a:ea typeface="Yozai"/>
                <a:cs typeface="Yozai"/>
              </a:rPr>
              <a:t>只读界面预览 · 示例数据，不连接后端</a:t>
            </a:r>
          </a:p>
        </p:txBody>
      </p:sp>
    </p:spTree>
    <p:extLst>
      <p:ext uri="{BB962C8B-B14F-4D97-AF65-F5344CB8AC3E}">
        <p14:creationId xmlns:p14="http://schemas.microsoft.com/office/powerpoint/2010/main" val="1878349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06 / ORDER FLOW">
            <a:extLst>
              <a:ext uri="{FF2B5EF4-FFF2-40B4-BE49-F238E27FC236}">
                <a16:creationId xmlns:a16="http://schemas.microsoft.com/office/drawing/2014/main" id="{772A8A4A-283E-43B2-921E-F3998AB4FC41}"/>
              </a:ext>
            </a:extLst>
          </p:cNvPr>
          <p:cNvSpPr>
            <a:spLocks noGrp="1"/>
          </p:cNvSpPr>
          <p:nvPr/>
        </p:nvSpPr>
        <p:spPr>
          <a:xfrm>
            <a:off x="571500" y="29527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350">
                <a:solidFill>
                  <a:srgbClr val="355F52"/>
                </a:solidFill>
                <a:latin typeface="Barlow Condensed SemiBold"/>
                <a:ea typeface="Barlow Condensed SemiBold"/>
                <a:cs typeface="Barlow Condensed SemiBold"/>
              </a:defRPr>
            </a:pPr>
            <a:r>
              <a:rPr sz="1350">
                <a:solidFill>
                  <a:srgbClr val="355F52"/>
                </a:solidFill>
                <a:latin typeface="Barlow Condensed SemiBold"/>
                <a:ea typeface="Barlow Condensed SemiBold"/>
                <a:cs typeface="Barlow Condensed SemiBold"/>
              </a:rPr>
              <a:t>06 / ORDER FLOW</a:t>
            </a:r>
          </a:p>
        </p:txBody>
      </p:sp>
      <p:sp>
        <p:nvSpPr>
          <p:cNvPr id="2" name="订单状态与库存变化">
            <a:extLst>
              <a:ext uri="{FF2B5EF4-FFF2-40B4-BE49-F238E27FC236}">
                <a16:creationId xmlns:a16="http://schemas.microsoft.com/office/drawing/2014/main" id="{CB67CEF1-269C-4FCD-A9A8-F2BC8C15D91C}"/>
              </a:ext>
            </a:extLst>
          </p:cNvPr>
          <p:cNvSpPr>
            <a:spLocks noGrp="1"/>
          </p:cNvSpPr>
          <p:nvPr/>
        </p:nvSpPr>
        <p:spPr>
          <a:xfrm>
            <a:off x="571500" y="647700"/>
            <a:ext cx="11049000" cy="504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850">
                <a:solidFill>
                  <a:srgbClr val="292E32"/>
                </a:solidFill>
                <a:latin typeface="Yozai Medium"/>
                <a:ea typeface="Yozai Medium"/>
                <a:cs typeface="Yozai Medium"/>
              </a:defRPr>
            </a:pPr>
            <a:r>
              <a:rPr sz="2850">
                <a:solidFill>
                  <a:srgbClr val="292E32"/>
                </a:solidFill>
                <a:latin typeface="Yozai Medium"/>
                <a:ea typeface="Yozai Medium"/>
                <a:cs typeface="Yozai Medium"/>
              </a:rPr>
              <a:t>订单状态与库存变化</a:t>
            </a:r>
          </a:p>
        </p:txBody>
      </p:sp>
      <p:sp>
        <p:nvSpPr>
          <p:cNvPr id="3" name="付款、取消与履约由状态规则约束">
            <a:extLst>
              <a:ext uri="{FF2B5EF4-FFF2-40B4-BE49-F238E27FC236}">
                <a16:creationId xmlns:a16="http://schemas.microsoft.com/office/drawing/2014/main" id="{120B4F37-8FF6-4EAF-AA96-84E7B6CFA9AB}"/>
              </a:ext>
            </a:extLst>
          </p:cNvPr>
          <p:cNvSpPr>
            <a:spLocks noGrp="1"/>
          </p:cNvSpPr>
          <p:nvPr/>
        </p:nvSpPr>
        <p:spPr>
          <a:xfrm>
            <a:off x="590550" y="1190625"/>
            <a:ext cx="110299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725">
                <a:solidFill>
                  <a:srgbClr val="626970"/>
                </a:solidFill>
                <a:latin typeface="Yozai"/>
                <a:ea typeface="Yozai"/>
                <a:cs typeface="Yozai"/>
              </a:defRPr>
            </a:pPr>
            <a:r>
              <a:rPr sz="1725">
                <a:solidFill>
                  <a:srgbClr val="626970"/>
                </a:solidFill>
                <a:latin typeface="Yozai"/>
                <a:ea typeface="Yozai"/>
                <a:cs typeface="Yozai"/>
              </a:rPr>
              <a:t>付款、取消与履约由状态规则约束</a:t>
            </a:r>
          </a:p>
        </p:txBody>
      </p:sp>
      <p:sp>
        <p:nvSpPr>
          <p:cNvPr id="4" name="WEMOVE">
            <a:extLst>
              <a:ext uri="{FF2B5EF4-FFF2-40B4-BE49-F238E27FC236}">
                <a16:creationId xmlns:a16="http://schemas.microsoft.com/office/drawing/2014/main" id="{CF170EFE-705B-41A1-9698-0A0D5820A197}"/>
              </a:ext>
            </a:extLst>
          </p:cNvPr>
          <p:cNvSpPr>
            <a:spLocks noGrp="1"/>
          </p:cNvSpPr>
          <p:nvPr/>
        </p:nvSpPr>
        <p:spPr>
          <a:xfrm>
            <a:off x="571500" y="6467475"/>
            <a:ext cx="19050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350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defRPr>
            </a:pPr>
            <a:r>
              <a:rPr sz="1350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rPr>
              <a:t>WEMOVE</a:t>
            </a:r>
          </a:p>
        </p:txBody>
      </p:sp>
      <p:sp>
        <p:nvSpPr>
          <p:cNvPr id="5" name="07">
            <a:extLst>
              <a:ext uri="{FF2B5EF4-FFF2-40B4-BE49-F238E27FC236}">
                <a16:creationId xmlns:a16="http://schemas.microsoft.com/office/drawing/2014/main" id="{19520E41-8E96-4785-B508-A9F7DE16D4DF}"/>
              </a:ext>
            </a:extLst>
          </p:cNvPr>
          <p:cNvSpPr>
            <a:spLocks noGrp="1"/>
          </p:cNvSpPr>
          <p:nvPr/>
        </p:nvSpPr>
        <p:spPr>
          <a:xfrm>
            <a:off x="11049000" y="6467475"/>
            <a:ext cx="5715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buNone/>
              <a:defRPr sz="1425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defRPr>
            </a:pPr>
            <a:r>
              <a:rPr sz="1425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rPr>
              <a:t>07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F514E7A5-84E7-40E4-BC4A-5C7C034B2951}"/>
              </a:ext>
            </a:extLst>
          </p:cNvPr>
          <p:cNvSpPr>
            <a:spLocks noGrp="1"/>
          </p:cNvSpPr>
          <p:nvPr/>
        </p:nvSpPr>
        <p:spPr>
          <a:xfrm>
            <a:off x="685800" y="2971800"/>
            <a:ext cx="2095500" cy="838200"/>
          </a:xfrm>
          <a:prstGeom prst="roundRect">
            <a:avLst>
              <a:gd name="adj" fmla="val 15909"/>
            </a:avLst>
          </a:prstGeom>
          <a:solidFill>
            <a:srgbClr val="ECF1EC"/>
          </a:solidFill>
          <a:ln w="11430">
            <a:solidFill>
              <a:srgbClr val="DCE0D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待付款">
            <a:extLst>
              <a:ext uri="{FF2B5EF4-FFF2-40B4-BE49-F238E27FC236}">
                <a16:creationId xmlns:a16="http://schemas.microsoft.com/office/drawing/2014/main" id="{EC3DBFBE-89CC-4E34-9258-44413772BD5C}"/>
              </a:ext>
            </a:extLst>
          </p:cNvPr>
          <p:cNvSpPr>
            <a:spLocks noGrp="1"/>
          </p:cNvSpPr>
          <p:nvPr/>
        </p:nvSpPr>
        <p:spPr>
          <a:xfrm>
            <a:off x="800100" y="3067050"/>
            <a:ext cx="18669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950">
                <a:solidFill>
                  <a:srgbClr val="292E32"/>
                </a:solidFill>
                <a:latin typeface="Yozai Medium"/>
                <a:ea typeface="Yozai Medium"/>
                <a:cs typeface="Yozai Medium"/>
              </a:defRPr>
            </a:pPr>
            <a:r>
              <a:rPr sz="1950">
                <a:solidFill>
                  <a:srgbClr val="292E32"/>
                </a:solidFill>
                <a:latin typeface="Yozai Medium"/>
                <a:ea typeface="Yozai Medium"/>
                <a:cs typeface="Yozai Medium"/>
              </a:rPr>
              <a:t>待付款</a:t>
            </a:r>
          </a:p>
        </p:txBody>
      </p:sp>
      <p:sp>
        <p:nvSpPr>
          <p:cNvPr id="8" name="PENDING_PAYMENT">
            <a:extLst>
              <a:ext uri="{FF2B5EF4-FFF2-40B4-BE49-F238E27FC236}">
                <a16:creationId xmlns:a16="http://schemas.microsoft.com/office/drawing/2014/main" id="{873398D2-93FC-4CD5-A174-FA1F54F40E2E}"/>
              </a:ext>
            </a:extLst>
          </p:cNvPr>
          <p:cNvSpPr>
            <a:spLocks noGrp="1"/>
          </p:cNvSpPr>
          <p:nvPr/>
        </p:nvSpPr>
        <p:spPr>
          <a:xfrm>
            <a:off x="781050" y="3438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425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defRPr>
            </a:pPr>
            <a:r>
              <a:rPr sz="1425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rPr>
              <a:t>PENDING_PAYMENT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22C9F3DC-8AD3-4020-BE50-0CA938DCFCEB}"/>
              </a:ext>
            </a:extLst>
          </p:cNvPr>
          <p:cNvSpPr>
            <a:spLocks noGrp="1"/>
          </p:cNvSpPr>
          <p:nvPr/>
        </p:nvSpPr>
        <p:spPr>
          <a:xfrm>
            <a:off x="3590925" y="2971800"/>
            <a:ext cx="2095500" cy="838200"/>
          </a:xfrm>
          <a:prstGeom prst="roundRect">
            <a:avLst>
              <a:gd name="adj" fmla="val 15909"/>
            </a:avLst>
          </a:prstGeom>
          <a:solidFill>
            <a:srgbClr val="ECF1EC"/>
          </a:solidFill>
          <a:ln w="11430">
            <a:solidFill>
              <a:srgbClr val="DCE0D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已付款">
            <a:extLst>
              <a:ext uri="{FF2B5EF4-FFF2-40B4-BE49-F238E27FC236}">
                <a16:creationId xmlns:a16="http://schemas.microsoft.com/office/drawing/2014/main" id="{C6AEBC28-19B9-4FD8-9244-4FAFE9616DB4}"/>
              </a:ext>
            </a:extLst>
          </p:cNvPr>
          <p:cNvSpPr>
            <a:spLocks noGrp="1"/>
          </p:cNvSpPr>
          <p:nvPr/>
        </p:nvSpPr>
        <p:spPr>
          <a:xfrm>
            <a:off x="3705225" y="3067050"/>
            <a:ext cx="18669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950">
                <a:solidFill>
                  <a:srgbClr val="292E32"/>
                </a:solidFill>
                <a:latin typeface="Yozai Medium"/>
                <a:ea typeface="Yozai Medium"/>
                <a:cs typeface="Yozai Medium"/>
              </a:defRPr>
            </a:pPr>
            <a:r>
              <a:rPr sz="1950">
                <a:solidFill>
                  <a:srgbClr val="292E32"/>
                </a:solidFill>
                <a:latin typeface="Yozai Medium"/>
                <a:ea typeface="Yozai Medium"/>
                <a:cs typeface="Yozai Medium"/>
              </a:rPr>
              <a:t>已付款</a:t>
            </a:r>
          </a:p>
        </p:txBody>
      </p:sp>
      <p:sp>
        <p:nvSpPr>
          <p:cNvPr id="11" name="PAID">
            <a:extLst>
              <a:ext uri="{FF2B5EF4-FFF2-40B4-BE49-F238E27FC236}">
                <a16:creationId xmlns:a16="http://schemas.microsoft.com/office/drawing/2014/main" id="{7347742A-DCD8-4F2A-8359-94FA97D94A1E}"/>
              </a:ext>
            </a:extLst>
          </p:cNvPr>
          <p:cNvSpPr>
            <a:spLocks noGrp="1"/>
          </p:cNvSpPr>
          <p:nvPr/>
        </p:nvSpPr>
        <p:spPr>
          <a:xfrm>
            <a:off x="3686175" y="3438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425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defRPr>
            </a:pPr>
            <a:r>
              <a:rPr sz="1425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rPr>
              <a:t>PAID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B2B43B69-CCC1-436D-BE3B-529523CEA757}"/>
              </a:ext>
            </a:extLst>
          </p:cNvPr>
          <p:cNvSpPr>
            <a:spLocks noGrp="1"/>
          </p:cNvSpPr>
          <p:nvPr/>
        </p:nvSpPr>
        <p:spPr>
          <a:xfrm>
            <a:off x="6496050" y="2971800"/>
            <a:ext cx="2095500" cy="838200"/>
          </a:xfrm>
          <a:prstGeom prst="roundRect">
            <a:avLst>
              <a:gd name="adj" fmla="val 15909"/>
            </a:avLst>
          </a:prstGeom>
          <a:solidFill>
            <a:srgbClr val="ECF1EC"/>
          </a:solidFill>
          <a:ln w="11430">
            <a:solidFill>
              <a:srgbClr val="DCE0D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已发货">
            <a:extLst>
              <a:ext uri="{FF2B5EF4-FFF2-40B4-BE49-F238E27FC236}">
                <a16:creationId xmlns:a16="http://schemas.microsoft.com/office/drawing/2014/main" id="{3F76B2FD-77E8-4CE4-8CC4-641AB8288361}"/>
              </a:ext>
            </a:extLst>
          </p:cNvPr>
          <p:cNvSpPr>
            <a:spLocks noGrp="1"/>
          </p:cNvSpPr>
          <p:nvPr/>
        </p:nvSpPr>
        <p:spPr>
          <a:xfrm>
            <a:off x="6610350" y="3067050"/>
            <a:ext cx="18669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950">
                <a:solidFill>
                  <a:srgbClr val="292E32"/>
                </a:solidFill>
                <a:latin typeface="Yozai Medium"/>
                <a:ea typeface="Yozai Medium"/>
                <a:cs typeface="Yozai Medium"/>
              </a:defRPr>
            </a:pPr>
            <a:r>
              <a:rPr sz="1950">
                <a:solidFill>
                  <a:srgbClr val="292E32"/>
                </a:solidFill>
                <a:latin typeface="Yozai Medium"/>
                <a:ea typeface="Yozai Medium"/>
                <a:cs typeface="Yozai Medium"/>
              </a:rPr>
              <a:t>已发货</a:t>
            </a:r>
          </a:p>
        </p:txBody>
      </p:sp>
      <p:sp>
        <p:nvSpPr>
          <p:cNvPr id="14" name="SHIPPED">
            <a:extLst>
              <a:ext uri="{FF2B5EF4-FFF2-40B4-BE49-F238E27FC236}">
                <a16:creationId xmlns:a16="http://schemas.microsoft.com/office/drawing/2014/main" id="{DD6483D4-D2E6-446B-9274-A5873082D117}"/>
              </a:ext>
            </a:extLst>
          </p:cNvPr>
          <p:cNvSpPr>
            <a:spLocks noGrp="1"/>
          </p:cNvSpPr>
          <p:nvPr/>
        </p:nvSpPr>
        <p:spPr>
          <a:xfrm>
            <a:off x="6591300" y="3438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425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defRPr>
            </a:pPr>
            <a:r>
              <a:rPr sz="1425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rPr>
              <a:t>SHIPPED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01A8593E-A229-443D-B1DF-7A1049BE4A9E}"/>
              </a:ext>
            </a:extLst>
          </p:cNvPr>
          <p:cNvSpPr>
            <a:spLocks noGrp="1"/>
          </p:cNvSpPr>
          <p:nvPr/>
        </p:nvSpPr>
        <p:spPr>
          <a:xfrm>
            <a:off x="9401175" y="2971800"/>
            <a:ext cx="2095500" cy="838200"/>
          </a:xfrm>
          <a:prstGeom prst="roundRect">
            <a:avLst>
              <a:gd name="adj" fmla="val 15909"/>
            </a:avLst>
          </a:prstGeom>
          <a:solidFill>
            <a:srgbClr val="355F52"/>
          </a:solidFill>
          <a:ln w="11430">
            <a:solidFill>
              <a:srgbClr val="DCE0D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已完成">
            <a:extLst>
              <a:ext uri="{FF2B5EF4-FFF2-40B4-BE49-F238E27FC236}">
                <a16:creationId xmlns:a16="http://schemas.microsoft.com/office/drawing/2014/main" id="{F9457A3C-B7BE-48AA-8D12-04E638C3C766}"/>
              </a:ext>
            </a:extLst>
          </p:cNvPr>
          <p:cNvSpPr>
            <a:spLocks noGrp="1"/>
          </p:cNvSpPr>
          <p:nvPr/>
        </p:nvSpPr>
        <p:spPr>
          <a:xfrm>
            <a:off x="9515475" y="3067050"/>
            <a:ext cx="18669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950">
                <a:solidFill>
                  <a:srgbClr val="FFFEFA"/>
                </a:solidFill>
                <a:latin typeface="Yozai Medium"/>
                <a:ea typeface="Yozai Medium"/>
                <a:cs typeface="Yozai Medium"/>
              </a:defRPr>
            </a:pPr>
            <a:r>
              <a:rPr sz="1950">
                <a:solidFill>
                  <a:srgbClr val="FFFEFA"/>
                </a:solidFill>
                <a:latin typeface="Yozai Medium"/>
                <a:ea typeface="Yozai Medium"/>
                <a:cs typeface="Yozai Medium"/>
              </a:rPr>
              <a:t>已完成</a:t>
            </a:r>
          </a:p>
        </p:txBody>
      </p:sp>
      <p:sp>
        <p:nvSpPr>
          <p:cNvPr id="17" name="COMPLETED">
            <a:extLst>
              <a:ext uri="{FF2B5EF4-FFF2-40B4-BE49-F238E27FC236}">
                <a16:creationId xmlns:a16="http://schemas.microsoft.com/office/drawing/2014/main" id="{8876C608-FC94-47F3-B6AB-20F54526B327}"/>
              </a:ext>
            </a:extLst>
          </p:cNvPr>
          <p:cNvSpPr>
            <a:spLocks noGrp="1"/>
          </p:cNvSpPr>
          <p:nvPr/>
        </p:nvSpPr>
        <p:spPr>
          <a:xfrm>
            <a:off x="9496425" y="343852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425">
                <a:solidFill>
                  <a:srgbClr val="FFFEFA"/>
                </a:solidFill>
                <a:latin typeface="Barlow Condensed SemiBold"/>
                <a:ea typeface="Barlow Condensed SemiBold"/>
                <a:cs typeface="Barlow Condensed SemiBold"/>
              </a:defRPr>
            </a:pPr>
            <a:r>
              <a:rPr sz="1425">
                <a:solidFill>
                  <a:srgbClr val="FFFEFA"/>
                </a:solidFill>
                <a:latin typeface="Barlow Condensed SemiBold"/>
                <a:ea typeface="Barlow Condensed SemiBold"/>
                <a:cs typeface="Barlow Condensed SemiBold"/>
              </a:rPr>
              <a:t>COMPLETED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1E48FC4C-CA71-42E4-9D81-4523C9DD61E0}"/>
              </a:ext>
            </a:extLst>
          </p:cNvPr>
          <p:cNvSpPr>
            <a:spLocks noGrp="1"/>
          </p:cNvSpPr>
          <p:nvPr/>
        </p:nvSpPr>
        <p:spPr>
          <a:xfrm>
            <a:off x="1905000" y="4857750"/>
            <a:ext cx="2095500" cy="838200"/>
          </a:xfrm>
          <a:prstGeom prst="roundRect">
            <a:avLst>
              <a:gd name="adj" fmla="val 15909"/>
            </a:avLst>
          </a:prstGeom>
          <a:solidFill>
            <a:srgbClr val="ECE7DF"/>
          </a:solidFill>
          <a:ln w="11430">
            <a:solidFill>
              <a:srgbClr val="DCE0D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已取消">
            <a:extLst>
              <a:ext uri="{FF2B5EF4-FFF2-40B4-BE49-F238E27FC236}">
                <a16:creationId xmlns:a16="http://schemas.microsoft.com/office/drawing/2014/main" id="{987E1415-D1D5-43C6-8614-D771A108C057}"/>
              </a:ext>
            </a:extLst>
          </p:cNvPr>
          <p:cNvSpPr>
            <a:spLocks noGrp="1"/>
          </p:cNvSpPr>
          <p:nvPr/>
        </p:nvSpPr>
        <p:spPr>
          <a:xfrm>
            <a:off x="2019300" y="4953000"/>
            <a:ext cx="186690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950">
                <a:solidFill>
                  <a:srgbClr val="292E32"/>
                </a:solidFill>
                <a:latin typeface="Yozai Medium"/>
                <a:ea typeface="Yozai Medium"/>
                <a:cs typeface="Yozai Medium"/>
              </a:defRPr>
            </a:pPr>
            <a:r>
              <a:rPr sz="1950">
                <a:solidFill>
                  <a:srgbClr val="292E32"/>
                </a:solidFill>
                <a:latin typeface="Yozai Medium"/>
                <a:ea typeface="Yozai Medium"/>
                <a:cs typeface="Yozai Medium"/>
              </a:rPr>
              <a:t>已取消</a:t>
            </a:r>
          </a:p>
        </p:txBody>
      </p:sp>
      <p:sp>
        <p:nvSpPr>
          <p:cNvPr id="20" name="CANCELLED">
            <a:extLst>
              <a:ext uri="{FF2B5EF4-FFF2-40B4-BE49-F238E27FC236}">
                <a16:creationId xmlns:a16="http://schemas.microsoft.com/office/drawing/2014/main" id="{8F0673BF-B660-42CE-82AF-1B3A1504BABC}"/>
              </a:ext>
            </a:extLst>
          </p:cNvPr>
          <p:cNvSpPr>
            <a:spLocks noGrp="1"/>
          </p:cNvSpPr>
          <p:nvPr/>
        </p:nvSpPr>
        <p:spPr>
          <a:xfrm>
            <a:off x="2000250" y="5324475"/>
            <a:ext cx="1905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425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defRPr>
            </a:pPr>
            <a:r>
              <a:rPr sz="1425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rPr>
              <a:t>CANCELLED</a:t>
            </a:r>
          </a:p>
        </p:txBody>
      </p:sp>
      <p:cxnSp>
        <p:nvCxnSpPr>
          <p:cNvPr id="141" name="直线箭头连接符 83"/>
          <p:cNvCxnSpPr>
            <a:stCxn id="6" idx="3"/>
            <a:endCxn id="9" idx="1"/>
          </p:cNvCxnSpPr>
          <p:nvPr/>
        </p:nvCxnSpPr>
        <p:spPr>
          <a:xfrm>
            <a:off x="2781300" y="3390900"/>
            <a:ext cx="809625" cy="0"/>
          </a:xfrm>
          <a:prstGeom prst="straightConnector1">
            <a:avLst/>
          </a:prstGeom>
          <a:ln w="22860">
            <a:solidFill>
              <a:srgbClr val="355F52"/>
            </a:solidFill>
            <a:prstDash val="solid"/>
            <a:tailEnd type="triangle" w="sm" len="sm"/>
          </a:ln>
        </p:spPr>
      </p:cxnSp>
      <p:cxnSp>
        <p:nvCxnSpPr>
          <p:cNvPr id="142" name="直线箭头连接符 84"/>
          <p:cNvCxnSpPr>
            <a:stCxn id="9" idx="3"/>
            <a:endCxn id="12" idx="1"/>
          </p:cNvCxnSpPr>
          <p:nvPr/>
        </p:nvCxnSpPr>
        <p:spPr>
          <a:xfrm>
            <a:off x="5686425" y="3390900"/>
            <a:ext cx="809625" cy="0"/>
          </a:xfrm>
          <a:prstGeom prst="straightConnector1">
            <a:avLst/>
          </a:prstGeom>
          <a:ln w="22860">
            <a:solidFill>
              <a:srgbClr val="355F52"/>
            </a:solidFill>
            <a:prstDash val="solid"/>
            <a:tailEnd type="triangle" w="sm" len="sm"/>
          </a:ln>
        </p:spPr>
      </p:cxnSp>
      <p:cxnSp>
        <p:nvCxnSpPr>
          <p:cNvPr id="143" name="直线箭头连接符 85"/>
          <p:cNvCxnSpPr>
            <a:stCxn id="12" idx="3"/>
            <a:endCxn id="15" idx="1"/>
          </p:cNvCxnSpPr>
          <p:nvPr/>
        </p:nvCxnSpPr>
        <p:spPr>
          <a:xfrm>
            <a:off x="8591550" y="3390900"/>
            <a:ext cx="809625" cy="0"/>
          </a:xfrm>
          <a:prstGeom prst="straightConnector1">
            <a:avLst/>
          </a:prstGeom>
          <a:ln w="22860">
            <a:solidFill>
              <a:srgbClr val="355F52"/>
            </a:solidFill>
            <a:prstDash val="solid"/>
            <a:tailEnd type="triangle" w="sm" len="sm"/>
          </a:ln>
        </p:spPr>
      </p:cxnSp>
      <p:sp>
        <p:nvSpPr>
          <p:cNvPr id="24" name="diagram-anchor-1">
            <a:extLst>
              <a:ext uri="{FF2B5EF4-FFF2-40B4-BE49-F238E27FC236}">
                <a16:creationId xmlns:a16="http://schemas.microsoft.com/office/drawing/2014/main" id="{3FB49AB0-8369-474E-BEE1-FD4A57D674D2}"/>
              </a:ext>
            </a:extLst>
          </p:cNvPr>
          <p:cNvSpPr>
            <a:spLocks noGrp="1"/>
          </p:cNvSpPr>
          <p:nvPr/>
        </p:nvSpPr>
        <p:spPr>
          <a:xfrm>
            <a:off x="1176338" y="296703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diagram-anchor-2">
            <a:extLst>
              <a:ext uri="{FF2B5EF4-FFF2-40B4-BE49-F238E27FC236}">
                <a16:creationId xmlns:a16="http://schemas.microsoft.com/office/drawing/2014/main" id="{7C4BF69E-AADB-44BA-B6D0-5100A02E306C}"/>
              </a:ext>
            </a:extLst>
          </p:cNvPr>
          <p:cNvSpPr>
            <a:spLocks noGrp="1"/>
          </p:cNvSpPr>
          <p:nvPr/>
        </p:nvSpPr>
        <p:spPr>
          <a:xfrm>
            <a:off x="1176338" y="242411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146" name="直线箭头连接符 88"/>
          <p:cNvCxnSpPr>
            <a:stCxn id="24" idx="3"/>
            <a:endCxn id="25" idx="1"/>
          </p:cNvCxnSpPr>
          <p:nvPr/>
        </p:nvCxnSpPr>
        <p:spPr>
          <a:xfrm flipH="1" flipV="1">
            <a:off x="1176338" y="2428876"/>
            <a:ext cx="9525" cy="542925"/>
          </a:xfrm>
          <a:prstGeom prst="straightConnector1">
            <a:avLst/>
          </a:prstGeom>
          <a:ln w="22860">
            <a:solidFill>
              <a:srgbClr val="8D744E"/>
            </a:solidFill>
            <a:prstDash val="solid"/>
          </a:ln>
        </p:spPr>
      </p:cxnSp>
      <p:sp>
        <p:nvSpPr>
          <p:cNvPr id="27" name="diagram-anchor-3">
            <a:extLst>
              <a:ext uri="{FF2B5EF4-FFF2-40B4-BE49-F238E27FC236}">
                <a16:creationId xmlns:a16="http://schemas.microsoft.com/office/drawing/2014/main" id="{D1657B70-57FC-400B-8662-F414C57753FB}"/>
              </a:ext>
            </a:extLst>
          </p:cNvPr>
          <p:cNvSpPr>
            <a:spLocks noGrp="1"/>
          </p:cNvSpPr>
          <p:nvPr/>
        </p:nvSpPr>
        <p:spPr>
          <a:xfrm>
            <a:off x="1176338" y="242411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diagram-anchor-4">
            <a:extLst>
              <a:ext uri="{FF2B5EF4-FFF2-40B4-BE49-F238E27FC236}">
                <a16:creationId xmlns:a16="http://schemas.microsoft.com/office/drawing/2014/main" id="{F1F67D3E-F824-41C7-AAEF-2C7A7301BD6D}"/>
              </a:ext>
            </a:extLst>
          </p:cNvPr>
          <p:cNvSpPr>
            <a:spLocks noGrp="1"/>
          </p:cNvSpPr>
          <p:nvPr/>
        </p:nvSpPr>
        <p:spPr>
          <a:xfrm>
            <a:off x="2319338" y="242411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149" name="直线箭头连接符 91"/>
          <p:cNvCxnSpPr>
            <a:stCxn id="27" idx="3"/>
            <a:endCxn id="28" idx="1"/>
          </p:cNvCxnSpPr>
          <p:nvPr/>
        </p:nvCxnSpPr>
        <p:spPr>
          <a:xfrm>
            <a:off x="1185863" y="2428876"/>
            <a:ext cx="1133475" cy="0"/>
          </a:xfrm>
          <a:prstGeom prst="straightConnector1">
            <a:avLst/>
          </a:prstGeom>
          <a:ln w="22860">
            <a:solidFill>
              <a:srgbClr val="8D744E"/>
            </a:solidFill>
            <a:prstDash val="solid"/>
          </a:ln>
        </p:spPr>
      </p:cxnSp>
      <p:sp>
        <p:nvSpPr>
          <p:cNvPr id="30" name="diagram-anchor-5">
            <a:extLst>
              <a:ext uri="{FF2B5EF4-FFF2-40B4-BE49-F238E27FC236}">
                <a16:creationId xmlns:a16="http://schemas.microsoft.com/office/drawing/2014/main" id="{0BD056C1-1894-4ADE-AEAD-0D8F0BD118C7}"/>
              </a:ext>
            </a:extLst>
          </p:cNvPr>
          <p:cNvSpPr>
            <a:spLocks noGrp="1"/>
          </p:cNvSpPr>
          <p:nvPr/>
        </p:nvSpPr>
        <p:spPr>
          <a:xfrm>
            <a:off x="2319338" y="242411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diagram-anchor-6">
            <a:extLst>
              <a:ext uri="{FF2B5EF4-FFF2-40B4-BE49-F238E27FC236}">
                <a16:creationId xmlns:a16="http://schemas.microsoft.com/office/drawing/2014/main" id="{CC17E14D-407F-418E-BE05-848290589464}"/>
              </a:ext>
            </a:extLst>
          </p:cNvPr>
          <p:cNvSpPr>
            <a:spLocks noGrp="1"/>
          </p:cNvSpPr>
          <p:nvPr/>
        </p:nvSpPr>
        <p:spPr>
          <a:xfrm>
            <a:off x="2319338" y="296703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152" name="直线箭头连接符 94"/>
          <p:cNvCxnSpPr>
            <a:stCxn id="30" idx="3"/>
            <a:endCxn id="31" idx="1"/>
          </p:cNvCxnSpPr>
          <p:nvPr/>
        </p:nvCxnSpPr>
        <p:spPr>
          <a:xfrm flipH="1">
            <a:off x="2319338" y="2428876"/>
            <a:ext cx="9525" cy="542925"/>
          </a:xfrm>
          <a:prstGeom prst="straightConnector1">
            <a:avLst/>
          </a:prstGeom>
          <a:ln w="22860">
            <a:solidFill>
              <a:srgbClr val="8D744E"/>
            </a:solidFill>
            <a:prstDash val="solid"/>
            <a:tailEnd type="triangle" w="sm" len="sm"/>
          </a:ln>
        </p:spPr>
      </p:cxnSp>
      <p:sp>
        <p:nvSpPr>
          <p:cNvPr id="33" name="本人模拟付款失败">
            <a:extLst>
              <a:ext uri="{FF2B5EF4-FFF2-40B4-BE49-F238E27FC236}">
                <a16:creationId xmlns:a16="http://schemas.microsoft.com/office/drawing/2014/main" id="{29CECD4A-848E-444D-9E0C-83C46221B817}"/>
              </a:ext>
            </a:extLst>
          </p:cNvPr>
          <p:cNvSpPr>
            <a:spLocks noGrp="1"/>
          </p:cNvSpPr>
          <p:nvPr/>
        </p:nvSpPr>
        <p:spPr>
          <a:xfrm>
            <a:off x="647700" y="1695450"/>
            <a:ext cx="22479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725">
                <a:solidFill>
                  <a:srgbClr val="8D744E"/>
                </a:solidFill>
                <a:latin typeface="Yozai Medium"/>
                <a:ea typeface="Yozai Medium"/>
                <a:cs typeface="Yozai Medium"/>
              </a:defRPr>
            </a:pPr>
            <a:r>
              <a:rPr sz="1725">
                <a:solidFill>
                  <a:srgbClr val="8D744E"/>
                </a:solidFill>
                <a:latin typeface="Yozai Medium"/>
                <a:ea typeface="Yozai Medium"/>
                <a:cs typeface="Yozai Medium"/>
              </a:rPr>
              <a:t>本人模拟付款失败</a:t>
            </a:r>
          </a:p>
        </p:txBody>
      </p:sp>
      <p:sp>
        <p:nvSpPr>
          <p:cNvPr id="34" name="保持待付款，不扣库存">
            <a:extLst>
              <a:ext uri="{FF2B5EF4-FFF2-40B4-BE49-F238E27FC236}">
                <a16:creationId xmlns:a16="http://schemas.microsoft.com/office/drawing/2014/main" id="{4A51AEBC-E78C-4CC1-A8EB-AEB085AACE2D}"/>
              </a:ext>
            </a:extLst>
          </p:cNvPr>
          <p:cNvSpPr>
            <a:spLocks noGrp="1"/>
          </p:cNvSpPr>
          <p:nvPr/>
        </p:nvSpPr>
        <p:spPr>
          <a:xfrm>
            <a:off x="609600" y="2047875"/>
            <a:ext cx="23241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650">
                <a:solidFill>
                  <a:srgbClr val="626970"/>
                </a:solidFill>
                <a:latin typeface="Yozai"/>
                <a:ea typeface="Yozai"/>
                <a:cs typeface="Yozai"/>
              </a:defRPr>
            </a:pPr>
            <a:r>
              <a:rPr sz="1650">
                <a:solidFill>
                  <a:srgbClr val="626970"/>
                </a:solidFill>
                <a:latin typeface="Yozai"/>
                <a:ea typeface="Yozai"/>
                <a:cs typeface="Yozai"/>
              </a:rPr>
              <a:t>保持待付款，不扣库存</a:t>
            </a:r>
          </a:p>
        </p:txBody>
      </p:sp>
      <p:sp>
        <p:nvSpPr>
          <p:cNvPr id="35" name="本人付款成功">
            <a:extLst>
              <a:ext uri="{FF2B5EF4-FFF2-40B4-BE49-F238E27FC236}">
                <a16:creationId xmlns:a16="http://schemas.microsoft.com/office/drawing/2014/main" id="{251EEDB7-72F6-49DC-B8CD-D8C65BE5E61B}"/>
              </a:ext>
            </a:extLst>
          </p:cNvPr>
          <p:cNvSpPr>
            <a:spLocks noGrp="1"/>
          </p:cNvSpPr>
          <p:nvPr/>
        </p:nvSpPr>
        <p:spPr>
          <a:xfrm>
            <a:off x="2400300" y="2390775"/>
            <a:ext cx="15621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725">
                <a:solidFill>
                  <a:srgbClr val="355F52"/>
                </a:solidFill>
                <a:latin typeface="Yozai Medium"/>
                <a:ea typeface="Yozai Medium"/>
                <a:cs typeface="Yozai Medium"/>
              </a:defRPr>
            </a:pPr>
            <a:r>
              <a:rPr sz="1725">
                <a:solidFill>
                  <a:srgbClr val="355F52"/>
                </a:solidFill>
                <a:latin typeface="Yozai Medium"/>
                <a:ea typeface="Yozai Medium"/>
                <a:cs typeface="Yozai Medium"/>
              </a:rPr>
              <a:t>本人付款成功</a:t>
            </a:r>
          </a:p>
        </p:txBody>
      </p:sp>
      <p:sp>
        <p:nvSpPr>
          <p:cNvPr id="36" name="全单扣减库存">
            <a:extLst>
              <a:ext uri="{FF2B5EF4-FFF2-40B4-BE49-F238E27FC236}">
                <a16:creationId xmlns:a16="http://schemas.microsoft.com/office/drawing/2014/main" id="{01CED11B-17D4-4A7D-B854-76AD994C2241}"/>
              </a:ext>
            </a:extLst>
          </p:cNvPr>
          <p:cNvSpPr>
            <a:spLocks noGrp="1"/>
          </p:cNvSpPr>
          <p:nvPr/>
        </p:nvSpPr>
        <p:spPr>
          <a:xfrm>
            <a:off x="2400300" y="2686050"/>
            <a:ext cx="156210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650">
                <a:solidFill>
                  <a:srgbClr val="626970"/>
                </a:solidFill>
                <a:latin typeface="Yozai"/>
                <a:ea typeface="Yozai"/>
                <a:cs typeface="Yozai"/>
              </a:defRPr>
            </a:pPr>
            <a:r>
              <a:rPr sz="1650">
                <a:solidFill>
                  <a:srgbClr val="626970"/>
                </a:solidFill>
                <a:latin typeface="Yozai"/>
                <a:ea typeface="Yozai"/>
                <a:cs typeface="Yozai"/>
              </a:rPr>
              <a:t>全单扣减库存</a:t>
            </a:r>
          </a:p>
        </p:txBody>
      </p:sp>
      <p:sp>
        <p:nvSpPr>
          <p:cNvPr id="37" name="管理员模拟发货">
            <a:extLst>
              <a:ext uri="{FF2B5EF4-FFF2-40B4-BE49-F238E27FC236}">
                <a16:creationId xmlns:a16="http://schemas.microsoft.com/office/drawing/2014/main" id="{EDFEE47C-532F-48FC-9A44-FB95CA9D61D3}"/>
              </a:ext>
            </a:extLst>
          </p:cNvPr>
          <p:cNvSpPr>
            <a:spLocks noGrp="1"/>
          </p:cNvSpPr>
          <p:nvPr/>
        </p:nvSpPr>
        <p:spPr>
          <a:xfrm>
            <a:off x="5257800" y="2390775"/>
            <a:ext cx="16573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725">
                <a:solidFill>
                  <a:srgbClr val="355F52"/>
                </a:solidFill>
                <a:latin typeface="Yozai Medium"/>
                <a:ea typeface="Yozai Medium"/>
                <a:cs typeface="Yozai Medium"/>
              </a:defRPr>
            </a:pPr>
            <a:r>
              <a:rPr sz="1725">
                <a:solidFill>
                  <a:srgbClr val="355F52"/>
                </a:solidFill>
                <a:latin typeface="Yozai Medium"/>
                <a:ea typeface="Yozai Medium"/>
                <a:cs typeface="Yozai Medium"/>
              </a:rPr>
              <a:t>管理员模拟发货</a:t>
            </a:r>
          </a:p>
        </p:txBody>
      </p:sp>
      <p:sp>
        <p:nvSpPr>
          <p:cNvPr id="38" name="登记物流与运单">
            <a:extLst>
              <a:ext uri="{FF2B5EF4-FFF2-40B4-BE49-F238E27FC236}">
                <a16:creationId xmlns:a16="http://schemas.microsoft.com/office/drawing/2014/main" id="{A9B56387-8E7B-4E33-A8FA-24319CA66EB9}"/>
              </a:ext>
            </a:extLst>
          </p:cNvPr>
          <p:cNvSpPr>
            <a:spLocks noGrp="1"/>
          </p:cNvSpPr>
          <p:nvPr/>
        </p:nvSpPr>
        <p:spPr>
          <a:xfrm>
            <a:off x="5257800" y="2686050"/>
            <a:ext cx="16573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650">
                <a:solidFill>
                  <a:srgbClr val="626970"/>
                </a:solidFill>
                <a:latin typeface="Yozai"/>
                <a:ea typeface="Yozai"/>
                <a:cs typeface="Yozai"/>
              </a:defRPr>
            </a:pPr>
            <a:r>
              <a:rPr sz="1650">
                <a:solidFill>
                  <a:srgbClr val="626970"/>
                </a:solidFill>
                <a:latin typeface="Yozai"/>
                <a:ea typeface="Yozai"/>
                <a:cs typeface="Yozai"/>
              </a:rPr>
              <a:t>登记物流与运单</a:t>
            </a:r>
          </a:p>
        </p:txBody>
      </p:sp>
      <p:sp>
        <p:nvSpPr>
          <p:cNvPr id="39" name="本人确认收货">
            <a:extLst>
              <a:ext uri="{FF2B5EF4-FFF2-40B4-BE49-F238E27FC236}">
                <a16:creationId xmlns:a16="http://schemas.microsoft.com/office/drawing/2014/main" id="{7C084551-5B3B-4C1D-8DC1-63476B774A4E}"/>
              </a:ext>
            </a:extLst>
          </p:cNvPr>
          <p:cNvSpPr>
            <a:spLocks noGrp="1"/>
          </p:cNvSpPr>
          <p:nvPr/>
        </p:nvSpPr>
        <p:spPr>
          <a:xfrm>
            <a:off x="8191500" y="2524125"/>
            <a:ext cx="161925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725">
                <a:solidFill>
                  <a:srgbClr val="355F52"/>
                </a:solidFill>
                <a:latin typeface="Yozai Medium"/>
                <a:ea typeface="Yozai Medium"/>
                <a:cs typeface="Yozai Medium"/>
              </a:defRPr>
            </a:pPr>
            <a:r>
              <a:rPr sz="1725">
                <a:solidFill>
                  <a:srgbClr val="355F52"/>
                </a:solidFill>
                <a:latin typeface="Yozai Medium"/>
                <a:ea typeface="Yozai Medium"/>
                <a:cs typeface="Yozai Medium"/>
              </a:rPr>
              <a:t>本人确认收货</a:t>
            </a:r>
          </a:p>
        </p:txBody>
      </p:sp>
      <p:sp>
        <p:nvSpPr>
          <p:cNvPr id="40" name="diagram-anchor-7">
            <a:extLst>
              <a:ext uri="{FF2B5EF4-FFF2-40B4-BE49-F238E27FC236}">
                <a16:creationId xmlns:a16="http://schemas.microsoft.com/office/drawing/2014/main" id="{4C792B1D-BB23-4A93-9DFA-DC48AE96B030}"/>
              </a:ext>
            </a:extLst>
          </p:cNvPr>
          <p:cNvSpPr>
            <a:spLocks noGrp="1"/>
          </p:cNvSpPr>
          <p:nvPr/>
        </p:nvSpPr>
        <p:spPr>
          <a:xfrm>
            <a:off x="681038" y="338613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diagram-anchor-8">
            <a:extLst>
              <a:ext uri="{FF2B5EF4-FFF2-40B4-BE49-F238E27FC236}">
                <a16:creationId xmlns:a16="http://schemas.microsoft.com/office/drawing/2014/main" id="{2ABB3042-0F7C-430E-AB50-009A0C7524D7}"/>
              </a:ext>
            </a:extLst>
          </p:cNvPr>
          <p:cNvSpPr>
            <a:spLocks noGrp="1"/>
          </p:cNvSpPr>
          <p:nvPr/>
        </p:nvSpPr>
        <p:spPr>
          <a:xfrm>
            <a:off x="566738" y="338613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162" name="直线箭头连接符 104"/>
          <p:cNvCxnSpPr>
            <a:stCxn id="40" idx="3"/>
            <a:endCxn id="41" idx="1"/>
          </p:cNvCxnSpPr>
          <p:nvPr/>
        </p:nvCxnSpPr>
        <p:spPr>
          <a:xfrm flipH="1">
            <a:off x="566738" y="3390901"/>
            <a:ext cx="123825" cy="0"/>
          </a:xfrm>
          <a:prstGeom prst="straightConnector1">
            <a:avLst/>
          </a:prstGeom>
          <a:ln w="22860">
            <a:solidFill>
              <a:srgbClr val="8D744E"/>
            </a:solidFill>
            <a:prstDash val="solid"/>
          </a:ln>
        </p:spPr>
      </p:cxnSp>
      <p:sp>
        <p:nvSpPr>
          <p:cNvPr id="43" name="diagram-anchor-9">
            <a:extLst>
              <a:ext uri="{FF2B5EF4-FFF2-40B4-BE49-F238E27FC236}">
                <a16:creationId xmlns:a16="http://schemas.microsoft.com/office/drawing/2014/main" id="{099524E7-1832-4BD8-815E-1AB863B43322}"/>
              </a:ext>
            </a:extLst>
          </p:cNvPr>
          <p:cNvSpPr>
            <a:spLocks noGrp="1"/>
          </p:cNvSpPr>
          <p:nvPr/>
        </p:nvSpPr>
        <p:spPr>
          <a:xfrm>
            <a:off x="566738" y="338613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4" name="diagram-anchor-10">
            <a:extLst>
              <a:ext uri="{FF2B5EF4-FFF2-40B4-BE49-F238E27FC236}">
                <a16:creationId xmlns:a16="http://schemas.microsoft.com/office/drawing/2014/main" id="{A368504A-15E9-4B2A-9588-9A920F3FDF0C}"/>
              </a:ext>
            </a:extLst>
          </p:cNvPr>
          <p:cNvSpPr>
            <a:spLocks noGrp="1"/>
          </p:cNvSpPr>
          <p:nvPr/>
        </p:nvSpPr>
        <p:spPr>
          <a:xfrm>
            <a:off x="566738" y="527208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165" name="直线箭头连接符 107"/>
          <p:cNvCxnSpPr>
            <a:stCxn id="43" idx="3"/>
            <a:endCxn id="44" idx="1"/>
          </p:cNvCxnSpPr>
          <p:nvPr/>
        </p:nvCxnSpPr>
        <p:spPr>
          <a:xfrm flipH="1">
            <a:off x="566738" y="3390901"/>
            <a:ext cx="9525" cy="1885950"/>
          </a:xfrm>
          <a:prstGeom prst="straightConnector1">
            <a:avLst/>
          </a:prstGeom>
          <a:ln w="22860">
            <a:solidFill>
              <a:srgbClr val="8D744E"/>
            </a:solidFill>
            <a:prstDash val="solid"/>
          </a:ln>
        </p:spPr>
      </p:cxnSp>
      <p:sp>
        <p:nvSpPr>
          <p:cNvPr id="46" name="diagram-anchor-11">
            <a:extLst>
              <a:ext uri="{FF2B5EF4-FFF2-40B4-BE49-F238E27FC236}">
                <a16:creationId xmlns:a16="http://schemas.microsoft.com/office/drawing/2014/main" id="{67AEA47F-6F5E-4DC9-A329-D9072BB7D10F}"/>
              </a:ext>
            </a:extLst>
          </p:cNvPr>
          <p:cNvSpPr>
            <a:spLocks noGrp="1"/>
          </p:cNvSpPr>
          <p:nvPr/>
        </p:nvSpPr>
        <p:spPr>
          <a:xfrm>
            <a:off x="566738" y="527208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7" name="diagram-anchor-12">
            <a:extLst>
              <a:ext uri="{FF2B5EF4-FFF2-40B4-BE49-F238E27FC236}">
                <a16:creationId xmlns:a16="http://schemas.microsoft.com/office/drawing/2014/main" id="{68FFA4FD-0D8F-4E16-8C3C-3ABC00E51C0E}"/>
              </a:ext>
            </a:extLst>
          </p:cNvPr>
          <p:cNvSpPr>
            <a:spLocks noGrp="1"/>
          </p:cNvSpPr>
          <p:nvPr/>
        </p:nvSpPr>
        <p:spPr>
          <a:xfrm>
            <a:off x="1900238" y="527208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168" name="直线箭头连接符 110"/>
          <p:cNvCxnSpPr>
            <a:stCxn id="46" idx="3"/>
            <a:endCxn id="47" idx="1"/>
          </p:cNvCxnSpPr>
          <p:nvPr/>
        </p:nvCxnSpPr>
        <p:spPr>
          <a:xfrm>
            <a:off x="576263" y="5276851"/>
            <a:ext cx="1323975" cy="0"/>
          </a:xfrm>
          <a:prstGeom prst="straightConnector1">
            <a:avLst/>
          </a:prstGeom>
          <a:ln w="22860">
            <a:solidFill>
              <a:srgbClr val="8D744E"/>
            </a:solidFill>
            <a:prstDash val="solid"/>
            <a:tailEnd type="triangle" w="sm" len="sm"/>
          </a:ln>
        </p:spPr>
      </p:cxnSp>
      <p:sp>
        <p:nvSpPr>
          <p:cNvPr id="49" name="diagram-anchor-13">
            <a:extLst>
              <a:ext uri="{FF2B5EF4-FFF2-40B4-BE49-F238E27FC236}">
                <a16:creationId xmlns:a16="http://schemas.microsoft.com/office/drawing/2014/main" id="{A6CFCDCA-9FAB-4849-A986-9322899496BE}"/>
              </a:ext>
            </a:extLst>
          </p:cNvPr>
          <p:cNvSpPr>
            <a:spLocks noGrp="1"/>
          </p:cNvSpPr>
          <p:nvPr/>
        </p:nvSpPr>
        <p:spPr>
          <a:xfrm>
            <a:off x="4633913" y="380523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0" name="diagram-anchor-14">
            <a:extLst>
              <a:ext uri="{FF2B5EF4-FFF2-40B4-BE49-F238E27FC236}">
                <a16:creationId xmlns:a16="http://schemas.microsoft.com/office/drawing/2014/main" id="{E835E081-5C83-4614-8549-442E78A77362}"/>
              </a:ext>
            </a:extLst>
          </p:cNvPr>
          <p:cNvSpPr>
            <a:spLocks noGrp="1"/>
          </p:cNvSpPr>
          <p:nvPr/>
        </p:nvSpPr>
        <p:spPr>
          <a:xfrm>
            <a:off x="4633913" y="442436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171" name="直线箭头连接符 113"/>
          <p:cNvCxnSpPr>
            <a:stCxn id="49" idx="3"/>
            <a:endCxn id="50" idx="1"/>
          </p:cNvCxnSpPr>
          <p:nvPr/>
        </p:nvCxnSpPr>
        <p:spPr>
          <a:xfrm flipH="1">
            <a:off x="4633913" y="3810001"/>
            <a:ext cx="9525" cy="619125"/>
          </a:xfrm>
          <a:prstGeom prst="straightConnector1">
            <a:avLst/>
          </a:prstGeom>
          <a:ln w="22860">
            <a:solidFill>
              <a:srgbClr val="8D744E"/>
            </a:solidFill>
            <a:prstDash val="solid"/>
          </a:ln>
        </p:spPr>
      </p:cxnSp>
      <p:sp>
        <p:nvSpPr>
          <p:cNvPr id="52" name="diagram-anchor-15">
            <a:extLst>
              <a:ext uri="{FF2B5EF4-FFF2-40B4-BE49-F238E27FC236}">
                <a16:creationId xmlns:a16="http://schemas.microsoft.com/office/drawing/2014/main" id="{2C555597-A30F-458C-8ABE-210D0AE097D6}"/>
              </a:ext>
            </a:extLst>
          </p:cNvPr>
          <p:cNvSpPr>
            <a:spLocks noGrp="1"/>
          </p:cNvSpPr>
          <p:nvPr/>
        </p:nvSpPr>
        <p:spPr>
          <a:xfrm>
            <a:off x="4633913" y="442436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3" name="diagram-anchor-16">
            <a:extLst>
              <a:ext uri="{FF2B5EF4-FFF2-40B4-BE49-F238E27FC236}">
                <a16:creationId xmlns:a16="http://schemas.microsoft.com/office/drawing/2014/main" id="{D8B7C339-F2CC-46F9-BC6D-4E58FBE60F3E}"/>
              </a:ext>
            </a:extLst>
          </p:cNvPr>
          <p:cNvSpPr>
            <a:spLocks noGrp="1"/>
          </p:cNvSpPr>
          <p:nvPr/>
        </p:nvSpPr>
        <p:spPr>
          <a:xfrm>
            <a:off x="2947988" y="442436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174" name="直线箭头连接符 116"/>
          <p:cNvCxnSpPr>
            <a:stCxn id="52" idx="3"/>
            <a:endCxn id="53" idx="1"/>
          </p:cNvCxnSpPr>
          <p:nvPr/>
        </p:nvCxnSpPr>
        <p:spPr>
          <a:xfrm flipH="1">
            <a:off x="2947988" y="4429126"/>
            <a:ext cx="1695450" cy="0"/>
          </a:xfrm>
          <a:prstGeom prst="straightConnector1">
            <a:avLst/>
          </a:prstGeom>
          <a:ln w="22860">
            <a:solidFill>
              <a:srgbClr val="8D744E"/>
            </a:solidFill>
            <a:prstDash val="solid"/>
          </a:ln>
        </p:spPr>
      </p:cxnSp>
      <p:sp>
        <p:nvSpPr>
          <p:cNvPr id="55" name="diagram-anchor-17">
            <a:extLst>
              <a:ext uri="{FF2B5EF4-FFF2-40B4-BE49-F238E27FC236}">
                <a16:creationId xmlns:a16="http://schemas.microsoft.com/office/drawing/2014/main" id="{82A71365-E47D-4840-B4CD-F2087B3E5F41}"/>
              </a:ext>
            </a:extLst>
          </p:cNvPr>
          <p:cNvSpPr>
            <a:spLocks noGrp="1"/>
          </p:cNvSpPr>
          <p:nvPr/>
        </p:nvSpPr>
        <p:spPr>
          <a:xfrm>
            <a:off x="2947988" y="442436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6" name="diagram-anchor-18">
            <a:extLst>
              <a:ext uri="{FF2B5EF4-FFF2-40B4-BE49-F238E27FC236}">
                <a16:creationId xmlns:a16="http://schemas.microsoft.com/office/drawing/2014/main" id="{01B85230-887C-4823-A027-9AC49E8FA015}"/>
              </a:ext>
            </a:extLst>
          </p:cNvPr>
          <p:cNvSpPr>
            <a:spLocks noGrp="1"/>
          </p:cNvSpPr>
          <p:nvPr/>
        </p:nvSpPr>
        <p:spPr>
          <a:xfrm>
            <a:off x="2947988" y="485298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177" name="直线箭头连接符 119"/>
          <p:cNvCxnSpPr>
            <a:stCxn id="55" idx="3"/>
            <a:endCxn id="56" idx="1"/>
          </p:cNvCxnSpPr>
          <p:nvPr/>
        </p:nvCxnSpPr>
        <p:spPr>
          <a:xfrm flipH="1">
            <a:off x="2947988" y="4429126"/>
            <a:ext cx="9525" cy="428625"/>
          </a:xfrm>
          <a:prstGeom prst="straightConnector1">
            <a:avLst/>
          </a:prstGeom>
          <a:ln w="22860">
            <a:solidFill>
              <a:srgbClr val="8D744E"/>
            </a:solidFill>
            <a:prstDash val="solid"/>
            <a:tailEnd type="triangle" w="sm" len="sm"/>
          </a:ln>
        </p:spPr>
      </p:cxnSp>
      <p:sp>
        <p:nvSpPr>
          <p:cNvPr id="58" name="未付款取消">
            <a:extLst>
              <a:ext uri="{FF2B5EF4-FFF2-40B4-BE49-F238E27FC236}">
                <a16:creationId xmlns:a16="http://schemas.microsoft.com/office/drawing/2014/main" id="{0C23D80D-C5E4-4253-BCFA-2A8802EEAD09}"/>
              </a:ext>
            </a:extLst>
          </p:cNvPr>
          <p:cNvSpPr>
            <a:spLocks noGrp="1"/>
          </p:cNvSpPr>
          <p:nvPr/>
        </p:nvSpPr>
        <p:spPr>
          <a:xfrm>
            <a:off x="733425" y="4210050"/>
            <a:ext cx="17145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725">
                <a:solidFill>
                  <a:srgbClr val="8D744E"/>
                </a:solidFill>
                <a:latin typeface="Yozai Medium"/>
                <a:ea typeface="Yozai Medium"/>
                <a:cs typeface="Yozai Medium"/>
              </a:defRPr>
            </a:pPr>
            <a:r>
              <a:rPr sz="1725">
                <a:solidFill>
                  <a:srgbClr val="8D744E"/>
                </a:solidFill>
                <a:latin typeface="Yozai Medium"/>
                <a:ea typeface="Yozai Medium"/>
                <a:cs typeface="Yozai Medium"/>
              </a:rPr>
              <a:t>未付款取消</a:t>
            </a:r>
          </a:p>
        </p:txBody>
      </p:sp>
      <p:sp>
        <p:nvSpPr>
          <p:cNvPr id="59" name="库存不变">
            <a:extLst>
              <a:ext uri="{FF2B5EF4-FFF2-40B4-BE49-F238E27FC236}">
                <a16:creationId xmlns:a16="http://schemas.microsoft.com/office/drawing/2014/main" id="{39098632-F960-4365-85B8-438FE1BAB633}"/>
              </a:ext>
            </a:extLst>
          </p:cNvPr>
          <p:cNvSpPr>
            <a:spLocks noGrp="1"/>
          </p:cNvSpPr>
          <p:nvPr/>
        </p:nvSpPr>
        <p:spPr>
          <a:xfrm>
            <a:off x="733425" y="4524375"/>
            <a:ext cx="14287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650">
                <a:solidFill>
                  <a:srgbClr val="626970"/>
                </a:solidFill>
                <a:latin typeface="Yozai"/>
                <a:ea typeface="Yozai"/>
                <a:cs typeface="Yozai"/>
              </a:defRPr>
            </a:pPr>
            <a:r>
              <a:rPr sz="1650">
                <a:solidFill>
                  <a:srgbClr val="626970"/>
                </a:solidFill>
                <a:latin typeface="Yozai"/>
                <a:ea typeface="Yozai"/>
                <a:cs typeface="Yozai"/>
              </a:rPr>
              <a:t>库存不变</a:t>
            </a:r>
          </a:p>
        </p:txBody>
      </p:sp>
      <p:sp>
        <p:nvSpPr>
          <p:cNvPr id="60" name="已付款取消">
            <a:extLst>
              <a:ext uri="{FF2B5EF4-FFF2-40B4-BE49-F238E27FC236}">
                <a16:creationId xmlns:a16="http://schemas.microsoft.com/office/drawing/2014/main" id="{FB92C633-C9CB-4543-968A-A2CDAC9F6A3E}"/>
              </a:ext>
            </a:extLst>
          </p:cNvPr>
          <p:cNvSpPr>
            <a:spLocks noGrp="1"/>
          </p:cNvSpPr>
          <p:nvPr/>
        </p:nvSpPr>
        <p:spPr>
          <a:xfrm>
            <a:off x="4953000" y="4152900"/>
            <a:ext cx="17621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725">
                <a:solidFill>
                  <a:srgbClr val="8D744E"/>
                </a:solidFill>
                <a:latin typeface="Yozai Medium"/>
                <a:ea typeface="Yozai Medium"/>
                <a:cs typeface="Yozai Medium"/>
              </a:defRPr>
            </a:pPr>
            <a:r>
              <a:rPr sz="1725">
                <a:solidFill>
                  <a:srgbClr val="8D744E"/>
                </a:solidFill>
                <a:latin typeface="Yozai Medium"/>
                <a:ea typeface="Yozai Medium"/>
                <a:cs typeface="Yozai Medium"/>
              </a:rPr>
              <a:t>已付款取消</a:t>
            </a:r>
          </a:p>
        </p:txBody>
      </p:sp>
      <p:sp>
        <p:nvSpPr>
          <p:cNvPr id="61" name="返还库存，记录整单模拟退款">
            <a:extLst>
              <a:ext uri="{FF2B5EF4-FFF2-40B4-BE49-F238E27FC236}">
                <a16:creationId xmlns:a16="http://schemas.microsoft.com/office/drawing/2014/main" id="{7A7AE58B-D584-45E3-8D61-81090E23B8FF}"/>
              </a:ext>
            </a:extLst>
          </p:cNvPr>
          <p:cNvSpPr>
            <a:spLocks noGrp="1"/>
          </p:cNvSpPr>
          <p:nvPr/>
        </p:nvSpPr>
        <p:spPr>
          <a:xfrm>
            <a:off x="4953000" y="4486275"/>
            <a:ext cx="360045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725">
                <a:solidFill>
                  <a:srgbClr val="626970"/>
                </a:solidFill>
                <a:latin typeface="Yozai"/>
                <a:ea typeface="Yozai"/>
                <a:cs typeface="Yozai"/>
              </a:defRPr>
            </a:pPr>
            <a:r>
              <a:rPr sz="1725">
                <a:solidFill>
                  <a:srgbClr val="626970"/>
                </a:solidFill>
                <a:latin typeface="Yozai"/>
                <a:ea typeface="Yozai"/>
                <a:cs typeface="Yozai"/>
              </a:rPr>
              <a:t>返还库存，记录整单模拟退款</a:t>
            </a:r>
          </a:p>
        </p:txBody>
      </p:sp>
      <p:sp>
        <p:nvSpPr>
          <p:cNvPr id="62" name="本人或管理员可取消尚未发货的订单">
            <a:extLst>
              <a:ext uri="{FF2B5EF4-FFF2-40B4-BE49-F238E27FC236}">
                <a16:creationId xmlns:a16="http://schemas.microsoft.com/office/drawing/2014/main" id="{CA153C96-4229-45BF-8DD1-0D626FCAA185}"/>
              </a:ext>
            </a:extLst>
          </p:cNvPr>
          <p:cNvSpPr>
            <a:spLocks noGrp="1"/>
          </p:cNvSpPr>
          <p:nvPr/>
        </p:nvSpPr>
        <p:spPr>
          <a:xfrm>
            <a:off x="4953000" y="5048250"/>
            <a:ext cx="52863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800">
                <a:solidFill>
                  <a:srgbClr val="355F52"/>
                </a:solidFill>
                <a:latin typeface="Yozai"/>
                <a:ea typeface="Yozai"/>
                <a:cs typeface="Yozai"/>
              </a:defRPr>
            </a:pPr>
            <a:r>
              <a:rPr sz="1800">
                <a:solidFill>
                  <a:srgbClr val="355F52"/>
                </a:solidFill>
                <a:latin typeface="Yozai"/>
                <a:ea typeface="Yozai"/>
                <a:cs typeface="Yozai"/>
              </a:rPr>
              <a:t>本人或管理员可取消尚未发货的订单</a:t>
            </a:r>
          </a:p>
        </p:txBody>
      </p:sp>
      <p:sp>
        <p:nvSpPr>
          <p:cNvPr id="63" name="订单保存当时的商品与地址快照，付款时检查当前可售状态和库存">
            <a:extLst>
              <a:ext uri="{FF2B5EF4-FFF2-40B4-BE49-F238E27FC236}">
                <a16:creationId xmlns:a16="http://schemas.microsoft.com/office/drawing/2014/main" id="{1D88634A-B203-4EC3-AC3B-BE8F5E6F836F}"/>
              </a:ext>
            </a:extLst>
          </p:cNvPr>
          <p:cNvSpPr>
            <a:spLocks noGrp="1"/>
          </p:cNvSpPr>
          <p:nvPr/>
        </p:nvSpPr>
        <p:spPr>
          <a:xfrm>
            <a:off x="685800" y="5762625"/>
            <a:ext cx="107061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725">
                <a:solidFill>
                  <a:srgbClr val="355F52"/>
                </a:solidFill>
                <a:latin typeface="Yozai"/>
                <a:ea typeface="Yozai"/>
                <a:cs typeface="Yozai"/>
              </a:defRPr>
            </a:pPr>
            <a:r>
              <a:rPr sz="1725">
                <a:solidFill>
                  <a:srgbClr val="355F52"/>
                </a:solidFill>
                <a:latin typeface="Yozai"/>
                <a:ea typeface="Yozai"/>
                <a:cs typeface="Yozai"/>
              </a:rPr>
              <a:t>订单保存当时的商品与地址快照，付款时检查当前可售状态和库存</a:t>
            </a:r>
          </a:p>
        </p:txBody>
      </p:sp>
    </p:spTree>
    <p:extLst>
      <p:ext uri="{BB962C8B-B14F-4D97-AF65-F5344CB8AC3E}">
        <p14:creationId xmlns:p14="http://schemas.microsoft.com/office/powerpoint/2010/main" val="17020165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07 / DEALERSHIP">
            <a:extLst>
              <a:ext uri="{FF2B5EF4-FFF2-40B4-BE49-F238E27FC236}">
                <a16:creationId xmlns:a16="http://schemas.microsoft.com/office/drawing/2014/main" id="{C11D7342-72DF-4F5B-AC2D-2A46A09354EE}"/>
              </a:ext>
            </a:extLst>
          </p:cNvPr>
          <p:cNvSpPr>
            <a:spLocks noGrp="1"/>
          </p:cNvSpPr>
          <p:nvPr/>
        </p:nvSpPr>
        <p:spPr>
          <a:xfrm>
            <a:off x="571500" y="29527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350">
                <a:solidFill>
                  <a:srgbClr val="355F52"/>
                </a:solidFill>
                <a:latin typeface="Barlow Condensed SemiBold"/>
                <a:ea typeface="Barlow Condensed SemiBold"/>
                <a:cs typeface="Barlow Condensed SemiBold"/>
              </a:defRPr>
            </a:pPr>
            <a:r>
              <a:rPr sz="1350">
                <a:solidFill>
                  <a:srgbClr val="355F52"/>
                </a:solidFill>
                <a:latin typeface="Barlow Condensed SemiBold"/>
                <a:ea typeface="Barlow Condensed SemiBold"/>
                <a:cs typeface="Barlow Condensed SemiBold"/>
              </a:rPr>
              <a:t>07 / DEALERSHIP</a:t>
            </a:r>
          </a:p>
        </p:txBody>
      </p:sp>
      <p:sp>
        <p:nvSpPr>
          <p:cNvPr id="2" name="经销采购通过独立询价推进">
            <a:extLst>
              <a:ext uri="{FF2B5EF4-FFF2-40B4-BE49-F238E27FC236}">
                <a16:creationId xmlns:a16="http://schemas.microsoft.com/office/drawing/2014/main" id="{2A200F96-60CD-4B2B-879D-DFBF0FD94903}"/>
              </a:ext>
            </a:extLst>
          </p:cNvPr>
          <p:cNvSpPr>
            <a:spLocks noGrp="1"/>
          </p:cNvSpPr>
          <p:nvPr/>
        </p:nvSpPr>
        <p:spPr>
          <a:xfrm>
            <a:off x="571500" y="647700"/>
            <a:ext cx="11049000" cy="504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850">
                <a:solidFill>
                  <a:srgbClr val="292E32"/>
                </a:solidFill>
                <a:latin typeface="Yozai Medium"/>
                <a:ea typeface="Yozai Medium"/>
                <a:cs typeface="Yozai Medium"/>
              </a:defRPr>
            </a:pPr>
            <a:r>
              <a:rPr sz="2850">
                <a:solidFill>
                  <a:srgbClr val="292E32"/>
                </a:solidFill>
                <a:latin typeface="Yozai Medium"/>
                <a:ea typeface="Yozai Medium"/>
                <a:cs typeface="Yozai Medium"/>
              </a:rPr>
              <a:t>经销采购通过独立询价推进</a:t>
            </a:r>
          </a:p>
        </p:txBody>
      </p:sp>
      <p:sp>
        <p:nvSpPr>
          <p:cNvPr id="3" name="有效合作资格开放专属目录；询价保留参考价与处理历史">
            <a:extLst>
              <a:ext uri="{FF2B5EF4-FFF2-40B4-BE49-F238E27FC236}">
                <a16:creationId xmlns:a16="http://schemas.microsoft.com/office/drawing/2014/main" id="{40A010D9-4442-43A5-8877-B7467726789C}"/>
              </a:ext>
            </a:extLst>
          </p:cNvPr>
          <p:cNvSpPr>
            <a:spLocks noGrp="1"/>
          </p:cNvSpPr>
          <p:nvPr/>
        </p:nvSpPr>
        <p:spPr>
          <a:xfrm>
            <a:off x="590550" y="1190625"/>
            <a:ext cx="110299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725">
                <a:solidFill>
                  <a:srgbClr val="626970"/>
                </a:solidFill>
                <a:latin typeface="Yozai"/>
                <a:ea typeface="Yozai"/>
                <a:cs typeface="Yozai"/>
              </a:defRPr>
            </a:pPr>
            <a:r>
              <a:rPr sz="1725">
                <a:solidFill>
                  <a:srgbClr val="626970"/>
                </a:solidFill>
                <a:latin typeface="Yozai"/>
                <a:ea typeface="Yozai"/>
                <a:cs typeface="Yozai"/>
              </a:rPr>
              <a:t>有效合作资格开放专属目录；询价保留参考价与处理历史</a:t>
            </a:r>
          </a:p>
        </p:txBody>
      </p:sp>
      <p:sp>
        <p:nvSpPr>
          <p:cNvPr id="4" name="WEMOVE">
            <a:extLst>
              <a:ext uri="{FF2B5EF4-FFF2-40B4-BE49-F238E27FC236}">
                <a16:creationId xmlns:a16="http://schemas.microsoft.com/office/drawing/2014/main" id="{BA80BCF3-7EF2-4028-BB2C-48084694E184}"/>
              </a:ext>
            </a:extLst>
          </p:cNvPr>
          <p:cNvSpPr>
            <a:spLocks noGrp="1"/>
          </p:cNvSpPr>
          <p:nvPr/>
        </p:nvSpPr>
        <p:spPr>
          <a:xfrm>
            <a:off x="571500" y="6467475"/>
            <a:ext cx="19050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350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defRPr>
            </a:pPr>
            <a:r>
              <a:rPr sz="1350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rPr>
              <a:t>WEMOVE</a:t>
            </a:r>
          </a:p>
        </p:txBody>
      </p:sp>
      <p:sp>
        <p:nvSpPr>
          <p:cNvPr id="5" name="08">
            <a:extLst>
              <a:ext uri="{FF2B5EF4-FFF2-40B4-BE49-F238E27FC236}">
                <a16:creationId xmlns:a16="http://schemas.microsoft.com/office/drawing/2014/main" id="{28C28999-3A4D-48E7-8F37-A312A825490A}"/>
              </a:ext>
            </a:extLst>
          </p:cNvPr>
          <p:cNvSpPr>
            <a:spLocks noGrp="1"/>
          </p:cNvSpPr>
          <p:nvPr/>
        </p:nvSpPr>
        <p:spPr>
          <a:xfrm>
            <a:off x="11049000" y="6467475"/>
            <a:ext cx="5715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buNone/>
              <a:defRPr sz="1425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defRPr>
            </a:pPr>
            <a:r>
              <a:rPr sz="1425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rPr>
              <a:t>08</a:t>
            </a:r>
          </a:p>
        </p:txBody>
      </p:sp>
      <p:pic>
        <p:nvPicPr>
          <p:cNvPr id="22" name="图片 1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2123" y="1771650"/>
            <a:ext cx="6142378" cy="3228975"/>
          </a:xfrm>
          <a:prstGeom prst="rect">
            <a:avLst/>
          </a:prstGeom>
        </p:spPr>
      </p:pic>
      <p:sp>
        <p:nvSpPr>
          <p:cNvPr id="7" name="询价状态可追踪">
            <a:extLst>
              <a:ext uri="{FF2B5EF4-FFF2-40B4-BE49-F238E27FC236}">
                <a16:creationId xmlns:a16="http://schemas.microsoft.com/office/drawing/2014/main" id="{5A346AA5-9DE3-416F-9937-698CB41B644A}"/>
              </a:ext>
            </a:extLst>
          </p:cNvPr>
          <p:cNvSpPr>
            <a:spLocks noGrp="1"/>
          </p:cNvSpPr>
          <p:nvPr/>
        </p:nvSpPr>
        <p:spPr>
          <a:xfrm>
            <a:off x="7000875" y="1724025"/>
            <a:ext cx="45910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175">
                <a:solidFill>
                  <a:srgbClr val="355F52"/>
                </a:solidFill>
                <a:latin typeface="Yozai Medium"/>
                <a:ea typeface="Yozai Medium"/>
                <a:cs typeface="Yozai Medium"/>
              </a:defRPr>
            </a:pPr>
            <a:r>
              <a:rPr sz="2175">
                <a:solidFill>
                  <a:srgbClr val="355F52"/>
                </a:solidFill>
                <a:latin typeface="Yozai Medium"/>
                <a:ea typeface="Yozai Medium"/>
                <a:cs typeface="Yozai Medium"/>
              </a:rPr>
              <a:t>询价状态可追踪</a:t>
            </a:r>
          </a:p>
        </p:txBody>
      </p:sp>
      <p:pic>
        <p:nvPicPr>
          <p:cNvPr id="24" name="图片 19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57033" y="2257425"/>
            <a:ext cx="4716809" cy="1704975"/>
          </a:xfrm>
          <a:prstGeom prst="rect">
            <a:avLst/>
          </a:prstGeom>
        </p:spPr>
      </p:pic>
      <p:pic>
        <p:nvPicPr>
          <p:cNvPr id="25" name="图片 20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841658" y="4048125"/>
            <a:ext cx="4747559" cy="1952625"/>
          </a:xfrm>
          <a:prstGeom prst="rect">
            <a:avLst/>
          </a:prstGeom>
        </p:spPr>
      </p:pic>
      <p:sp>
        <p:nvSpPr>
          <p:cNvPr id="10" name="询价独立于零售订单，不扣库存">
            <a:extLst>
              <a:ext uri="{FF2B5EF4-FFF2-40B4-BE49-F238E27FC236}">
                <a16:creationId xmlns:a16="http://schemas.microsoft.com/office/drawing/2014/main" id="{3E5ED1B0-0BC3-47E7-BE72-5968E09E4D3D}"/>
              </a:ext>
            </a:extLst>
          </p:cNvPr>
          <p:cNvSpPr>
            <a:spLocks noGrp="1"/>
          </p:cNvSpPr>
          <p:nvPr/>
        </p:nvSpPr>
        <p:spPr>
          <a:xfrm>
            <a:off x="571500" y="5734050"/>
            <a:ext cx="614362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800">
                <a:solidFill>
                  <a:srgbClr val="355F52"/>
                </a:solidFill>
                <a:latin typeface="Yozai"/>
                <a:ea typeface="Yozai"/>
                <a:cs typeface="Yozai"/>
              </a:defRPr>
            </a:pPr>
            <a:r>
              <a:rPr sz="1800">
                <a:solidFill>
                  <a:srgbClr val="355F52"/>
                </a:solidFill>
                <a:latin typeface="Yozai"/>
                <a:ea typeface="Yozai"/>
                <a:cs typeface="Yozai"/>
              </a:rPr>
              <a:t>询价独立于零售订单，不扣库存</a:t>
            </a:r>
          </a:p>
        </p:txBody>
      </p:sp>
      <p:sp>
        <p:nvSpPr>
          <p:cNvPr id="11" name="选择商品与数量，写下采购需求">
            <a:extLst>
              <a:ext uri="{FF2B5EF4-FFF2-40B4-BE49-F238E27FC236}">
                <a16:creationId xmlns:a16="http://schemas.microsoft.com/office/drawing/2014/main" id="{55D39947-9D3A-4798-A0F8-168E8E9AAD2A}"/>
              </a:ext>
            </a:extLst>
          </p:cNvPr>
          <p:cNvSpPr>
            <a:spLocks noGrp="1"/>
          </p:cNvSpPr>
          <p:nvPr/>
        </p:nvSpPr>
        <p:spPr>
          <a:xfrm>
            <a:off x="571500" y="5334000"/>
            <a:ext cx="614362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875">
                <a:solidFill>
                  <a:srgbClr val="355F52"/>
                </a:solidFill>
                <a:latin typeface="Yozai"/>
                <a:ea typeface="Yozai"/>
                <a:cs typeface="Yozai"/>
              </a:defRPr>
            </a:pPr>
            <a:r>
              <a:rPr sz="1875">
                <a:solidFill>
                  <a:srgbClr val="355F52"/>
                </a:solidFill>
                <a:latin typeface="Yozai"/>
                <a:ea typeface="Yozai"/>
                <a:cs typeface="Yozai"/>
              </a:rPr>
              <a:t>选择商品与数量，写下采购需求</a:t>
            </a:r>
          </a:p>
        </p:txBody>
      </p:sp>
      <p:sp>
        <p:nvSpPr>
          <p:cNvPr id="12" name="本地 API 页面 · 课程测试数据">
            <a:extLst>
              <a:ext uri="{FF2B5EF4-FFF2-40B4-BE49-F238E27FC236}">
                <a16:creationId xmlns:a16="http://schemas.microsoft.com/office/drawing/2014/main" id="{E04AF7B7-E5E8-412C-B4A3-B0B52FF7D6B7}"/>
              </a:ext>
            </a:extLst>
          </p:cNvPr>
          <p:cNvSpPr>
            <a:spLocks noGrp="1"/>
          </p:cNvSpPr>
          <p:nvPr/>
        </p:nvSpPr>
        <p:spPr>
          <a:xfrm>
            <a:off x="571500" y="6134100"/>
            <a:ext cx="11049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buNone/>
              <a:defRPr sz="1275">
                <a:solidFill>
                  <a:srgbClr val="626970"/>
                </a:solidFill>
                <a:latin typeface="Yozai"/>
                <a:ea typeface="Yozai"/>
                <a:cs typeface="Yozai"/>
              </a:defRPr>
            </a:pPr>
            <a:r>
              <a:rPr sz="1275">
                <a:solidFill>
                  <a:srgbClr val="626970"/>
                </a:solidFill>
                <a:latin typeface="Yozai"/>
                <a:ea typeface="Yozai"/>
                <a:cs typeface="Yozai"/>
              </a:rPr>
              <a:t>本地 API 页面 · 课程测试数据</a:t>
            </a:r>
          </a:p>
        </p:txBody>
      </p:sp>
    </p:spTree>
    <p:extLst>
      <p:ext uri="{BB962C8B-B14F-4D97-AF65-F5344CB8AC3E}">
        <p14:creationId xmlns:p14="http://schemas.microsoft.com/office/powerpoint/2010/main" val="1128072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08 / SUPPORT">
            <a:extLst>
              <a:ext uri="{FF2B5EF4-FFF2-40B4-BE49-F238E27FC236}">
                <a16:creationId xmlns:a16="http://schemas.microsoft.com/office/drawing/2014/main" id="{D2297F2E-1057-4B20-A01A-95B43CDC1E37}"/>
              </a:ext>
            </a:extLst>
          </p:cNvPr>
          <p:cNvSpPr>
            <a:spLocks noGrp="1"/>
          </p:cNvSpPr>
          <p:nvPr/>
        </p:nvSpPr>
        <p:spPr>
          <a:xfrm>
            <a:off x="571500" y="29527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350">
                <a:solidFill>
                  <a:srgbClr val="355F52"/>
                </a:solidFill>
                <a:latin typeface="Barlow Condensed SemiBold"/>
                <a:ea typeface="Barlow Condensed SemiBold"/>
                <a:cs typeface="Barlow Condensed SemiBold"/>
              </a:defRPr>
            </a:pPr>
            <a:r>
              <a:rPr sz="1350">
                <a:solidFill>
                  <a:srgbClr val="355F52"/>
                </a:solidFill>
                <a:latin typeface="Barlow Condensed SemiBold"/>
                <a:ea typeface="Barlow Condensed SemiBold"/>
                <a:cs typeface="Barlow Condensed SemiBold"/>
              </a:rPr>
              <a:t>08 / SUPPORT</a:t>
            </a:r>
          </a:p>
        </p:txBody>
      </p:sp>
      <p:sp>
        <p:nvSpPr>
          <p:cNvPr id="2" name="用工单留下服务处理过程">
            <a:extLst>
              <a:ext uri="{FF2B5EF4-FFF2-40B4-BE49-F238E27FC236}">
                <a16:creationId xmlns:a16="http://schemas.microsoft.com/office/drawing/2014/main" id="{BA646277-E9BA-4800-B257-C00AEC4EE72B}"/>
              </a:ext>
            </a:extLst>
          </p:cNvPr>
          <p:cNvSpPr>
            <a:spLocks noGrp="1"/>
          </p:cNvSpPr>
          <p:nvPr/>
        </p:nvSpPr>
        <p:spPr>
          <a:xfrm>
            <a:off x="571500" y="647700"/>
            <a:ext cx="11049000" cy="504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850">
                <a:solidFill>
                  <a:srgbClr val="292E32"/>
                </a:solidFill>
                <a:latin typeface="Yozai Medium"/>
                <a:ea typeface="Yozai Medium"/>
                <a:cs typeface="Yozai Medium"/>
              </a:defRPr>
            </a:pPr>
            <a:r>
              <a:rPr sz="2850">
                <a:solidFill>
                  <a:srgbClr val="292E32"/>
                </a:solidFill>
                <a:latin typeface="Yozai Medium"/>
                <a:ea typeface="Yozai Medium"/>
                <a:cs typeface="Yozai Medium"/>
              </a:rPr>
              <a:t>用工单留下服务处理过程</a:t>
            </a:r>
          </a:p>
        </p:txBody>
      </p:sp>
      <p:sp>
        <p:nvSpPr>
          <p:cNvPr id="3" name="咨询分类与业务上下文，让后续回复有据可查">
            <a:extLst>
              <a:ext uri="{FF2B5EF4-FFF2-40B4-BE49-F238E27FC236}">
                <a16:creationId xmlns:a16="http://schemas.microsoft.com/office/drawing/2014/main" id="{2756B5A1-85E7-4734-BF70-BEFEA3145DF5}"/>
              </a:ext>
            </a:extLst>
          </p:cNvPr>
          <p:cNvSpPr>
            <a:spLocks noGrp="1"/>
          </p:cNvSpPr>
          <p:nvPr/>
        </p:nvSpPr>
        <p:spPr>
          <a:xfrm>
            <a:off x="590550" y="1190625"/>
            <a:ext cx="110299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725">
                <a:solidFill>
                  <a:srgbClr val="626970"/>
                </a:solidFill>
                <a:latin typeface="Yozai"/>
                <a:ea typeface="Yozai"/>
                <a:cs typeface="Yozai"/>
              </a:defRPr>
            </a:pPr>
            <a:r>
              <a:rPr sz="1725">
                <a:solidFill>
                  <a:srgbClr val="626970"/>
                </a:solidFill>
                <a:latin typeface="Yozai"/>
                <a:ea typeface="Yozai"/>
                <a:cs typeface="Yozai"/>
              </a:rPr>
              <a:t>咨询分类与业务上下文，让后续回复有据可查</a:t>
            </a:r>
          </a:p>
        </p:txBody>
      </p:sp>
      <p:sp>
        <p:nvSpPr>
          <p:cNvPr id="4" name="WEMOVE">
            <a:extLst>
              <a:ext uri="{FF2B5EF4-FFF2-40B4-BE49-F238E27FC236}">
                <a16:creationId xmlns:a16="http://schemas.microsoft.com/office/drawing/2014/main" id="{5A92AE84-7778-4669-9BAB-7982D4ABD575}"/>
              </a:ext>
            </a:extLst>
          </p:cNvPr>
          <p:cNvSpPr>
            <a:spLocks noGrp="1"/>
          </p:cNvSpPr>
          <p:nvPr/>
        </p:nvSpPr>
        <p:spPr>
          <a:xfrm>
            <a:off x="571500" y="6467475"/>
            <a:ext cx="19050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350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defRPr>
            </a:pPr>
            <a:r>
              <a:rPr sz="1350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rPr>
              <a:t>WEMOVE</a:t>
            </a:r>
          </a:p>
        </p:txBody>
      </p:sp>
      <p:sp>
        <p:nvSpPr>
          <p:cNvPr id="5" name="09">
            <a:extLst>
              <a:ext uri="{FF2B5EF4-FFF2-40B4-BE49-F238E27FC236}">
                <a16:creationId xmlns:a16="http://schemas.microsoft.com/office/drawing/2014/main" id="{DF4F11FD-2375-43E0-8FE2-51ED843F122B}"/>
              </a:ext>
            </a:extLst>
          </p:cNvPr>
          <p:cNvSpPr>
            <a:spLocks noGrp="1"/>
          </p:cNvSpPr>
          <p:nvPr/>
        </p:nvSpPr>
        <p:spPr>
          <a:xfrm>
            <a:off x="11049000" y="6467475"/>
            <a:ext cx="5715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buNone/>
              <a:defRPr sz="1425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defRPr>
            </a:pPr>
            <a:r>
              <a:rPr sz="1425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rPr>
              <a:t>09</a:t>
            </a:r>
          </a:p>
        </p:txBody>
      </p:sp>
      <p:pic>
        <p:nvPicPr>
          <p:cNvPr id="19" name="图片 1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1998497"/>
            <a:ext cx="6096000" cy="3813505"/>
          </a:xfrm>
          <a:prstGeom prst="rect">
            <a:avLst/>
          </a:prstGeom>
        </p:spPr>
      </p:pic>
      <p:sp>
        <p:nvSpPr>
          <p:cNvPr id="7" name="提交与持续沟通">
            <a:extLst>
              <a:ext uri="{FF2B5EF4-FFF2-40B4-BE49-F238E27FC236}">
                <a16:creationId xmlns:a16="http://schemas.microsoft.com/office/drawing/2014/main" id="{D685B430-D796-451F-8ADA-7F5F16A8E740}"/>
              </a:ext>
            </a:extLst>
          </p:cNvPr>
          <p:cNvSpPr>
            <a:spLocks noGrp="1"/>
          </p:cNvSpPr>
          <p:nvPr/>
        </p:nvSpPr>
        <p:spPr>
          <a:xfrm>
            <a:off x="7248525" y="1981200"/>
            <a:ext cx="42862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175">
                <a:solidFill>
                  <a:srgbClr val="355F52"/>
                </a:solidFill>
                <a:latin typeface="Yozai Medium"/>
                <a:ea typeface="Yozai Medium"/>
                <a:cs typeface="Yozai Medium"/>
              </a:defRPr>
            </a:pPr>
            <a:r>
              <a:rPr sz="2175">
                <a:solidFill>
                  <a:srgbClr val="355F52"/>
                </a:solidFill>
                <a:latin typeface="Yozai Medium"/>
                <a:ea typeface="Yozai Medium"/>
                <a:cs typeface="Yozai Medium"/>
              </a:rPr>
              <a:t>提交与持续沟通</a:t>
            </a:r>
          </a:p>
        </p:txBody>
      </p:sp>
      <p:sp>
        <p:nvSpPr>
          <p:cNvPr id="8" name="分类描述问题&#10;补充回复，确认关闭">
            <a:extLst>
              <a:ext uri="{FF2B5EF4-FFF2-40B4-BE49-F238E27FC236}">
                <a16:creationId xmlns:a16="http://schemas.microsoft.com/office/drawing/2014/main" id="{2196DDC0-68CE-4246-800F-04B578F8515E}"/>
              </a:ext>
            </a:extLst>
          </p:cNvPr>
          <p:cNvSpPr>
            <a:spLocks noGrp="1"/>
          </p:cNvSpPr>
          <p:nvPr/>
        </p:nvSpPr>
        <p:spPr>
          <a:xfrm>
            <a:off x="7248525" y="2447925"/>
            <a:ext cx="4286250" cy="1047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875">
                <a:solidFill>
                  <a:srgbClr val="292E32"/>
                </a:solidFill>
                <a:latin typeface="Yozai"/>
                <a:ea typeface="Yozai"/>
                <a:cs typeface="Yozai"/>
              </a:defRPr>
            </a:pPr>
            <a:r>
              <a:rPr sz="1875">
                <a:solidFill>
                  <a:srgbClr val="292E32"/>
                </a:solidFill>
                <a:latin typeface="Yozai"/>
                <a:ea typeface="Yozai"/>
                <a:cs typeface="Yozai"/>
              </a:rPr>
              <a:t>分类描述问题</a:t>
            </a:r>
          </a:p>
          <a:p>
            <a:pPr algn="l">
              <a:buNone/>
              <a:defRPr sz="1875">
                <a:solidFill>
                  <a:srgbClr val="292E32"/>
                </a:solidFill>
                <a:latin typeface="Yozai"/>
                <a:ea typeface="Yozai"/>
                <a:cs typeface="Yozai"/>
              </a:defRPr>
            </a:pPr>
            <a:r>
              <a:rPr sz="1875">
                <a:solidFill>
                  <a:srgbClr val="292E32"/>
                </a:solidFill>
                <a:latin typeface="Yozai"/>
                <a:ea typeface="Yozai"/>
                <a:cs typeface="Yozai"/>
              </a:rPr>
              <a:t>补充回复，确认关闭</a:t>
            </a:r>
          </a:p>
        </p:txBody>
      </p:sp>
      <p:sp>
        <p:nvSpPr>
          <p:cNvPr id="9" name="业务记录有边界">
            <a:extLst>
              <a:ext uri="{FF2B5EF4-FFF2-40B4-BE49-F238E27FC236}">
                <a16:creationId xmlns:a16="http://schemas.microsoft.com/office/drawing/2014/main" id="{FB505679-97EC-4AE2-BEF9-460AB4B5DC8F}"/>
              </a:ext>
            </a:extLst>
          </p:cNvPr>
          <p:cNvSpPr>
            <a:spLocks noGrp="1"/>
          </p:cNvSpPr>
          <p:nvPr/>
        </p:nvSpPr>
        <p:spPr>
          <a:xfrm>
            <a:off x="7248525" y="3895725"/>
            <a:ext cx="42862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175">
                <a:solidFill>
                  <a:srgbClr val="355F52"/>
                </a:solidFill>
                <a:latin typeface="Yozai Medium"/>
                <a:ea typeface="Yozai Medium"/>
                <a:cs typeface="Yozai Medium"/>
              </a:defRPr>
            </a:pPr>
            <a:r>
              <a:rPr sz="2175">
                <a:solidFill>
                  <a:srgbClr val="355F52"/>
                </a:solidFill>
                <a:latin typeface="Yozai Medium"/>
                <a:ea typeface="Yozai Medium"/>
                <a:cs typeface="Yozai Medium"/>
              </a:rPr>
              <a:t>业务记录有边界</a:t>
            </a:r>
          </a:p>
        </p:txBody>
      </p:sp>
      <p:sp>
        <p:nvSpPr>
          <p:cNvPr id="10" name="关联本人订单或商品&#10;内部备注对用户隔离">
            <a:extLst>
              <a:ext uri="{FF2B5EF4-FFF2-40B4-BE49-F238E27FC236}">
                <a16:creationId xmlns:a16="http://schemas.microsoft.com/office/drawing/2014/main" id="{DB81CF2C-D016-4249-85F0-996411427958}"/>
              </a:ext>
            </a:extLst>
          </p:cNvPr>
          <p:cNvSpPr>
            <a:spLocks noGrp="1"/>
          </p:cNvSpPr>
          <p:nvPr/>
        </p:nvSpPr>
        <p:spPr>
          <a:xfrm>
            <a:off x="7248525" y="4362450"/>
            <a:ext cx="4286250" cy="1047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875">
                <a:solidFill>
                  <a:srgbClr val="292E32"/>
                </a:solidFill>
                <a:latin typeface="Yozai"/>
                <a:ea typeface="Yozai"/>
                <a:cs typeface="Yozai"/>
              </a:defRPr>
            </a:pPr>
            <a:r>
              <a:rPr sz="1875">
                <a:solidFill>
                  <a:srgbClr val="292E32"/>
                </a:solidFill>
                <a:latin typeface="Yozai"/>
                <a:ea typeface="Yozai"/>
                <a:cs typeface="Yozai"/>
              </a:rPr>
              <a:t>关联本人订单或商品</a:t>
            </a:r>
          </a:p>
          <a:p>
            <a:pPr algn="l">
              <a:buNone/>
              <a:defRPr sz="1875">
                <a:solidFill>
                  <a:srgbClr val="292E32"/>
                </a:solidFill>
                <a:latin typeface="Yozai"/>
                <a:ea typeface="Yozai"/>
                <a:cs typeface="Yozai"/>
              </a:defRPr>
            </a:pPr>
            <a:r>
              <a:rPr sz="1875">
                <a:solidFill>
                  <a:srgbClr val="292E32"/>
                </a:solidFill>
                <a:latin typeface="Yozai"/>
                <a:ea typeface="Yozai"/>
                <a:cs typeface="Yozai"/>
              </a:rPr>
              <a:t>内部备注对用户隔离</a:t>
            </a:r>
          </a:p>
        </p:txBody>
      </p:sp>
      <p:sp>
        <p:nvSpPr>
          <p:cNvPr id="11" name="本地 API 页面 · 当前账户尚无历史工单">
            <a:extLst>
              <a:ext uri="{FF2B5EF4-FFF2-40B4-BE49-F238E27FC236}">
                <a16:creationId xmlns:a16="http://schemas.microsoft.com/office/drawing/2014/main" id="{7D101636-7A49-4E1D-9608-401E92D42EC6}"/>
              </a:ext>
            </a:extLst>
          </p:cNvPr>
          <p:cNvSpPr>
            <a:spLocks noGrp="1"/>
          </p:cNvSpPr>
          <p:nvPr/>
        </p:nvSpPr>
        <p:spPr>
          <a:xfrm>
            <a:off x="571500" y="6134100"/>
            <a:ext cx="11049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buNone/>
              <a:defRPr sz="1275">
                <a:solidFill>
                  <a:srgbClr val="626970"/>
                </a:solidFill>
                <a:latin typeface="Yozai"/>
                <a:ea typeface="Yozai"/>
                <a:cs typeface="Yozai"/>
              </a:defRPr>
            </a:pPr>
            <a:r>
              <a:rPr sz="1275">
                <a:solidFill>
                  <a:srgbClr val="626970"/>
                </a:solidFill>
                <a:latin typeface="Yozai"/>
                <a:ea typeface="Yozai"/>
                <a:cs typeface="Yozai"/>
              </a:rPr>
              <a:t>本地 API 页面 · 当前账户尚无历史工单</a:t>
            </a:r>
          </a:p>
        </p:txBody>
      </p:sp>
    </p:spTree>
    <p:extLst>
      <p:ext uri="{BB962C8B-B14F-4D97-AF65-F5344CB8AC3E}">
        <p14:creationId xmlns:p14="http://schemas.microsoft.com/office/powerpoint/2010/main" val="1525190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09 / CONTENT">
            <a:extLst>
              <a:ext uri="{FF2B5EF4-FFF2-40B4-BE49-F238E27FC236}">
                <a16:creationId xmlns:a16="http://schemas.microsoft.com/office/drawing/2014/main" id="{52B803A3-28D0-45F3-AD5B-F0A54729C2A8}"/>
              </a:ext>
            </a:extLst>
          </p:cNvPr>
          <p:cNvSpPr>
            <a:spLocks noGrp="1"/>
          </p:cNvSpPr>
          <p:nvPr/>
        </p:nvSpPr>
        <p:spPr>
          <a:xfrm>
            <a:off x="571500" y="29527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350">
                <a:solidFill>
                  <a:srgbClr val="355F52"/>
                </a:solidFill>
                <a:latin typeface="Barlow Condensed SemiBold"/>
                <a:ea typeface="Barlow Condensed SemiBold"/>
                <a:cs typeface="Barlow Condensed SemiBold"/>
              </a:defRPr>
            </a:pPr>
            <a:r>
              <a:rPr sz="1350">
                <a:solidFill>
                  <a:srgbClr val="355F52"/>
                </a:solidFill>
                <a:latin typeface="Barlow Condensed SemiBold"/>
                <a:ea typeface="Barlow Condensed SemiBold"/>
                <a:cs typeface="Barlow Condensed SemiBold"/>
              </a:rPr>
              <a:t>09 / CONTENT</a:t>
            </a:r>
          </a:p>
        </p:txBody>
      </p:sp>
      <p:sp>
        <p:nvSpPr>
          <p:cNvPr id="2" name="玩法内容可以在后台持续更新">
            <a:extLst>
              <a:ext uri="{FF2B5EF4-FFF2-40B4-BE49-F238E27FC236}">
                <a16:creationId xmlns:a16="http://schemas.microsoft.com/office/drawing/2014/main" id="{E9418A77-309B-44F1-B32F-F9E5DD0FD971}"/>
              </a:ext>
            </a:extLst>
          </p:cNvPr>
          <p:cNvSpPr>
            <a:spLocks noGrp="1"/>
          </p:cNvSpPr>
          <p:nvPr/>
        </p:nvSpPr>
        <p:spPr>
          <a:xfrm>
            <a:off x="571500" y="647700"/>
            <a:ext cx="11049000" cy="504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850">
                <a:solidFill>
                  <a:srgbClr val="292E32"/>
                </a:solidFill>
                <a:latin typeface="Yozai Medium"/>
                <a:ea typeface="Yozai Medium"/>
                <a:cs typeface="Yozai Medium"/>
              </a:defRPr>
            </a:pPr>
            <a:r>
              <a:rPr sz="2850">
                <a:solidFill>
                  <a:srgbClr val="292E32"/>
                </a:solidFill>
                <a:latin typeface="Yozai Medium"/>
                <a:ea typeface="Yozai Medium"/>
                <a:cs typeface="Yozai Medium"/>
              </a:rPr>
              <a:t>玩法内容可以在后台持续更新</a:t>
            </a:r>
          </a:p>
        </p:txBody>
      </p:sp>
      <p:sp>
        <p:nvSpPr>
          <p:cNvPr id="3" name="图文区块编排，将编辑过程与阅读效果连起来">
            <a:extLst>
              <a:ext uri="{FF2B5EF4-FFF2-40B4-BE49-F238E27FC236}">
                <a16:creationId xmlns:a16="http://schemas.microsoft.com/office/drawing/2014/main" id="{B18C3DA9-614E-40B8-895B-FAADC137B03F}"/>
              </a:ext>
            </a:extLst>
          </p:cNvPr>
          <p:cNvSpPr>
            <a:spLocks noGrp="1"/>
          </p:cNvSpPr>
          <p:nvPr/>
        </p:nvSpPr>
        <p:spPr>
          <a:xfrm>
            <a:off x="590550" y="1190625"/>
            <a:ext cx="110299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725">
                <a:solidFill>
                  <a:srgbClr val="626970"/>
                </a:solidFill>
                <a:latin typeface="Yozai"/>
                <a:ea typeface="Yozai"/>
                <a:cs typeface="Yozai"/>
              </a:defRPr>
            </a:pPr>
            <a:r>
              <a:rPr sz="1725">
                <a:solidFill>
                  <a:srgbClr val="626970"/>
                </a:solidFill>
                <a:latin typeface="Yozai"/>
                <a:ea typeface="Yozai"/>
                <a:cs typeface="Yozai"/>
              </a:rPr>
              <a:t>图文区块编排，将编辑过程与阅读效果连起来</a:t>
            </a:r>
          </a:p>
        </p:txBody>
      </p:sp>
      <p:sp>
        <p:nvSpPr>
          <p:cNvPr id="4" name="WEMOVE">
            <a:extLst>
              <a:ext uri="{FF2B5EF4-FFF2-40B4-BE49-F238E27FC236}">
                <a16:creationId xmlns:a16="http://schemas.microsoft.com/office/drawing/2014/main" id="{1A2BDC63-3656-4320-AD4A-99BD6C0F6F8E}"/>
              </a:ext>
            </a:extLst>
          </p:cNvPr>
          <p:cNvSpPr>
            <a:spLocks noGrp="1"/>
          </p:cNvSpPr>
          <p:nvPr/>
        </p:nvSpPr>
        <p:spPr>
          <a:xfrm>
            <a:off x="571500" y="6467475"/>
            <a:ext cx="19050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350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defRPr>
            </a:pPr>
            <a:r>
              <a:rPr sz="1350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rPr>
              <a:t>WEMOVE</a:t>
            </a:r>
          </a:p>
        </p:txBody>
      </p:sp>
      <p:sp>
        <p:nvSpPr>
          <p:cNvPr id="5" name="10">
            <a:extLst>
              <a:ext uri="{FF2B5EF4-FFF2-40B4-BE49-F238E27FC236}">
                <a16:creationId xmlns:a16="http://schemas.microsoft.com/office/drawing/2014/main" id="{7CCB3B17-D49B-4042-9E22-4C662482EF75}"/>
              </a:ext>
            </a:extLst>
          </p:cNvPr>
          <p:cNvSpPr>
            <a:spLocks noGrp="1"/>
          </p:cNvSpPr>
          <p:nvPr/>
        </p:nvSpPr>
        <p:spPr>
          <a:xfrm>
            <a:off x="11049000" y="6467475"/>
            <a:ext cx="5715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buNone/>
              <a:defRPr sz="1425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defRPr>
            </a:pPr>
            <a:r>
              <a:rPr sz="1425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rPr>
              <a:t>10</a:t>
            </a:r>
          </a:p>
        </p:txBody>
      </p:sp>
      <p:pic>
        <p:nvPicPr>
          <p:cNvPr id="19" name="图片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84474" y="1628775"/>
            <a:ext cx="5984328" cy="4572000"/>
          </a:xfrm>
          <a:prstGeom prst="rect">
            <a:avLst/>
          </a:prstGeom>
        </p:spPr>
      </p:pic>
      <p:sp>
        <p:nvSpPr>
          <p:cNvPr id="7" name="像搭积木一样编辑">
            <a:extLst>
              <a:ext uri="{FF2B5EF4-FFF2-40B4-BE49-F238E27FC236}">
                <a16:creationId xmlns:a16="http://schemas.microsoft.com/office/drawing/2014/main" id="{860915AD-1024-445C-A9BB-BA11CEF5B5DE}"/>
              </a:ext>
            </a:extLst>
          </p:cNvPr>
          <p:cNvSpPr>
            <a:spLocks noGrp="1"/>
          </p:cNvSpPr>
          <p:nvPr/>
        </p:nvSpPr>
        <p:spPr>
          <a:xfrm>
            <a:off x="7105650" y="1990725"/>
            <a:ext cx="44767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175">
                <a:solidFill>
                  <a:srgbClr val="355F52"/>
                </a:solidFill>
                <a:latin typeface="Yozai Medium"/>
                <a:ea typeface="Yozai Medium"/>
                <a:cs typeface="Yozai Medium"/>
              </a:defRPr>
            </a:pPr>
            <a:r>
              <a:rPr sz="2175">
                <a:solidFill>
                  <a:srgbClr val="355F52"/>
                </a:solidFill>
                <a:latin typeface="Yozai Medium"/>
                <a:ea typeface="Yozai Medium"/>
                <a:cs typeface="Yozai Medium"/>
              </a:rPr>
              <a:t>像搭积木一样编辑</a:t>
            </a:r>
          </a:p>
        </p:txBody>
      </p:sp>
      <p:sp>
        <p:nvSpPr>
          <p:cNvPr id="8" name="图左文右、图右文左&#10;通栏图片与图注">
            <a:extLst>
              <a:ext uri="{FF2B5EF4-FFF2-40B4-BE49-F238E27FC236}">
                <a16:creationId xmlns:a16="http://schemas.microsoft.com/office/drawing/2014/main" id="{8EFAFF9E-10AF-4BDC-BDD4-8F3414044071}"/>
              </a:ext>
            </a:extLst>
          </p:cNvPr>
          <p:cNvSpPr>
            <a:spLocks noGrp="1"/>
          </p:cNvSpPr>
          <p:nvPr/>
        </p:nvSpPr>
        <p:spPr>
          <a:xfrm>
            <a:off x="7105650" y="2457450"/>
            <a:ext cx="4476750" cy="1047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875">
                <a:solidFill>
                  <a:srgbClr val="292E32"/>
                </a:solidFill>
                <a:latin typeface="Yozai"/>
                <a:ea typeface="Yozai"/>
                <a:cs typeface="Yozai"/>
              </a:defRPr>
            </a:pPr>
            <a:r>
              <a:rPr sz="1875">
                <a:solidFill>
                  <a:srgbClr val="292E32"/>
                </a:solidFill>
                <a:latin typeface="Yozai"/>
                <a:ea typeface="Yozai"/>
                <a:cs typeface="Yozai"/>
              </a:rPr>
              <a:t>图左文右、图右文左</a:t>
            </a:r>
          </a:p>
          <a:p>
            <a:pPr algn="l">
              <a:buNone/>
              <a:defRPr sz="1875">
                <a:solidFill>
                  <a:srgbClr val="292E32"/>
                </a:solidFill>
                <a:latin typeface="Yozai"/>
                <a:ea typeface="Yozai"/>
                <a:cs typeface="Yozai"/>
              </a:defRPr>
            </a:pPr>
            <a:r>
              <a:rPr sz="1875">
                <a:solidFill>
                  <a:srgbClr val="292E32"/>
                </a:solidFill>
                <a:latin typeface="Yozai"/>
                <a:ea typeface="Yozai"/>
                <a:cs typeface="Yozai"/>
              </a:rPr>
              <a:t>通栏图片与图注</a:t>
            </a:r>
          </a:p>
        </p:txBody>
      </p:sp>
      <p:pic>
        <p:nvPicPr>
          <p:cNvPr id="22" name="图片 1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532357" y="3609975"/>
            <a:ext cx="3623336" cy="2476500"/>
          </a:xfrm>
          <a:prstGeom prst="rect">
            <a:avLst/>
          </a:prstGeom>
        </p:spPr>
      </p:pic>
      <p:sp>
        <p:nvSpPr>
          <p:cNvPr id="10" name="只读界面预览 · 示例文章，不连接后端">
            <a:extLst>
              <a:ext uri="{FF2B5EF4-FFF2-40B4-BE49-F238E27FC236}">
                <a16:creationId xmlns:a16="http://schemas.microsoft.com/office/drawing/2014/main" id="{1EDCD9F5-9485-40AD-AC56-B4E09F3179AB}"/>
              </a:ext>
            </a:extLst>
          </p:cNvPr>
          <p:cNvSpPr>
            <a:spLocks noGrp="1"/>
          </p:cNvSpPr>
          <p:nvPr/>
        </p:nvSpPr>
        <p:spPr>
          <a:xfrm>
            <a:off x="571500" y="6134100"/>
            <a:ext cx="11049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buNone/>
              <a:defRPr sz="1275">
                <a:solidFill>
                  <a:srgbClr val="626970"/>
                </a:solidFill>
                <a:latin typeface="Yozai"/>
                <a:ea typeface="Yozai"/>
                <a:cs typeface="Yozai"/>
              </a:defRPr>
            </a:pPr>
            <a:r>
              <a:rPr sz="1275">
                <a:solidFill>
                  <a:srgbClr val="626970"/>
                </a:solidFill>
                <a:latin typeface="Yozai"/>
                <a:ea typeface="Yozai"/>
                <a:cs typeface="Yozai"/>
              </a:rPr>
              <a:t>只读界面预览 · 示例文章，不连接后端</a:t>
            </a:r>
          </a:p>
        </p:txBody>
      </p:sp>
    </p:spTree>
    <p:extLst>
      <p:ext uri="{BB962C8B-B14F-4D97-AF65-F5344CB8AC3E}">
        <p14:creationId xmlns:p14="http://schemas.microsoft.com/office/powerpoint/2010/main" val="9206577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10 / FILES &amp; MEDIA">
            <a:extLst>
              <a:ext uri="{FF2B5EF4-FFF2-40B4-BE49-F238E27FC236}">
                <a16:creationId xmlns:a16="http://schemas.microsoft.com/office/drawing/2014/main" id="{E6199C65-C66A-4E07-AA9F-F7723C7AB3EF}"/>
              </a:ext>
            </a:extLst>
          </p:cNvPr>
          <p:cNvSpPr>
            <a:spLocks noGrp="1"/>
          </p:cNvSpPr>
          <p:nvPr/>
        </p:nvSpPr>
        <p:spPr>
          <a:xfrm>
            <a:off x="571500" y="29527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350">
                <a:solidFill>
                  <a:srgbClr val="355F52"/>
                </a:solidFill>
                <a:latin typeface="Barlow Condensed SemiBold"/>
                <a:ea typeface="Barlow Condensed SemiBold"/>
                <a:cs typeface="Barlow Condensed SemiBold"/>
              </a:defRPr>
            </a:pPr>
            <a:r>
              <a:rPr sz="1350">
                <a:solidFill>
                  <a:srgbClr val="355F52"/>
                </a:solidFill>
                <a:latin typeface="Barlow Condensed SemiBold"/>
                <a:ea typeface="Barlow Condensed SemiBold"/>
                <a:cs typeface="Barlow Condensed SemiBold"/>
              </a:rPr>
              <a:t>10 / FILES &amp; MEDIA</a:t>
            </a:r>
          </a:p>
        </p:txBody>
      </p:sp>
      <p:sp>
        <p:nvSpPr>
          <p:cNvPr id="2" name="资料发布与访问范围一起管理">
            <a:extLst>
              <a:ext uri="{FF2B5EF4-FFF2-40B4-BE49-F238E27FC236}">
                <a16:creationId xmlns:a16="http://schemas.microsoft.com/office/drawing/2014/main" id="{A79B11F5-062C-463B-B0C3-DFC84EE29B94}"/>
              </a:ext>
            </a:extLst>
          </p:cNvPr>
          <p:cNvSpPr>
            <a:spLocks noGrp="1"/>
          </p:cNvSpPr>
          <p:nvPr/>
        </p:nvSpPr>
        <p:spPr>
          <a:xfrm>
            <a:off x="571500" y="647700"/>
            <a:ext cx="11049000" cy="504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850">
                <a:solidFill>
                  <a:srgbClr val="292E32"/>
                </a:solidFill>
                <a:latin typeface="Yozai Medium"/>
                <a:ea typeface="Yozai Medium"/>
                <a:cs typeface="Yozai Medium"/>
              </a:defRPr>
            </a:pPr>
            <a:r>
              <a:rPr sz="2850">
                <a:solidFill>
                  <a:srgbClr val="292E32"/>
                </a:solidFill>
                <a:latin typeface="Yozai Medium"/>
                <a:ea typeface="Yozai Medium"/>
                <a:cs typeface="Yozai Medium"/>
              </a:rPr>
              <a:t>资料发布与访问范围一起管理</a:t>
            </a:r>
          </a:p>
        </p:txBody>
      </p:sp>
      <p:sp>
        <p:nvSpPr>
          <p:cNvPr id="3" name="同一份资料按公开、经销与内部用途分配访问范围">
            <a:extLst>
              <a:ext uri="{FF2B5EF4-FFF2-40B4-BE49-F238E27FC236}">
                <a16:creationId xmlns:a16="http://schemas.microsoft.com/office/drawing/2014/main" id="{E4DD66A1-2898-4002-87FE-698ABCA598FE}"/>
              </a:ext>
            </a:extLst>
          </p:cNvPr>
          <p:cNvSpPr>
            <a:spLocks noGrp="1"/>
          </p:cNvSpPr>
          <p:nvPr/>
        </p:nvSpPr>
        <p:spPr>
          <a:xfrm>
            <a:off x="590550" y="1190625"/>
            <a:ext cx="110299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725">
                <a:solidFill>
                  <a:srgbClr val="626970"/>
                </a:solidFill>
                <a:latin typeface="Yozai"/>
                <a:ea typeface="Yozai"/>
                <a:cs typeface="Yozai"/>
              </a:defRPr>
            </a:pPr>
            <a:r>
              <a:rPr sz="1725">
                <a:solidFill>
                  <a:srgbClr val="626970"/>
                </a:solidFill>
                <a:latin typeface="Yozai"/>
                <a:ea typeface="Yozai"/>
                <a:cs typeface="Yozai"/>
              </a:rPr>
              <a:t>同一份资料按公开、经销与内部用途分配访问范围</a:t>
            </a:r>
          </a:p>
        </p:txBody>
      </p:sp>
      <p:sp>
        <p:nvSpPr>
          <p:cNvPr id="4" name="WEMOVE">
            <a:extLst>
              <a:ext uri="{FF2B5EF4-FFF2-40B4-BE49-F238E27FC236}">
                <a16:creationId xmlns:a16="http://schemas.microsoft.com/office/drawing/2014/main" id="{01E1AE88-3DCF-4898-9C69-1927EF6028F6}"/>
              </a:ext>
            </a:extLst>
          </p:cNvPr>
          <p:cNvSpPr>
            <a:spLocks noGrp="1"/>
          </p:cNvSpPr>
          <p:nvPr/>
        </p:nvSpPr>
        <p:spPr>
          <a:xfrm>
            <a:off x="571500" y="6467475"/>
            <a:ext cx="19050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350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defRPr>
            </a:pPr>
            <a:r>
              <a:rPr sz="1350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rPr>
              <a:t>WEMOVE</a:t>
            </a:r>
          </a:p>
        </p:txBody>
      </p:sp>
      <p:sp>
        <p:nvSpPr>
          <p:cNvPr id="5" name="11">
            <a:extLst>
              <a:ext uri="{FF2B5EF4-FFF2-40B4-BE49-F238E27FC236}">
                <a16:creationId xmlns:a16="http://schemas.microsoft.com/office/drawing/2014/main" id="{4BB334E6-8407-4957-9BE4-DA57E348A4C2}"/>
              </a:ext>
            </a:extLst>
          </p:cNvPr>
          <p:cNvSpPr>
            <a:spLocks noGrp="1"/>
          </p:cNvSpPr>
          <p:nvPr/>
        </p:nvSpPr>
        <p:spPr>
          <a:xfrm>
            <a:off x="11049000" y="6467475"/>
            <a:ext cx="5715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buNone/>
              <a:defRPr sz="1425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defRPr>
            </a:pPr>
            <a:r>
              <a:rPr sz="1425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rPr>
              <a:t>11</a:t>
            </a:r>
          </a:p>
        </p:txBody>
      </p:sp>
      <p:sp>
        <p:nvSpPr>
          <p:cNvPr id="6" name="用户侧：查找与下载">
            <a:extLst>
              <a:ext uri="{FF2B5EF4-FFF2-40B4-BE49-F238E27FC236}">
                <a16:creationId xmlns:a16="http://schemas.microsoft.com/office/drawing/2014/main" id="{4857FA18-7468-4E34-AB5A-326BCED83942}"/>
              </a:ext>
            </a:extLst>
          </p:cNvPr>
          <p:cNvSpPr>
            <a:spLocks noGrp="1"/>
          </p:cNvSpPr>
          <p:nvPr/>
        </p:nvSpPr>
        <p:spPr>
          <a:xfrm>
            <a:off x="571500" y="1685925"/>
            <a:ext cx="34290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100">
                <a:solidFill>
                  <a:srgbClr val="355F52"/>
                </a:solidFill>
                <a:latin typeface="Yozai Medium"/>
                <a:ea typeface="Yozai Medium"/>
                <a:cs typeface="Yozai Medium"/>
              </a:defRPr>
            </a:pPr>
            <a:r>
              <a:rPr sz="2100">
                <a:solidFill>
                  <a:srgbClr val="355F52"/>
                </a:solidFill>
                <a:latin typeface="Yozai Medium"/>
                <a:ea typeface="Yozai Medium"/>
                <a:cs typeface="Yozai Medium"/>
              </a:rPr>
              <a:t>用户侧：查找与下载</a:t>
            </a:r>
          </a:p>
        </p:txBody>
      </p:sp>
      <p:pic>
        <p:nvPicPr>
          <p:cNvPr id="24" name="图片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2173843"/>
            <a:ext cx="3419475" cy="2900840"/>
          </a:xfrm>
          <a:prstGeom prst="rect">
            <a:avLst/>
          </a:prstGeom>
        </p:spPr>
      </p:pic>
      <p:sp>
        <p:nvSpPr>
          <p:cNvPr id="8" name="管理侧：发布、替换与下线">
            <a:extLst>
              <a:ext uri="{FF2B5EF4-FFF2-40B4-BE49-F238E27FC236}">
                <a16:creationId xmlns:a16="http://schemas.microsoft.com/office/drawing/2014/main" id="{D653281A-9A0E-47C4-BC7C-FFBBF3AFB17F}"/>
              </a:ext>
            </a:extLst>
          </p:cNvPr>
          <p:cNvSpPr>
            <a:spLocks noGrp="1"/>
          </p:cNvSpPr>
          <p:nvPr/>
        </p:nvSpPr>
        <p:spPr>
          <a:xfrm>
            <a:off x="4505325" y="1685925"/>
            <a:ext cx="70866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100">
                <a:solidFill>
                  <a:srgbClr val="355F52"/>
                </a:solidFill>
                <a:latin typeface="Yozai Medium"/>
                <a:ea typeface="Yozai Medium"/>
                <a:cs typeface="Yozai Medium"/>
              </a:defRPr>
            </a:pPr>
            <a:r>
              <a:rPr sz="2100">
                <a:solidFill>
                  <a:srgbClr val="355F52"/>
                </a:solidFill>
                <a:latin typeface="Yozai Medium"/>
                <a:ea typeface="Yozai Medium"/>
                <a:cs typeface="Yozai Medium"/>
              </a:rPr>
              <a:t>管理侧：发布、替换与下线</a:t>
            </a:r>
          </a:p>
        </p:txBody>
      </p:sp>
      <p:pic>
        <p:nvPicPr>
          <p:cNvPr id="26" name="图片 2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505325" y="2165517"/>
            <a:ext cx="7086600" cy="3527091"/>
          </a:xfrm>
          <a:prstGeom prst="rect">
            <a:avLst/>
          </a:prstGeom>
        </p:spPr>
      </p:pic>
      <p:sp>
        <p:nvSpPr>
          <p:cNvPr id="10" name="公开资料">
            <a:extLst>
              <a:ext uri="{FF2B5EF4-FFF2-40B4-BE49-F238E27FC236}">
                <a16:creationId xmlns:a16="http://schemas.microsoft.com/office/drawing/2014/main" id="{CD90EABC-A599-4FAC-B47E-09B8B7ACFB50}"/>
              </a:ext>
            </a:extLst>
          </p:cNvPr>
          <p:cNvSpPr>
            <a:spLocks noGrp="1"/>
          </p:cNvSpPr>
          <p:nvPr/>
        </p:nvSpPr>
        <p:spPr>
          <a:xfrm>
            <a:off x="628650" y="5429250"/>
            <a:ext cx="1524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800">
                <a:solidFill>
                  <a:srgbClr val="355F52"/>
                </a:solidFill>
                <a:latin typeface="Yozai Medium"/>
                <a:ea typeface="Yozai Medium"/>
                <a:cs typeface="Yozai Medium"/>
              </a:defRPr>
            </a:pPr>
            <a:r>
              <a:rPr sz="1800">
                <a:solidFill>
                  <a:srgbClr val="355F52"/>
                </a:solidFill>
                <a:latin typeface="Yozai Medium"/>
                <a:ea typeface="Yozai Medium"/>
                <a:cs typeface="Yozai Medium"/>
              </a:rPr>
              <a:t>公开资料</a:t>
            </a:r>
          </a:p>
        </p:txBody>
      </p:sp>
      <p:sp>
        <p:nvSpPr>
          <p:cNvPr id="11" name="所有访客">
            <a:extLst>
              <a:ext uri="{FF2B5EF4-FFF2-40B4-BE49-F238E27FC236}">
                <a16:creationId xmlns:a16="http://schemas.microsoft.com/office/drawing/2014/main" id="{DD8429D4-ED31-4306-9A1B-04D6D19679E3}"/>
              </a:ext>
            </a:extLst>
          </p:cNvPr>
          <p:cNvSpPr>
            <a:spLocks noGrp="1"/>
          </p:cNvSpPr>
          <p:nvPr/>
        </p:nvSpPr>
        <p:spPr>
          <a:xfrm>
            <a:off x="628650" y="5810250"/>
            <a:ext cx="20955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725">
                <a:solidFill>
                  <a:srgbClr val="626970"/>
                </a:solidFill>
                <a:latin typeface="Yozai"/>
                <a:ea typeface="Yozai"/>
                <a:cs typeface="Yozai"/>
              </a:defRPr>
            </a:pPr>
            <a:r>
              <a:rPr sz="1725">
                <a:solidFill>
                  <a:srgbClr val="626970"/>
                </a:solidFill>
                <a:latin typeface="Yozai"/>
                <a:ea typeface="Yozai"/>
                <a:cs typeface="Yozai"/>
              </a:rPr>
              <a:t>所有访客</a:t>
            </a:r>
          </a:p>
        </p:txBody>
      </p:sp>
      <p:sp>
        <p:nvSpPr>
          <p:cNvPr id="12" name="经销资料">
            <a:extLst>
              <a:ext uri="{FF2B5EF4-FFF2-40B4-BE49-F238E27FC236}">
                <a16:creationId xmlns:a16="http://schemas.microsoft.com/office/drawing/2014/main" id="{8F2911EE-D062-4A0C-99A4-B3A485611A18}"/>
              </a:ext>
            </a:extLst>
          </p:cNvPr>
          <p:cNvSpPr>
            <a:spLocks noGrp="1"/>
          </p:cNvSpPr>
          <p:nvPr/>
        </p:nvSpPr>
        <p:spPr>
          <a:xfrm>
            <a:off x="2343150" y="5429250"/>
            <a:ext cx="1524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800">
                <a:solidFill>
                  <a:srgbClr val="355F52"/>
                </a:solidFill>
                <a:latin typeface="Yozai Medium"/>
                <a:ea typeface="Yozai Medium"/>
                <a:cs typeface="Yozai Medium"/>
              </a:defRPr>
            </a:pPr>
            <a:r>
              <a:rPr sz="1800">
                <a:solidFill>
                  <a:srgbClr val="355F52"/>
                </a:solidFill>
                <a:latin typeface="Yozai Medium"/>
                <a:ea typeface="Yozai Medium"/>
                <a:cs typeface="Yozai Medium"/>
              </a:rPr>
              <a:t>经销资料</a:t>
            </a:r>
          </a:p>
        </p:txBody>
      </p:sp>
      <p:sp>
        <p:nvSpPr>
          <p:cNvPr id="13" name="有效经销资格">
            <a:extLst>
              <a:ext uri="{FF2B5EF4-FFF2-40B4-BE49-F238E27FC236}">
                <a16:creationId xmlns:a16="http://schemas.microsoft.com/office/drawing/2014/main" id="{03731CF1-097A-4587-9A9D-B7FB60875B88}"/>
              </a:ext>
            </a:extLst>
          </p:cNvPr>
          <p:cNvSpPr>
            <a:spLocks noGrp="1"/>
          </p:cNvSpPr>
          <p:nvPr/>
        </p:nvSpPr>
        <p:spPr>
          <a:xfrm>
            <a:off x="2343150" y="5810250"/>
            <a:ext cx="22860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725">
                <a:solidFill>
                  <a:srgbClr val="626970"/>
                </a:solidFill>
                <a:latin typeface="Yozai"/>
                <a:ea typeface="Yozai"/>
                <a:cs typeface="Yozai"/>
              </a:defRPr>
            </a:pPr>
            <a:r>
              <a:rPr sz="1725">
                <a:solidFill>
                  <a:srgbClr val="626970"/>
                </a:solidFill>
                <a:latin typeface="Yozai"/>
                <a:ea typeface="Yozai"/>
                <a:cs typeface="Yozai"/>
              </a:rPr>
              <a:t>有效经销资格</a:t>
            </a:r>
          </a:p>
        </p:txBody>
      </p:sp>
      <p:sp>
        <p:nvSpPr>
          <p:cNvPr id="14" name="只读界面预览 · 文件下载与写入未执行">
            <a:extLst>
              <a:ext uri="{FF2B5EF4-FFF2-40B4-BE49-F238E27FC236}">
                <a16:creationId xmlns:a16="http://schemas.microsoft.com/office/drawing/2014/main" id="{6D5B54D7-2DD0-4774-91AB-C13DC5A77826}"/>
              </a:ext>
            </a:extLst>
          </p:cNvPr>
          <p:cNvSpPr>
            <a:spLocks noGrp="1"/>
          </p:cNvSpPr>
          <p:nvPr/>
        </p:nvSpPr>
        <p:spPr>
          <a:xfrm>
            <a:off x="571500" y="6134100"/>
            <a:ext cx="11049000" cy="2571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buNone/>
              <a:defRPr sz="1275">
                <a:solidFill>
                  <a:srgbClr val="626970"/>
                </a:solidFill>
                <a:latin typeface="Yozai"/>
                <a:ea typeface="Yozai"/>
                <a:cs typeface="Yozai"/>
              </a:defRPr>
            </a:pPr>
            <a:r>
              <a:rPr sz="1275">
                <a:solidFill>
                  <a:srgbClr val="626970"/>
                </a:solidFill>
                <a:latin typeface="Yozai"/>
                <a:ea typeface="Yozai"/>
                <a:cs typeface="Yozai"/>
              </a:rPr>
              <a:t>只读界面预览 · 文件下载与写入未执行</a:t>
            </a:r>
          </a:p>
        </p:txBody>
      </p:sp>
    </p:spTree>
    <p:extLst>
      <p:ext uri="{BB962C8B-B14F-4D97-AF65-F5344CB8AC3E}">
        <p14:creationId xmlns:p14="http://schemas.microsoft.com/office/powerpoint/2010/main" val="12058445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11 / ARCHITECTURE">
            <a:extLst>
              <a:ext uri="{FF2B5EF4-FFF2-40B4-BE49-F238E27FC236}">
                <a16:creationId xmlns:a16="http://schemas.microsoft.com/office/drawing/2014/main" id="{7F89D70F-6F3E-4AB0-925B-58E1F83DBF5C}"/>
              </a:ext>
            </a:extLst>
          </p:cNvPr>
          <p:cNvSpPr>
            <a:spLocks noGrp="1"/>
          </p:cNvSpPr>
          <p:nvPr/>
        </p:nvSpPr>
        <p:spPr>
          <a:xfrm>
            <a:off x="571500" y="29527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350">
                <a:solidFill>
                  <a:srgbClr val="355F52"/>
                </a:solidFill>
                <a:latin typeface="Barlow Condensed SemiBold"/>
                <a:ea typeface="Barlow Condensed SemiBold"/>
                <a:cs typeface="Barlow Condensed SemiBold"/>
              </a:defRPr>
            </a:pPr>
            <a:r>
              <a:rPr sz="1350">
                <a:solidFill>
                  <a:srgbClr val="355F52"/>
                </a:solidFill>
                <a:latin typeface="Barlow Condensed SemiBold"/>
                <a:ea typeface="Barlow Condensed SemiBold"/>
                <a:cs typeface="Barlow Condensed SemiBold"/>
              </a:rPr>
              <a:t>11 / ARCHITECTURE</a:t>
            </a:r>
          </a:p>
        </p:txBody>
      </p:sp>
      <p:sp>
        <p:nvSpPr>
          <p:cNvPr id="2" name="模块化单体架构">
            <a:extLst>
              <a:ext uri="{FF2B5EF4-FFF2-40B4-BE49-F238E27FC236}">
                <a16:creationId xmlns:a16="http://schemas.microsoft.com/office/drawing/2014/main" id="{F9B69234-31FC-4CF8-814B-52102E731A66}"/>
              </a:ext>
            </a:extLst>
          </p:cNvPr>
          <p:cNvSpPr>
            <a:spLocks noGrp="1"/>
          </p:cNvSpPr>
          <p:nvPr/>
        </p:nvSpPr>
        <p:spPr>
          <a:xfrm>
            <a:off x="571500" y="647700"/>
            <a:ext cx="11049000" cy="504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850">
                <a:solidFill>
                  <a:srgbClr val="292E32"/>
                </a:solidFill>
                <a:latin typeface="Yozai Medium"/>
                <a:ea typeface="Yozai Medium"/>
                <a:cs typeface="Yozai Medium"/>
              </a:defRPr>
            </a:pPr>
            <a:r>
              <a:rPr sz="2850">
                <a:solidFill>
                  <a:srgbClr val="292E32"/>
                </a:solidFill>
                <a:latin typeface="Yozai Medium"/>
                <a:ea typeface="Yozai Medium"/>
                <a:cs typeface="Yozai Medium"/>
              </a:rPr>
              <a:t>模块化单体架构</a:t>
            </a:r>
          </a:p>
        </p:txBody>
      </p:sp>
      <p:sp>
        <p:nvSpPr>
          <p:cNvPr id="3" name="一个前端、一个后端进程，业务模块各自组织规则与数据">
            <a:extLst>
              <a:ext uri="{FF2B5EF4-FFF2-40B4-BE49-F238E27FC236}">
                <a16:creationId xmlns:a16="http://schemas.microsoft.com/office/drawing/2014/main" id="{45103DCF-4165-4B13-BC6C-40CF4F9CAD8C}"/>
              </a:ext>
            </a:extLst>
          </p:cNvPr>
          <p:cNvSpPr>
            <a:spLocks noGrp="1"/>
          </p:cNvSpPr>
          <p:nvPr/>
        </p:nvSpPr>
        <p:spPr>
          <a:xfrm>
            <a:off x="590550" y="1190625"/>
            <a:ext cx="110299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725">
                <a:solidFill>
                  <a:srgbClr val="626970"/>
                </a:solidFill>
                <a:latin typeface="Yozai"/>
                <a:ea typeface="Yozai"/>
                <a:cs typeface="Yozai"/>
              </a:defRPr>
            </a:pPr>
            <a:r>
              <a:rPr sz="1725">
                <a:solidFill>
                  <a:srgbClr val="626970"/>
                </a:solidFill>
                <a:latin typeface="Yozai"/>
                <a:ea typeface="Yozai"/>
                <a:cs typeface="Yozai"/>
              </a:rPr>
              <a:t>一个前端、一个后端进程，业务模块各自组织规则与数据</a:t>
            </a:r>
          </a:p>
        </p:txBody>
      </p:sp>
      <p:sp>
        <p:nvSpPr>
          <p:cNvPr id="4" name="WEMOVE">
            <a:extLst>
              <a:ext uri="{FF2B5EF4-FFF2-40B4-BE49-F238E27FC236}">
                <a16:creationId xmlns:a16="http://schemas.microsoft.com/office/drawing/2014/main" id="{BDEA124D-A5EF-4AB0-9CB9-FB4E3A3641A5}"/>
              </a:ext>
            </a:extLst>
          </p:cNvPr>
          <p:cNvSpPr>
            <a:spLocks noGrp="1"/>
          </p:cNvSpPr>
          <p:nvPr/>
        </p:nvSpPr>
        <p:spPr>
          <a:xfrm>
            <a:off x="571500" y="6467475"/>
            <a:ext cx="19050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350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defRPr>
            </a:pPr>
            <a:r>
              <a:rPr sz="1350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rPr>
              <a:t>WEMOVE</a:t>
            </a:r>
          </a:p>
        </p:txBody>
      </p:sp>
      <p:sp>
        <p:nvSpPr>
          <p:cNvPr id="5" name="12">
            <a:extLst>
              <a:ext uri="{FF2B5EF4-FFF2-40B4-BE49-F238E27FC236}">
                <a16:creationId xmlns:a16="http://schemas.microsoft.com/office/drawing/2014/main" id="{35B99BD9-0A55-4693-9921-4D864093ECB3}"/>
              </a:ext>
            </a:extLst>
          </p:cNvPr>
          <p:cNvSpPr>
            <a:spLocks noGrp="1"/>
          </p:cNvSpPr>
          <p:nvPr/>
        </p:nvSpPr>
        <p:spPr>
          <a:xfrm>
            <a:off x="11049000" y="6467475"/>
            <a:ext cx="5715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buNone/>
              <a:defRPr sz="1425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defRPr>
            </a:pPr>
            <a:r>
              <a:rPr sz="1425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rPr>
              <a:t>12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86475974-01E9-4B28-81F5-4776BD9741BA}"/>
              </a:ext>
            </a:extLst>
          </p:cNvPr>
          <p:cNvSpPr>
            <a:spLocks noGrp="1"/>
          </p:cNvSpPr>
          <p:nvPr/>
        </p:nvSpPr>
        <p:spPr>
          <a:xfrm>
            <a:off x="723900" y="1638300"/>
            <a:ext cx="10744200" cy="619125"/>
          </a:xfrm>
          <a:prstGeom prst="roundRect">
            <a:avLst>
              <a:gd name="adj" fmla="val 18462"/>
            </a:avLst>
          </a:prstGeom>
          <a:solidFill>
            <a:srgbClr val="FFFEFA"/>
          </a:solidFill>
          <a:ln w="11430">
            <a:solidFill>
              <a:srgbClr val="DCE0D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Vue 3 + TypeScript">
            <a:extLst>
              <a:ext uri="{FF2B5EF4-FFF2-40B4-BE49-F238E27FC236}">
                <a16:creationId xmlns:a16="http://schemas.microsoft.com/office/drawing/2014/main" id="{7BD936FE-4CD6-431C-9DEB-714E3B22CAF9}"/>
              </a:ext>
            </a:extLst>
          </p:cNvPr>
          <p:cNvSpPr>
            <a:spLocks noGrp="1"/>
          </p:cNvSpPr>
          <p:nvPr/>
        </p:nvSpPr>
        <p:spPr>
          <a:xfrm>
            <a:off x="942975" y="1790700"/>
            <a:ext cx="30670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025">
                <a:solidFill>
                  <a:srgbClr val="355F52"/>
                </a:solidFill>
                <a:latin typeface="Yozai Medium"/>
                <a:ea typeface="Yozai Medium"/>
                <a:cs typeface="Yozai Medium"/>
              </a:defRPr>
            </a:pPr>
            <a:r>
              <a:rPr sz="2025">
                <a:solidFill>
                  <a:srgbClr val="355F52"/>
                </a:solidFill>
                <a:latin typeface="Yozai Medium"/>
                <a:ea typeface="Yozai Medium"/>
                <a:cs typeface="Yozai Medium"/>
              </a:rPr>
              <a:t>Vue 3 + TypeScript</a:t>
            </a:r>
          </a:p>
        </p:txBody>
      </p:sp>
      <p:sp>
        <p:nvSpPr>
          <p:cNvPr id="8" name="消费者页面　经销工作台　管理后台">
            <a:extLst>
              <a:ext uri="{FF2B5EF4-FFF2-40B4-BE49-F238E27FC236}">
                <a16:creationId xmlns:a16="http://schemas.microsoft.com/office/drawing/2014/main" id="{2B2B8CFB-6982-4A20-A67D-2ACDDCA10E92}"/>
              </a:ext>
            </a:extLst>
          </p:cNvPr>
          <p:cNvSpPr>
            <a:spLocks noGrp="1"/>
          </p:cNvSpPr>
          <p:nvPr/>
        </p:nvSpPr>
        <p:spPr>
          <a:xfrm>
            <a:off x="4324350" y="1790700"/>
            <a:ext cx="68389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buNone/>
              <a:defRPr sz="2025">
                <a:solidFill>
                  <a:srgbClr val="292E32"/>
                </a:solidFill>
                <a:latin typeface="Yozai"/>
                <a:ea typeface="Yozai"/>
                <a:cs typeface="Yozai"/>
              </a:defRPr>
            </a:pPr>
            <a:r>
              <a:rPr sz="2025">
                <a:solidFill>
                  <a:srgbClr val="292E32"/>
                </a:solidFill>
                <a:latin typeface="Yozai"/>
                <a:ea typeface="Yozai"/>
                <a:cs typeface="Yozai"/>
              </a:rPr>
              <a:t>消费者页面　经销工作台　管理后台</a:t>
            </a:r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9FA77EBC-9DF0-475A-A820-426BF35843C6}"/>
              </a:ext>
            </a:extLst>
          </p:cNvPr>
          <p:cNvSpPr>
            <a:spLocks noGrp="1"/>
          </p:cNvSpPr>
          <p:nvPr/>
        </p:nvSpPr>
        <p:spPr>
          <a:xfrm>
            <a:off x="723900" y="2724150"/>
            <a:ext cx="10744200" cy="2543175"/>
          </a:xfrm>
          <a:prstGeom prst="roundRect">
            <a:avLst>
              <a:gd name="adj" fmla="val 5618"/>
            </a:avLst>
          </a:prstGeom>
          <a:solidFill>
            <a:srgbClr val="ECF1EC"/>
          </a:solidFill>
          <a:ln w="11430">
            <a:solidFill>
              <a:srgbClr val="DCE0D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0" name="Spring Boot + Java 21">
            <a:extLst>
              <a:ext uri="{FF2B5EF4-FFF2-40B4-BE49-F238E27FC236}">
                <a16:creationId xmlns:a16="http://schemas.microsoft.com/office/drawing/2014/main" id="{2D89FF20-D542-4581-8396-10C704658C49}"/>
              </a:ext>
            </a:extLst>
          </p:cNvPr>
          <p:cNvSpPr>
            <a:spLocks noGrp="1"/>
          </p:cNvSpPr>
          <p:nvPr/>
        </p:nvSpPr>
        <p:spPr>
          <a:xfrm>
            <a:off x="952500" y="2857500"/>
            <a:ext cx="4333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950">
                <a:solidFill>
                  <a:srgbClr val="355F52"/>
                </a:solidFill>
                <a:latin typeface="Yozai Medium"/>
                <a:ea typeface="Yozai Medium"/>
                <a:cs typeface="Yozai Medium"/>
              </a:defRPr>
            </a:pPr>
            <a:r>
              <a:rPr sz="1950">
                <a:solidFill>
                  <a:srgbClr val="355F52"/>
                </a:solidFill>
                <a:latin typeface="Yozai Medium"/>
                <a:ea typeface="Yozai Medium"/>
                <a:cs typeface="Yozai Medium"/>
              </a:rPr>
              <a:t>Spring Boot + Java 21</a:t>
            </a:r>
          </a:p>
        </p:txBody>
      </p:sp>
      <p:sp>
        <p:nvSpPr>
          <p:cNvPr id="11" name="同一应用内的业务协作">
            <a:extLst>
              <a:ext uri="{FF2B5EF4-FFF2-40B4-BE49-F238E27FC236}">
                <a16:creationId xmlns:a16="http://schemas.microsoft.com/office/drawing/2014/main" id="{550ED769-6E17-4ADD-A6E9-18A64807B2F2}"/>
              </a:ext>
            </a:extLst>
          </p:cNvPr>
          <p:cNvSpPr>
            <a:spLocks noGrp="1"/>
          </p:cNvSpPr>
          <p:nvPr/>
        </p:nvSpPr>
        <p:spPr>
          <a:xfrm>
            <a:off x="7486650" y="2867025"/>
            <a:ext cx="3714750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buNone/>
              <a:defRPr sz="1800">
                <a:solidFill>
                  <a:srgbClr val="626970"/>
                </a:solidFill>
                <a:latin typeface="Yozai"/>
                <a:ea typeface="Yozai"/>
                <a:cs typeface="Yozai"/>
              </a:defRPr>
            </a:pPr>
            <a:r>
              <a:rPr sz="1800">
                <a:solidFill>
                  <a:srgbClr val="626970"/>
                </a:solidFill>
                <a:latin typeface="Yozai"/>
                <a:ea typeface="Yozai"/>
                <a:cs typeface="Yozai"/>
              </a:rPr>
              <a:t>同一应用内的业务协作</a:t>
            </a:r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C1A58A30-5F6D-44D5-AF7E-F50CB41DACEF}"/>
              </a:ext>
            </a:extLst>
          </p:cNvPr>
          <p:cNvSpPr>
            <a:spLocks noGrp="1"/>
          </p:cNvSpPr>
          <p:nvPr/>
        </p:nvSpPr>
        <p:spPr>
          <a:xfrm>
            <a:off x="952500" y="3314700"/>
            <a:ext cx="3124200" cy="647700"/>
          </a:xfrm>
          <a:prstGeom prst="roundRect">
            <a:avLst>
              <a:gd name="adj" fmla="val 16176"/>
            </a:avLst>
          </a:prstGeom>
          <a:solidFill>
            <a:srgbClr val="FFFEFA"/>
          </a:solidFill>
          <a:ln w="11430">
            <a:solidFill>
              <a:srgbClr val="DCE0D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A　身份与账户">
            <a:extLst>
              <a:ext uri="{FF2B5EF4-FFF2-40B4-BE49-F238E27FC236}">
                <a16:creationId xmlns:a16="http://schemas.microsoft.com/office/drawing/2014/main" id="{77737A4F-C960-4B81-AAF1-51055508885F}"/>
              </a:ext>
            </a:extLst>
          </p:cNvPr>
          <p:cNvSpPr>
            <a:spLocks noGrp="1"/>
          </p:cNvSpPr>
          <p:nvPr/>
        </p:nvSpPr>
        <p:spPr>
          <a:xfrm>
            <a:off x="1047750" y="3381375"/>
            <a:ext cx="29337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875">
                <a:solidFill>
                  <a:srgbClr val="292E32"/>
                </a:solidFill>
                <a:latin typeface="Yozai Medium"/>
                <a:ea typeface="Yozai Medium"/>
                <a:cs typeface="Yozai Medium"/>
              </a:defRPr>
            </a:pPr>
            <a:r>
              <a:rPr sz="1875">
                <a:solidFill>
                  <a:srgbClr val="292E32"/>
                </a:solidFill>
                <a:latin typeface="Yozai Medium"/>
                <a:ea typeface="Yozai Medium"/>
                <a:cs typeface="Yozai Medium"/>
              </a:rPr>
              <a:t>A　身份与账户</a:t>
            </a:r>
          </a:p>
        </p:txBody>
      </p:sp>
      <p:sp>
        <p:nvSpPr>
          <p:cNvPr id="14" name="identity">
            <a:extLst>
              <a:ext uri="{FF2B5EF4-FFF2-40B4-BE49-F238E27FC236}">
                <a16:creationId xmlns:a16="http://schemas.microsoft.com/office/drawing/2014/main" id="{63BE3DDD-5F70-47A6-B784-B68DF486FF61}"/>
              </a:ext>
            </a:extLst>
          </p:cNvPr>
          <p:cNvSpPr>
            <a:spLocks noGrp="1"/>
          </p:cNvSpPr>
          <p:nvPr/>
        </p:nvSpPr>
        <p:spPr>
          <a:xfrm>
            <a:off x="1047750" y="3695700"/>
            <a:ext cx="29337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500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defRPr>
            </a:pPr>
            <a:r>
              <a:rPr sz="1500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rPr>
              <a:t>identity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02908FF2-53B4-45C8-8D31-32370EB0190A}"/>
              </a:ext>
            </a:extLst>
          </p:cNvPr>
          <p:cNvSpPr>
            <a:spLocks noGrp="1"/>
          </p:cNvSpPr>
          <p:nvPr/>
        </p:nvSpPr>
        <p:spPr>
          <a:xfrm>
            <a:off x="4533900" y="3314700"/>
            <a:ext cx="3124200" cy="647700"/>
          </a:xfrm>
          <a:prstGeom prst="roundRect">
            <a:avLst>
              <a:gd name="adj" fmla="val 16176"/>
            </a:avLst>
          </a:prstGeom>
          <a:solidFill>
            <a:srgbClr val="FFFEFA"/>
          </a:solidFill>
          <a:ln w="11430">
            <a:solidFill>
              <a:srgbClr val="DCE0D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6" name="B　商品与库存">
            <a:extLst>
              <a:ext uri="{FF2B5EF4-FFF2-40B4-BE49-F238E27FC236}">
                <a16:creationId xmlns:a16="http://schemas.microsoft.com/office/drawing/2014/main" id="{99784F26-CB24-4C46-A8AB-AE20D2992147}"/>
              </a:ext>
            </a:extLst>
          </p:cNvPr>
          <p:cNvSpPr>
            <a:spLocks noGrp="1"/>
          </p:cNvSpPr>
          <p:nvPr/>
        </p:nvSpPr>
        <p:spPr>
          <a:xfrm>
            <a:off x="4629150" y="3381375"/>
            <a:ext cx="29337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875">
                <a:solidFill>
                  <a:srgbClr val="292E32"/>
                </a:solidFill>
                <a:latin typeface="Yozai Medium"/>
                <a:ea typeface="Yozai Medium"/>
                <a:cs typeface="Yozai Medium"/>
              </a:defRPr>
            </a:pPr>
            <a:r>
              <a:rPr sz="1875">
                <a:solidFill>
                  <a:srgbClr val="292E32"/>
                </a:solidFill>
                <a:latin typeface="Yozai Medium"/>
                <a:ea typeface="Yozai Medium"/>
                <a:cs typeface="Yozai Medium"/>
              </a:rPr>
              <a:t>B　商品与库存</a:t>
            </a:r>
          </a:p>
        </p:txBody>
      </p:sp>
      <p:sp>
        <p:nvSpPr>
          <p:cNvPr id="17" name="catalog">
            <a:extLst>
              <a:ext uri="{FF2B5EF4-FFF2-40B4-BE49-F238E27FC236}">
                <a16:creationId xmlns:a16="http://schemas.microsoft.com/office/drawing/2014/main" id="{1852FEEE-F6F2-4F79-A2BE-DC9E6DC875F1}"/>
              </a:ext>
            </a:extLst>
          </p:cNvPr>
          <p:cNvSpPr>
            <a:spLocks noGrp="1"/>
          </p:cNvSpPr>
          <p:nvPr/>
        </p:nvSpPr>
        <p:spPr>
          <a:xfrm>
            <a:off x="4629150" y="3695700"/>
            <a:ext cx="29337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500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defRPr>
            </a:pPr>
            <a:r>
              <a:rPr sz="1500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rPr>
              <a:t>catalog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AD60D1F3-B258-45A5-82D3-AD50DAB1A91C}"/>
              </a:ext>
            </a:extLst>
          </p:cNvPr>
          <p:cNvSpPr>
            <a:spLocks noGrp="1"/>
          </p:cNvSpPr>
          <p:nvPr/>
        </p:nvSpPr>
        <p:spPr>
          <a:xfrm>
            <a:off x="8115300" y="3314700"/>
            <a:ext cx="3124200" cy="647700"/>
          </a:xfrm>
          <a:prstGeom prst="roundRect">
            <a:avLst>
              <a:gd name="adj" fmla="val 16176"/>
            </a:avLst>
          </a:prstGeom>
          <a:solidFill>
            <a:srgbClr val="FFFEFA"/>
          </a:solidFill>
          <a:ln w="11430">
            <a:solidFill>
              <a:srgbClr val="DCE0D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9" name="C　购物车与订单">
            <a:extLst>
              <a:ext uri="{FF2B5EF4-FFF2-40B4-BE49-F238E27FC236}">
                <a16:creationId xmlns:a16="http://schemas.microsoft.com/office/drawing/2014/main" id="{9DE1D342-45BB-46A6-8D45-4C9CE1C463DC}"/>
              </a:ext>
            </a:extLst>
          </p:cNvPr>
          <p:cNvSpPr>
            <a:spLocks noGrp="1"/>
          </p:cNvSpPr>
          <p:nvPr/>
        </p:nvSpPr>
        <p:spPr>
          <a:xfrm>
            <a:off x="8210550" y="3381375"/>
            <a:ext cx="29337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875">
                <a:solidFill>
                  <a:srgbClr val="292E32"/>
                </a:solidFill>
                <a:latin typeface="Yozai Medium"/>
                <a:ea typeface="Yozai Medium"/>
                <a:cs typeface="Yozai Medium"/>
              </a:defRPr>
            </a:pPr>
            <a:r>
              <a:rPr sz="1875">
                <a:solidFill>
                  <a:srgbClr val="292E32"/>
                </a:solidFill>
                <a:latin typeface="Yozai Medium"/>
                <a:ea typeface="Yozai Medium"/>
                <a:cs typeface="Yozai Medium"/>
              </a:rPr>
              <a:t>C　购物车与订单</a:t>
            </a:r>
          </a:p>
        </p:txBody>
      </p:sp>
      <p:sp>
        <p:nvSpPr>
          <p:cNvPr id="20" name="commerce">
            <a:extLst>
              <a:ext uri="{FF2B5EF4-FFF2-40B4-BE49-F238E27FC236}">
                <a16:creationId xmlns:a16="http://schemas.microsoft.com/office/drawing/2014/main" id="{0822367A-D027-4CC3-8F8C-6B127E3E5453}"/>
              </a:ext>
            </a:extLst>
          </p:cNvPr>
          <p:cNvSpPr>
            <a:spLocks noGrp="1"/>
          </p:cNvSpPr>
          <p:nvPr/>
        </p:nvSpPr>
        <p:spPr>
          <a:xfrm>
            <a:off x="8210550" y="3695700"/>
            <a:ext cx="29337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500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defRPr>
            </a:pPr>
            <a:r>
              <a:rPr sz="1500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rPr>
              <a:t>commerce</a:t>
            </a: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7E825FC2-7520-4F66-8C95-50D8E8278D21}"/>
              </a:ext>
            </a:extLst>
          </p:cNvPr>
          <p:cNvSpPr>
            <a:spLocks noGrp="1"/>
          </p:cNvSpPr>
          <p:nvPr/>
        </p:nvSpPr>
        <p:spPr>
          <a:xfrm>
            <a:off x="952500" y="4152900"/>
            <a:ext cx="3124200" cy="647700"/>
          </a:xfrm>
          <a:prstGeom prst="roundRect">
            <a:avLst>
              <a:gd name="adj" fmla="val 16176"/>
            </a:avLst>
          </a:prstGeom>
          <a:solidFill>
            <a:srgbClr val="FFFEFA"/>
          </a:solidFill>
          <a:ln w="11430">
            <a:solidFill>
              <a:srgbClr val="DCE0D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E　站点、内容与文件">
            <a:extLst>
              <a:ext uri="{FF2B5EF4-FFF2-40B4-BE49-F238E27FC236}">
                <a16:creationId xmlns:a16="http://schemas.microsoft.com/office/drawing/2014/main" id="{C5D5BD91-30D9-445D-A009-30EE957DA3D2}"/>
              </a:ext>
            </a:extLst>
          </p:cNvPr>
          <p:cNvSpPr>
            <a:spLocks noGrp="1"/>
          </p:cNvSpPr>
          <p:nvPr/>
        </p:nvSpPr>
        <p:spPr>
          <a:xfrm>
            <a:off x="1047750" y="4219575"/>
            <a:ext cx="29337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875">
                <a:solidFill>
                  <a:srgbClr val="292E32"/>
                </a:solidFill>
                <a:latin typeface="Yozai Medium"/>
                <a:ea typeface="Yozai Medium"/>
                <a:cs typeface="Yozai Medium"/>
              </a:defRPr>
            </a:pPr>
            <a:r>
              <a:rPr sz="1875">
                <a:solidFill>
                  <a:srgbClr val="292E32"/>
                </a:solidFill>
                <a:latin typeface="Yozai Medium"/>
                <a:ea typeface="Yozai Medium"/>
                <a:cs typeface="Yozai Medium"/>
              </a:rPr>
              <a:t>E　站点、内容与文件</a:t>
            </a:r>
          </a:p>
        </p:txBody>
      </p:sp>
      <p:sp>
        <p:nvSpPr>
          <p:cNvPr id="23" name="content">
            <a:extLst>
              <a:ext uri="{FF2B5EF4-FFF2-40B4-BE49-F238E27FC236}">
                <a16:creationId xmlns:a16="http://schemas.microsoft.com/office/drawing/2014/main" id="{AA39A9E9-A32F-4307-B389-768AFF4BA3D8}"/>
              </a:ext>
            </a:extLst>
          </p:cNvPr>
          <p:cNvSpPr>
            <a:spLocks noGrp="1"/>
          </p:cNvSpPr>
          <p:nvPr/>
        </p:nvSpPr>
        <p:spPr>
          <a:xfrm>
            <a:off x="1047750" y="4533900"/>
            <a:ext cx="29337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500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defRPr>
            </a:pPr>
            <a:r>
              <a:rPr sz="1500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rPr>
              <a:t>content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5BB80639-4760-4D5C-B38E-AEF8AD17B2D4}"/>
              </a:ext>
            </a:extLst>
          </p:cNvPr>
          <p:cNvSpPr>
            <a:spLocks noGrp="1"/>
          </p:cNvSpPr>
          <p:nvPr/>
        </p:nvSpPr>
        <p:spPr>
          <a:xfrm>
            <a:off x="4533900" y="4152900"/>
            <a:ext cx="3124200" cy="647700"/>
          </a:xfrm>
          <a:prstGeom prst="roundRect">
            <a:avLst>
              <a:gd name="adj" fmla="val 16176"/>
            </a:avLst>
          </a:prstGeom>
          <a:solidFill>
            <a:srgbClr val="FFFEFA"/>
          </a:solidFill>
          <a:ln w="11430">
            <a:solidFill>
              <a:srgbClr val="DCE0D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D　经销申请与询价">
            <a:extLst>
              <a:ext uri="{FF2B5EF4-FFF2-40B4-BE49-F238E27FC236}">
                <a16:creationId xmlns:a16="http://schemas.microsoft.com/office/drawing/2014/main" id="{951836AB-AF69-494A-A802-BC7C53593B51}"/>
              </a:ext>
            </a:extLst>
          </p:cNvPr>
          <p:cNvSpPr>
            <a:spLocks noGrp="1"/>
          </p:cNvSpPr>
          <p:nvPr/>
        </p:nvSpPr>
        <p:spPr>
          <a:xfrm>
            <a:off x="4629150" y="4219575"/>
            <a:ext cx="29337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875">
                <a:solidFill>
                  <a:srgbClr val="292E32"/>
                </a:solidFill>
                <a:latin typeface="Yozai Medium"/>
                <a:ea typeface="Yozai Medium"/>
                <a:cs typeface="Yozai Medium"/>
              </a:defRPr>
            </a:pPr>
            <a:r>
              <a:rPr sz="1875">
                <a:solidFill>
                  <a:srgbClr val="292E32"/>
                </a:solidFill>
                <a:latin typeface="Yozai Medium"/>
                <a:ea typeface="Yozai Medium"/>
                <a:cs typeface="Yozai Medium"/>
              </a:rPr>
              <a:t>D　经销申请与询价</a:t>
            </a:r>
          </a:p>
        </p:txBody>
      </p:sp>
      <p:sp>
        <p:nvSpPr>
          <p:cNvPr id="26" name="dealership">
            <a:extLst>
              <a:ext uri="{FF2B5EF4-FFF2-40B4-BE49-F238E27FC236}">
                <a16:creationId xmlns:a16="http://schemas.microsoft.com/office/drawing/2014/main" id="{373DA91B-12E0-4FD2-AC14-F0823727FEB1}"/>
              </a:ext>
            </a:extLst>
          </p:cNvPr>
          <p:cNvSpPr>
            <a:spLocks noGrp="1"/>
          </p:cNvSpPr>
          <p:nvPr/>
        </p:nvSpPr>
        <p:spPr>
          <a:xfrm>
            <a:off x="4629150" y="4533900"/>
            <a:ext cx="29337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500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defRPr>
            </a:pPr>
            <a:r>
              <a:rPr sz="1500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rPr>
              <a:t>dealership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D79F93AD-6F04-4DBB-846F-CA19DBCB36E1}"/>
              </a:ext>
            </a:extLst>
          </p:cNvPr>
          <p:cNvSpPr>
            <a:spLocks noGrp="1"/>
          </p:cNvSpPr>
          <p:nvPr/>
        </p:nvSpPr>
        <p:spPr>
          <a:xfrm>
            <a:off x="8115300" y="4152900"/>
            <a:ext cx="3124200" cy="647700"/>
          </a:xfrm>
          <a:prstGeom prst="roundRect">
            <a:avLst>
              <a:gd name="adj" fmla="val 16176"/>
            </a:avLst>
          </a:prstGeom>
          <a:solidFill>
            <a:srgbClr val="FFFEFA"/>
          </a:solidFill>
          <a:ln w="11430">
            <a:solidFill>
              <a:srgbClr val="DCE0D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" name="F　工单、总览与审计">
            <a:extLst>
              <a:ext uri="{FF2B5EF4-FFF2-40B4-BE49-F238E27FC236}">
                <a16:creationId xmlns:a16="http://schemas.microsoft.com/office/drawing/2014/main" id="{CA9FA0F0-5A50-4D73-830D-C4B64E560BF3}"/>
              </a:ext>
            </a:extLst>
          </p:cNvPr>
          <p:cNvSpPr>
            <a:spLocks noGrp="1"/>
          </p:cNvSpPr>
          <p:nvPr/>
        </p:nvSpPr>
        <p:spPr>
          <a:xfrm>
            <a:off x="8210550" y="4219575"/>
            <a:ext cx="29337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875">
                <a:solidFill>
                  <a:srgbClr val="292E32"/>
                </a:solidFill>
                <a:latin typeface="Yozai Medium"/>
                <a:ea typeface="Yozai Medium"/>
                <a:cs typeface="Yozai Medium"/>
              </a:defRPr>
            </a:pPr>
            <a:r>
              <a:rPr sz="1875">
                <a:solidFill>
                  <a:srgbClr val="292E32"/>
                </a:solidFill>
                <a:latin typeface="Yozai Medium"/>
                <a:ea typeface="Yozai Medium"/>
                <a:cs typeface="Yozai Medium"/>
              </a:rPr>
              <a:t>F　工单、总览与审计</a:t>
            </a:r>
          </a:p>
        </p:txBody>
      </p:sp>
      <p:sp>
        <p:nvSpPr>
          <p:cNvPr id="29" name="support / operations">
            <a:extLst>
              <a:ext uri="{FF2B5EF4-FFF2-40B4-BE49-F238E27FC236}">
                <a16:creationId xmlns:a16="http://schemas.microsoft.com/office/drawing/2014/main" id="{5735960F-3766-432D-A032-D9E070DF1478}"/>
              </a:ext>
            </a:extLst>
          </p:cNvPr>
          <p:cNvSpPr>
            <a:spLocks noGrp="1"/>
          </p:cNvSpPr>
          <p:nvPr/>
        </p:nvSpPr>
        <p:spPr>
          <a:xfrm>
            <a:off x="8210550" y="4533900"/>
            <a:ext cx="29337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500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defRPr>
            </a:pPr>
            <a:r>
              <a:rPr sz="1500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rPr>
              <a:t>support / operations</a:t>
            </a:r>
          </a:p>
        </p:txBody>
      </p:sp>
      <p:cxnSp>
        <p:nvCxnSpPr>
          <p:cNvPr id="101" name="直线箭头连接符 66"/>
          <p:cNvCxnSpPr>
            <a:stCxn id="18" idx="1"/>
            <a:endCxn id="15" idx="3"/>
          </p:cNvCxnSpPr>
          <p:nvPr/>
        </p:nvCxnSpPr>
        <p:spPr>
          <a:xfrm flipH="1">
            <a:off x="7658100" y="3638550"/>
            <a:ext cx="457200" cy="0"/>
          </a:xfrm>
          <a:prstGeom prst="straightConnector1">
            <a:avLst/>
          </a:prstGeom>
          <a:ln w="22860">
            <a:solidFill>
              <a:srgbClr val="355F52"/>
            </a:solidFill>
            <a:prstDash val="solid"/>
            <a:tailEnd type="triangle" w="sm" len="sm"/>
          </a:ln>
        </p:spPr>
      </p:cxnSp>
      <p:sp>
        <p:nvSpPr>
          <p:cNvPr id="31" name="共享能力：身份端口、事务、幂等、错误响应与请求追踪">
            <a:extLst>
              <a:ext uri="{FF2B5EF4-FFF2-40B4-BE49-F238E27FC236}">
                <a16:creationId xmlns:a16="http://schemas.microsoft.com/office/drawing/2014/main" id="{3A811BD2-6D77-437F-AC1D-5F36757794B5}"/>
              </a:ext>
            </a:extLst>
          </p:cNvPr>
          <p:cNvSpPr>
            <a:spLocks noGrp="1"/>
          </p:cNvSpPr>
          <p:nvPr/>
        </p:nvSpPr>
        <p:spPr>
          <a:xfrm>
            <a:off x="952500" y="4905375"/>
            <a:ext cx="102870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725">
                <a:solidFill>
                  <a:srgbClr val="355F52"/>
                </a:solidFill>
                <a:latin typeface="Yozai"/>
                <a:ea typeface="Yozai"/>
                <a:cs typeface="Yozai"/>
              </a:defRPr>
            </a:pPr>
            <a:r>
              <a:rPr sz="1725">
                <a:solidFill>
                  <a:srgbClr val="355F52"/>
                </a:solidFill>
                <a:latin typeface="Yozai"/>
                <a:ea typeface="Yozai"/>
                <a:cs typeface="Yozai"/>
              </a:rPr>
              <a:t>共享能力：身份端口、事务、幂等、错误响应与请求追踪</a:t>
            </a:r>
          </a:p>
        </p:txBody>
      </p:sp>
      <p:sp>
        <p:nvSpPr>
          <p:cNvPr id="32" name="architecture-mysql">
            <a:extLst>
              <a:ext uri="{FF2B5EF4-FFF2-40B4-BE49-F238E27FC236}">
                <a16:creationId xmlns:a16="http://schemas.microsoft.com/office/drawing/2014/main" id="{7D878A20-2FA2-4FDC-87A5-A6269FD3433E}"/>
              </a:ext>
            </a:extLst>
          </p:cNvPr>
          <p:cNvSpPr>
            <a:spLocks noGrp="1"/>
          </p:cNvSpPr>
          <p:nvPr/>
        </p:nvSpPr>
        <p:spPr>
          <a:xfrm>
            <a:off x="3676650" y="5543550"/>
            <a:ext cx="4838700" cy="514350"/>
          </a:xfrm>
          <a:prstGeom prst="can">
            <a:avLst/>
          </a:prstGeom>
          <a:solidFill>
            <a:srgbClr val="FFFEFA"/>
          </a:solidFill>
          <a:ln w="14288">
            <a:solidFill>
              <a:srgbClr val="355F52"/>
            </a:solidFill>
          </a:ln>
        </p:spPr>
        <p:txBody>
          <a:bodyPr/>
          <a:lstStyle/>
          <a:p>
            <a:endParaRPr/>
          </a:p>
        </p:txBody>
      </p:sp>
      <p:cxnSp>
        <p:nvCxnSpPr>
          <p:cNvPr id="104" name="直线箭头连接符 69"/>
          <p:cNvCxnSpPr>
            <a:stCxn id="6" idx="2"/>
            <a:endCxn id="9" idx="0"/>
          </p:cNvCxnSpPr>
          <p:nvPr/>
        </p:nvCxnSpPr>
        <p:spPr>
          <a:xfrm>
            <a:off x="6096000" y="2257425"/>
            <a:ext cx="0" cy="466725"/>
          </a:xfrm>
          <a:prstGeom prst="straightConnector1">
            <a:avLst/>
          </a:prstGeom>
          <a:ln w="22860">
            <a:solidFill>
              <a:srgbClr val="355F52"/>
            </a:solidFill>
            <a:prstDash val="solid"/>
            <a:tailEnd type="triangle" w="sm" len="sm"/>
          </a:ln>
        </p:spPr>
      </p:cxnSp>
      <p:cxnSp>
        <p:nvCxnSpPr>
          <p:cNvPr id="105" name="直线箭头连接符 70"/>
          <p:cNvCxnSpPr>
            <a:stCxn id="9" idx="2"/>
            <a:endCxn id="32" idx="1"/>
          </p:cNvCxnSpPr>
          <p:nvPr/>
        </p:nvCxnSpPr>
        <p:spPr>
          <a:xfrm>
            <a:off x="6096000" y="5267325"/>
            <a:ext cx="0" cy="276225"/>
          </a:xfrm>
          <a:prstGeom prst="straightConnector1">
            <a:avLst/>
          </a:prstGeom>
          <a:ln w="22860">
            <a:solidFill>
              <a:srgbClr val="355F52"/>
            </a:solidFill>
            <a:prstDash val="solid"/>
            <a:tailEnd type="triangle" w="sm" len="sm"/>
          </a:ln>
        </p:spPr>
      </p:cxnSp>
      <p:sp>
        <p:nvSpPr>
          <p:cNvPr id="35" name="HTTP API">
            <a:extLst>
              <a:ext uri="{FF2B5EF4-FFF2-40B4-BE49-F238E27FC236}">
                <a16:creationId xmlns:a16="http://schemas.microsoft.com/office/drawing/2014/main" id="{FA38F4E0-07F9-4DC2-AD58-36D1EA7C0C11}"/>
              </a:ext>
            </a:extLst>
          </p:cNvPr>
          <p:cNvSpPr>
            <a:spLocks noGrp="1"/>
          </p:cNvSpPr>
          <p:nvPr/>
        </p:nvSpPr>
        <p:spPr>
          <a:xfrm>
            <a:off x="6362700" y="2343150"/>
            <a:ext cx="171450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575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defRPr>
            </a:pPr>
            <a:r>
              <a:rPr sz="1575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rPr>
              <a:t>HTTP API</a:t>
            </a:r>
          </a:p>
        </p:txBody>
      </p:sp>
      <p:sp>
        <p:nvSpPr>
          <p:cNvPr id="36" name="本地数据库事务">
            <a:extLst>
              <a:ext uri="{FF2B5EF4-FFF2-40B4-BE49-F238E27FC236}">
                <a16:creationId xmlns:a16="http://schemas.microsoft.com/office/drawing/2014/main" id="{EB7F9984-AB64-407D-B5C7-FAF73814FB59}"/>
              </a:ext>
            </a:extLst>
          </p:cNvPr>
          <p:cNvSpPr>
            <a:spLocks noGrp="1"/>
          </p:cNvSpPr>
          <p:nvPr/>
        </p:nvSpPr>
        <p:spPr>
          <a:xfrm>
            <a:off x="6334125" y="5314950"/>
            <a:ext cx="260032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650">
                <a:solidFill>
                  <a:srgbClr val="626970"/>
                </a:solidFill>
                <a:latin typeface="Yozai"/>
                <a:ea typeface="Yozai"/>
                <a:cs typeface="Yozai"/>
              </a:defRPr>
            </a:pPr>
            <a:r>
              <a:rPr sz="1650">
                <a:solidFill>
                  <a:srgbClr val="626970"/>
                </a:solidFill>
                <a:latin typeface="Yozai"/>
                <a:ea typeface="Yozai"/>
                <a:cs typeface="Yozai"/>
              </a:rPr>
              <a:t>本地数据库事务</a:t>
            </a:r>
          </a:p>
        </p:txBody>
      </p:sp>
      <p:sp>
        <p:nvSpPr>
          <p:cNvPr id="37" name="MySQL　／　Flyway 迁移">
            <a:extLst>
              <a:ext uri="{FF2B5EF4-FFF2-40B4-BE49-F238E27FC236}">
                <a16:creationId xmlns:a16="http://schemas.microsoft.com/office/drawing/2014/main" id="{B3E94184-6D9E-4325-861D-79C113D762E8}"/>
              </a:ext>
            </a:extLst>
          </p:cNvPr>
          <p:cNvSpPr>
            <a:spLocks noGrp="1"/>
          </p:cNvSpPr>
          <p:nvPr/>
        </p:nvSpPr>
        <p:spPr>
          <a:xfrm>
            <a:off x="3962400" y="5695950"/>
            <a:ext cx="42672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875">
                <a:solidFill>
                  <a:srgbClr val="355F52"/>
                </a:solidFill>
                <a:latin typeface="Yozai Medium"/>
                <a:ea typeface="Yozai Medium"/>
                <a:cs typeface="Yozai Medium"/>
              </a:defRPr>
            </a:pPr>
            <a:r>
              <a:rPr sz="1875">
                <a:solidFill>
                  <a:srgbClr val="355F52"/>
                </a:solidFill>
                <a:latin typeface="Yozai Medium"/>
                <a:ea typeface="Yozai Medium"/>
                <a:cs typeface="Yozai Medium"/>
              </a:rPr>
              <a:t>MySQL　／　Flyway 迁移</a:t>
            </a:r>
          </a:p>
        </p:txBody>
      </p:sp>
    </p:spTree>
    <p:extLst>
      <p:ext uri="{BB962C8B-B14F-4D97-AF65-F5344CB8AC3E}">
        <p14:creationId xmlns:p14="http://schemas.microsoft.com/office/powerpoint/2010/main" val="1889234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12 / RELIABILITY">
            <a:extLst>
              <a:ext uri="{FF2B5EF4-FFF2-40B4-BE49-F238E27FC236}">
                <a16:creationId xmlns:a16="http://schemas.microsoft.com/office/drawing/2014/main" id="{7AAE8C75-2B87-484D-8305-CFF6C5863B83}"/>
              </a:ext>
            </a:extLst>
          </p:cNvPr>
          <p:cNvSpPr>
            <a:spLocks noGrp="1"/>
          </p:cNvSpPr>
          <p:nvPr/>
        </p:nvSpPr>
        <p:spPr>
          <a:xfrm>
            <a:off x="571500" y="29527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350">
                <a:solidFill>
                  <a:srgbClr val="355F52"/>
                </a:solidFill>
                <a:latin typeface="Barlow Condensed SemiBold"/>
                <a:ea typeface="Barlow Condensed SemiBold"/>
                <a:cs typeface="Barlow Condensed SemiBold"/>
              </a:defRPr>
            </a:pPr>
            <a:r>
              <a:rPr sz="1350">
                <a:solidFill>
                  <a:srgbClr val="355F52"/>
                </a:solidFill>
                <a:latin typeface="Barlow Condensed SemiBold"/>
                <a:ea typeface="Barlow Condensed SemiBold"/>
                <a:cs typeface="Barlow Condensed SemiBold"/>
              </a:rPr>
              <a:t>12 / RELIABILITY</a:t>
            </a:r>
          </a:p>
        </p:txBody>
      </p:sp>
      <p:sp>
        <p:nvSpPr>
          <p:cNvPr id="2" name="幂等请求与同一事务">
            <a:extLst>
              <a:ext uri="{FF2B5EF4-FFF2-40B4-BE49-F238E27FC236}">
                <a16:creationId xmlns:a16="http://schemas.microsoft.com/office/drawing/2014/main" id="{D932110C-75B8-49CD-8352-9589171490BA}"/>
              </a:ext>
            </a:extLst>
          </p:cNvPr>
          <p:cNvSpPr>
            <a:spLocks noGrp="1"/>
          </p:cNvSpPr>
          <p:nvPr/>
        </p:nvSpPr>
        <p:spPr>
          <a:xfrm>
            <a:off x="571500" y="647700"/>
            <a:ext cx="11049000" cy="504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850">
                <a:solidFill>
                  <a:srgbClr val="292E32"/>
                </a:solidFill>
                <a:latin typeface="Yozai Medium"/>
                <a:ea typeface="Yozai Medium"/>
                <a:cs typeface="Yozai Medium"/>
              </a:defRPr>
            </a:pPr>
            <a:r>
              <a:rPr sz="2850">
                <a:solidFill>
                  <a:srgbClr val="292E32"/>
                </a:solidFill>
                <a:latin typeface="Yozai Medium"/>
                <a:ea typeface="Yozai Medium"/>
                <a:cs typeface="Yozai Medium"/>
              </a:rPr>
              <a:t>幂等请求与同一事务</a:t>
            </a:r>
          </a:p>
        </p:txBody>
      </p:sp>
      <p:sp>
        <p:nvSpPr>
          <p:cNvPr id="3" name="以模拟付款为例，重复请求复用结果，首次执行保持订单与库存一致">
            <a:extLst>
              <a:ext uri="{FF2B5EF4-FFF2-40B4-BE49-F238E27FC236}">
                <a16:creationId xmlns:a16="http://schemas.microsoft.com/office/drawing/2014/main" id="{D957106D-9206-4CEF-B502-F483F763046A}"/>
              </a:ext>
            </a:extLst>
          </p:cNvPr>
          <p:cNvSpPr>
            <a:spLocks noGrp="1"/>
          </p:cNvSpPr>
          <p:nvPr/>
        </p:nvSpPr>
        <p:spPr>
          <a:xfrm>
            <a:off x="590550" y="1190625"/>
            <a:ext cx="110299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725">
                <a:solidFill>
                  <a:srgbClr val="626970"/>
                </a:solidFill>
                <a:latin typeface="Yozai"/>
                <a:ea typeface="Yozai"/>
                <a:cs typeface="Yozai"/>
              </a:defRPr>
            </a:pPr>
            <a:r>
              <a:rPr sz="1725">
                <a:solidFill>
                  <a:srgbClr val="626970"/>
                </a:solidFill>
                <a:latin typeface="Yozai"/>
                <a:ea typeface="Yozai"/>
                <a:cs typeface="Yozai"/>
              </a:rPr>
              <a:t>以模拟付款为例，重复请求复用结果，首次执行保持订单与库存一致</a:t>
            </a:r>
          </a:p>
        </p:txBody>
      </p:sp>
      <p:sp>
        <p:nvSpPr>
          <p:cNvPr id="4" name="WEMOVE">
            <a:extLst>
              <a:ext uri="{FF2B5EF4-FFF2-40B4-BE49-F238E27FC236}">
                <a16:creationId xmlns:a16="http://schemas.microsoft.com/office/drawing/2014/main" id="{37615852-EABF-479B-BE95-2F0E6CF0768F}"/>
              </a:ext>
            </a:extLst>
          </p:cNvPr>
          <p:cNvSpPr>
            <a:spLocks noGrp="1"/>
          </p:cNvSpPr>
          <p:nvPr/>
        </p:nvSpPr>
        <p:spPr>
          <a:xfrm>
            <a:off x="571500" y="6467475"/>
            <a:ext cx="19050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350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defRPr>
            </a:pPr>
            <a:r>
              <a:rPr sz="1350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rPr>
              <a:t>WEMOVE</a:t>
            </a:r>
          </a:p>
        </p:txBody>
      </p:sp>
      <p:sp>
        <p:nvSpPr>
          <p:cNvPr id="5" name="13">
            <a:extLst>
              <a:ext uri="{FF2B5EF4-FFF2-40B4-BE49-F238E27FC236}">
                <a16:creationId xmlns:a16="http://schemas.microsoft.com/office/drawing/2014/main" id="{F3A67E3B-7C8D-4354-853A-EFDFDF259687}"/>
              </a:ext>
            </a:extLst>
          </p:cNvPr>
          <p:cNvSpPr>
            <a:spLocks noGrp="1"/>
          </p:cNvSpPr>
          <p:nvPr/>
        </p:nvSpPr>
        <p:spPr>
          <a:xfrm>
            <a:off x="11049000" y="6467475"/>
            <a:ext cx="5715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buNone/>
              <a:defRPr sz="1425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defRPr>
            </a:pPr>
            <a:r>
              <a:rPr sz="1425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rPr>
              <a:t>13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043BA492-93B9-4B6C-B603-1D0592317A17}"/>
              </a:ext>
            </a:extLst>
          </p:cNvPr>
          <p:cNvSpPr>
            <a:spLocks noGrp="1"/>
          </p:cNvSpPr>
          <p:nvPr/>
        </p:nvSpPr>
        <p:spPr>
          <a:xfrm>
            <a:off x="2981325" y="2686050"/>
            <a:ext cx="8486775" cy="2781300"/>
          </a:xfrm>
          <a:prstGeom prst="roundRect">
            <a:avLst>
              <a:gd name="adj" fmla="val 4110"/>
            </a:avLst>
          </a:prstGeom>
          <a:solidFill>
            <a:srgbClr val="ECF1EC"/>
          </a:solidFill>
          <a:ln w="11430">
            <a:solidFill>
              <a:srgbClr val="DCE0D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首次请求事务">
            <a:extLst>
              <a:ext uri="{FF2B5EF4-FFF2-40B4-BE49-F238E27FC236}">
                <a16:creationId xmlns:a16="http://schemas.microsoft.com/office/drawing/2014/main" id="{23BFD8E5-225A-48F5-89B9-8350E0ED2C75}"/>
              </a:ext>
            </a:extLst>
          </p:cNvPr>
          <p:cNvSpPr>
            <a:spLocks noGrp="1"/>
          </p:cNvSpPr>
          <p:nvPr/>
        </p:nvSpPr>
        <p:spPr>
          <a:xfrm>
            <a:off x="9258300" y="2695575"/>
            <a:ext cx="2076450" cy="2762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buNone/>
              <a:defRPr sz="1650">
                <a:solidFill>
                  <a:srgbClr val="355F52"/>
                </a:solidFill>
                <a:latin typeface="Yozai Medium"/>
                <a:ea typeface="Yozai Medium"/>
                <a:cs typeface="Yozai Medium"/>
              </a:defRPr>
            </a:pPr>
            <a:r>
              <a:rPr sz="1650">
                <a:solidFill>
                  <a:srgbClr val="355F52"/>
                </a:solidFill>
                <a:latin typeface="Yozai Medium"/>
                <a:ea typeface="Yozai Medium"/>
                <a:cs typeface="Yozai Medium"/>
              </a:rPr>
              <a:t>首次请求事务</a:t>
            </a:r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2F6E0B13-D066-4A73-87D9-68E2606E2C87}"/>
              </a:ext>
            </a:extLst>
          </p:cNvPr>
          <p:cNvSpPr>
            <a:spLocks noGrp="1"/>
          </p:cNvSpPr>
          <p:nvPr/>
        </p:nvSpPr>
        <p:spPr>
          <a:xfrm>
            <a:off x="590550" y="1657350"/>
            <a:ext cx="1485900" cy="447675"/>
          </a:xfrm>
          <a:prstGeom prst="roundRect">
            <a:avLst>
              <a:gd name="adj" fmla="val 21277"/>
            </a:avLst>
          </a:prstGeom>
          <a:solidFill>
            <a:srgbClr val="FFFEFA"/>
          </a:solidFill>
          <a:ln w="11430">
            <a:solidFill>
              <a:srgbClr val="DCE0D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浏览器">
            <a:extLst>
              <a:ext uri="{FF2B5EF4-FFF2-40B4-BE49-F238E27FC236}">
                <a16:creationId xmlns:a16="http://schemas.microsoft.com/office/drawing/2014/main" id="{67C55D90-EE8B-4A82-AE3F-B8371C4E7417}"/>
              </a:ext>
            </a:extLst>
          </p:cNvPr>
          <p:cNvSpPr>
            <a:spLocks noGrp="1"/>
          </p:cNvSpPr>
          <p:nvPr/>
        </p:nvSpPr>
        <p:spPr>
          <a:xfrm>
            <a:off x="638175" y="1724025"/>
            <a:ext cx="139065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875">
                <a:solidFill>
                  <a:srgbClr val="292E32"/>
                </a:solidFill>
                <a:latin typeface="Yozai Medium"/>
                <a:ea typeface="Yozai Medium"/>
                <a:cs typeface="Yozai Medium"/>
              </a:defRPr>
            </a:pPr>
            <a:r>
              <a:rPr sz="1875">
                <a:solidFill>
                  <a:srgbClr val="292E32"/>
                </a:solidFill>
                <a:latin typeface="Yozai Medium"/>
                <a:ea typeface="Yozai Medium"/>
                <a:cs typeface="Yozai Medium"/>
              </a:rPr>
              <a:t>浏览器</a:t>
            </a:r>
          </a:p>
        </p:txBody>
      </p:sp>
      <p:sp>
        <p:nvSpPr>
          <p:cNvPr id="10" name="直线连接符 9">
            <a:extLst>
              <a:ext uri="{FF2B5EF4-FFF2-40B4-BE49-F238E27FC236}">
                <a16:creationId xmlns:a16="http://schemas.microsoft.com/office/drawing/2014/main" id="{013E2824-ED2E-48C2-99F9-6C0ABD71DE64}"/>
              </a:ext>
            </a:extLst>
          </p:cNvPr>
          <p:cNvSpPr>
            <a:spLocks noGrp="1"/>
          </p:cNvSpPr>
          <p:nvPr/>
        </p:nvSpPr>
        <p:spPr>
          <a:xfrm>
            <a:off x="1333500" y="2133600"/>
            <a:ext cx="953" cy="3390900"/>
          </a:xfrm>
          <a:prstGeom prst="line">
            <a:avLst/>
          </a:prstGeom>
          <a:noFill/>
          <a:ln w="12383">
            <a:solidFill>
              <a:srgbClr val="B4C2B9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1" name="圆角矩形 10">
            <a:extLst>
              <a:ext uri="{FF2B5EF4-FFF2-40B4-BE49-F238E27FC236}">
                <a16:creationId xmlns:a16="http://schemas.microsoft.com/office/drawing/2014/main" id="{C031BB50-155E-4182-9FA5-BFA9AFF936C5}"/>
              </a:ext>
            </a:extLst>
          </p:cNvPr>
          <p:cNvSpPr>
            <a:spLocks noGrp="1"/>
          </p:cNvSpPr>
          <p:nvPr/>
        </p:nvSpPr>
        <p:spPr>
          <a:xfrm>
            <a:off x="2638425" y="1657350"/>
            <a:ext cx="1485900" cy="447675"/>
          </a:xfrm>
          <a:prstGeom prst="roundRect">
            <a:avLst>
              <a:gd name="adj" fmla="val 21277"/>
            </a:avLst>
          </a:prstGeom>
          <a:solidFill>
            <a:srgbClr val="FFFEFA"/>
          </a:solidFill>
          <a:ln w="11430">
            <a:solidFill>
              <a:srgbClr val="DCE0D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幂等执行器">
            <a:extLst>
              <a:ext uri="{FF2B5EF4-FFF2-40B4-BE49-F238E27FC236}">
                <a16:creationId xmlns:a16="http://schemas.microsoft.com/office/drawing/2014/main" id="{EAD7BB6A-1D1F-4E18-B5B3-46CEDD5490F0}"/>
              </a:ext>
            </a:extLst>
          </p:cNvPr>
          <p:cNvSpPr>
            <a:spLocks noGrp="1"/>
          </p:cNvSpPr>
          <p:nvPr/>
        </p:nvSpPr>
        <p:spPr>
          <a:xfrm>
            <a:off x="2686050" y="1724025"/>
            <a:ext cx="139065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875">
                <a:solidFill>
                  <a:srgbClr val="292E32"/>
                </a:solidFill>
                <a:latin typeface="Yozai Medium"/>
                <a:ea typeface="Yozai Medium"/>
                <a:cs typeface="Yozai Medium"/>
              </a:defRPr>
            </a:pPr>
            <a:r>
              <a:rPr sz="1875">
                <a:solidFill>
                  <a:srgbClr val="292E32"/>
                </a:solidFill>
                <a:latin typeface="Yozai Medium"/>
                <a:ea typeface="Yozai Medium"/>
                <a:cs typeface="Yozai Medium"/>
              </a:rPr>
              <a:t>幂等执行器</a:t>
            </a:r>
          </a:p>
        </p:txBody>
      </p:sp>
      <p:sp>
        <p:nvSpPr>
          <p:cNvPr id="13" name="直线连接符 12">
            <a:extLst>
              <a:ext uri="{FF2B5EF4-FFF2-40B4-BE49-F238E27FC236}">
                <a16:creationId xmlns:a16="http://schemas.microsoft.com/office/drawing/2014/main" id="{7B3B1B83-72A6-4DC6-A8CB-2C201EC87D55}"/>
              </a:ext>
            </a:extLst>
          </p:cNvPr>
          <p:cNvSpPr>
            <a:spLocks noGrp="1"/>
          </p:cNvSpPr>
          <p:nvPr/>
        </p:nvSpPr>
        <p:spPr>
          <a:xfrm>
            <a:off x="3381375" y="2133600"/>
            <a:ext cx="953" cy="3390900"/>
          </a:xfrm>
          <a:prstGeom prst="line">
            <a:avLst/>
          </a:prstGeom>
          <a:noFill/>
          <a:ln w="12383">
            <a:solidFill>
              <a:srgbClr val="B4C2B9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5745035F-9A66-4434-8445-12F38008738C}"/>
              </a:ext>
            </a:extLst>
          </p:cNvPr>
          <p:cNvSpPr>
            <a:spLocks noGrp="1"/>
          </p:cNvSpPr>
          <p:nvPr/>
        </p:nvSpPr>
        <p:spPr>
          <a:xfrm>
            <a:off x="5067300" y="1657350"/>
            <a:ext cx="1485900" cy="447675"/>
          </a:xfrm>
          <a:prstGeom prst="roundRect">
            <a:avLst>
              <a:gd name="adj" fmla="val 21277"/>
            </a:avLst>
          </a:prstGeom>
          <a:solidFill>
            <a:srgbClr val="FFFEFA"/>
          </a:solidFill>
          <a:ln w="11430">
            <a:solidFill>
              <a:srgbClr val="DCE0D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5" name="订单服务">
            <a:extLst>
              <a:ext uri="{FF2B5EF4-FFF2-40B4-BE49-F238E27FC236}">
                <a16:creationId xmlns:a16="http://schemas.microsoft.com/office/drawing/2014/main" id="{9CDCCF3A-6FB8-4713-A88F-AAB05FEC7A3C}"/>
              </a:ext>
            </a:extLst>
          </p:cNvPr>
          <p:cNvSpPr>
            <a:spLocks noGrp="1"/>
          </p:cNvSpPr>
          <p:nvPr/>
        </p:nvSpPr>
        <p:spPr>
          <a:xfrm>
            <a:off x="5114925" y="1724025"/>
            <a:ext cx="139065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875">
                <a:solidFill>
                  <a:srgbClr val="292E32"/>
                </a:solidFill>
                <a:latin typeface="Yozai Medium"/>
                <a:ea typeface="Yozai Medium"/>
                <a:cs typeface="Yozai Medium"/>
              </a:defRPr>
            </a:pPr>
            <a:r>
              <a:rPr sz="1875">
                <a:solidFill>
                  <a:srgbClr val="292E32"/>
                </a:solidFill>
                <a:latin typeface="Yozai Medium"/>
                <a:ea typeface="Yozai Medium"/>
                <a:cs typeface="Yozai Medium"/>
              </a:rPr>
              <a:t>订单服务</a:t>
            </a:r>
          </a:p>
        </p:txBody>
      </p:sp>
      <p:sp>
        <p:nvSpPr>
          <p:cNvPr id="16" name="直线连接符 15">
            <a:extLst>
              <a:ext uri="{FF2B5EF4-FFF2-40B4-BE49-F238E27FC236}">
                <a16:creationId xmlns:a16="http://schemas.microsoft.com/office/drawing/2014/main" id="{0599EBC7-10C5-455A-9970-30D4C04A8FC9}"/>
              </a:ext>
            </a:extLst>
          </p:cNvPr>
          <p:cNvSpPr>
            <a:spLocks noGrp="1"/>
          </p:cNvSpPr>
          <p:nvPr/>
        </p:nvSpPr>
        <p:spPr>
          <a:xfrm>
            <a:off x="5810250" y="2133600"/>
            <a:ext cx="953" cy="3390900"/>
          </a:xfrm>
          <a:prstGeom prst="line">
            <a:avLst/>
          </a:prstGeom>
          <a:noFill/>
          <a:ln w="12383">
            <a:solidFill>
              <a:srgbClr val="B4C2B9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8288CFAB-5796-42A4-994F-22FD3226F65D}"/>
              </a:ext>
            </a:extLst>
          </p:cNvPr>
          <p:cNvSpPr>
            <a:spLocks noGrp="1"/>
          </p:cNvSpPr>
          <p:nvPr/>
        </p:nvSpPr>
        <p:spPr>
          <a:xfrm>
            <a:off x="7496175" y="1657350"/>
            <a:ext cx="1485900" cy="447675"/>
          </a:xfrm>
          <a:prstGeom prst="roundRect">
            <a:avLst>
              <a:gd name="adj" fmla="val 21277"/>
            </a:avLst>
          </a:prstGeom>
          <a:solidFill>
            <a:srgbClr val="FFFEFA"/>
          </a:solidFill>
          <a:ln w="11430">
            <a:solidFill>
              <a:srgbClr val="DCE0D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库存服务">
            <a:extLst>
              <a:ext uri="{FF2B5EF4-FFF2-40B4-BE49-F238E27FC236}">
                <a16:creationId xmlns:a16="http://schemas.microsoft.com/office/drawing/2014/main" id="{D96DE09D-C098-4A89-A978-232B6457E75C}"/>
              </a:ext>
            </a:extLst>
          </p:cNvPr>
          <p:cNvSpPr>
            <a:spLocks noGrp="1"/>
          </p:cNvSpPr>
          <p:nvPr/>
        </p:nvSpPr>
        <p:spPr>
          <a:xfrm>
            <a:off x="7543800" y="1724025"/>
            <a:ext cx="139065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875">
                <a:solidFill>
                  <a:srgbClr val="292E32"/>
                </a:solidFill>
                <a:latin typeface="Yozai Medium"/>
                <a:ea typeface="Yozai Medium"/>
                <a:cs typeface="Yozai Medium"/>
              </a:defRPr>
            </a:pPr>
            <a:r>
              <a:rPr sz="1875">
                <a:solidFill>
                  <a:srgbClr val="292E32"/>
                </a:solidFill>
                <a:latin typeface="Yozai Medium"/>
                <a:ea typeface="Yozai Medium"/>
                <a:cs typeface="Yozai Medium"/>
              </a:rPr>
              <a:t>库存服务</a:t>
            </a:r>
          </a:p>
        </p:txBody>
      </p:sp>
      <p:sp>
        <p:nvSpPr>
          <p:cNvPr id="19" name="直线连接符 18">
            <a:extLst>
              <a:ext uri="{FF2B5EF4-FFF2-40B4-BE49-F238E27FC236}">
                <a16:creationId xmlns:a16="http://schemas.microsoft.com/office/drawing/2014/main" id="{B7DAE712-BFDC-4C70-BCFC-D7694B7EE307}"/>
              </a:ext>
            </a:extLst>
          </p:cNvPr>
          <p:cNvSpPr>
            <a:spLocks noGrp="1"/>
          </p:cNvSpPr>
          <p:nvPr/>
        </p:nvSpPr>
        <p:spPr>
          <a:xfrm>
            <a:off x="8239125" y="2133600"/>
            <a:ext cx="953" cy="3390900"/>
          </a:xfrm>
          <a:prstGeom prst="line">
            <a:avLst/>
          </a:prstGeom>
          <a:noFill/>
          <a:ln w="12383">
            <a:solidFill>
              <a:srgbClr val="B4C2B9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995B03E0-4093-49D9-B65F-6A9CDC07C476}"/>
              </a:ext>
            </a:extLst>
          </p:cNvPr>
          <p:cNvSpPr>
            <a:spLocks noGrp="1"/>
          </p:cNvSpPr>
          <p:nvPr/>
        </p:nvSpPr>
        <p:spPr>
          <a:xfrm>
            <a:off x="10115550" y="1657350"/>
            <a:ext cx="1485900" cy="447675"/>
          </a:xfrm>
          <a:prstGeom prst="roundRect">
            <a:avLst>
              <a:gd name="adj" fmla="val 21277"/>
            </a:avLst>
          </a:prstGeom>
          <a:solidFill>
            <a:srgbClr val="FFFEFA"/>
          </a:solidFill>
          <a:ln w="11430">
            <a:solidFill>
              <a:srgbClr val="DCE0D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MySQL">
            <a:extLst>
              <a:ext uri="{FF2B5EF4-FFF2-40B4-BE49-F238E27FC236}">
                <a16:creationId xmlns:a16="http://schemas.microsoft.com/office/drawing/2014/main" id="{1E12EF5F-9C4C-4B31-A532-3F15925814ED}"/>
              </a:ext>
            </a:extLst>
          </p:cNvPr>
          <p:cNvSpPr>
            <a:spLocks noGrp="1"/>
          </p:cNvSpPr>
          <p:nvPr/>
        </p:nvSpPr>
        <p:spPr>
          <a:xfrm>
            <a:off x="10163175" y="1724025"/>
            <a:ext cx="1390650" cy="3143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875">
                <a:solidFill>
                  <a:srgbClr val="292E32"/>
                </a:solidFill>
                <a:latin typeface="Yozai Medium"/>
                <a:ea typeface="Yozai Medium"/>
                <a:cs typeface="Yozai Medium"/>
              </a:defRPr>
            </a:pPr>
            <a:r>
              <a:rPr sz="1875">
                <a:solidFill>
                  <a:srgbClr val="292E32"/>
                </a:solidFill>
                <a:latin typeface="Yozai Medium"/>
                <a:ea typeface="Yozai Medium"/>
                <a:cs typeface="Yozai Medium"/>
              </a:rPr>
              <a:t>MySQL</a:t>
            </a:r>
          </a:p>
        </p:txBody>
      </p:sp>
      <p:sp>
        <p:nvSpPr>
          <p:cNvPr id="22" name="直线连接符 21">
            <a:extLst>
              <a:ext uri="{FF2B5EF4-FFF2-40B4-BE49-F238E27FC236}">
                <a16:creationId xmlns:a16="http://schemas.microsoft.com/office/drawing/2014/main" id="{FFCE1652-D51F-4673-9896-F0DE7939C0C5}"/>
              </a:ext>
            </a:extLst>
          </p:cNvPr>
          <p:cNvSpPr>
            <a:spLocks noGrp="1"/>
          </p:cNvSpPr>
          <p:nvPr/>
        </p:nvSpPr>
        <p:spPr>
          <a:xfrm>
            <a:off x="10858500" y="2133600"/>
            <a:ext cx="953" cy="3390900"/>
          </a:xfrm>
          <a:prstGeom prst="line">
            <a:avLst/>
          </a:prstGeom>
          <a:noFill/>
          <a:ln w="12383">
            <a:solidFill>
              <a:srgbClr val="B4C2B9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23" name="diagram-anchor-19">
            <a:extLst>
              <a:ext uri="{FF2B5EF4-FFF2-40B4-BE49-F238E27FC236}">
                <a16:creationId xmlns:a16="http://schemas.microsoft.com/office/drawing/2014/main" id="{9EC5DC25-2861-47C9-80EF-88826B439BBD}"/>
              </a:ext>
            </a:extLst>
          </p:cNvPr>
          <p:cNvSpPr>
            <a:spLocks noGrp="1"/>
          </p:cNvSpPr>
          <p:nvPr/>
        </p:nvSpPr>
        <p:spPr>
          <a:xfrm>
            <a:off x="1328738" y="256698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4" name="diagram-anchor-20">
            <a:extLst>
              <a:ext uri="{FF2B5EF4-FFF2-40B4-BE49-F238E27FC236}">
                <a16:creationId xmlns:a16="http://schemas.microsoft.com/office/drawing/2014/main" id="{4EE1EA1C-7AA0-472A-8FB0-D817456BB98E}"/>
              </a:ext>
            </a:extLst>
          </p:cNvPr>
          <p:cNvSpPr>
            <a:spLocks noGrp="1"/>
          </p:cNvSpPr>
          <p:nvPr/>
        </p:nvSpPr>
        <p:spPr>
          <a:xfrm>
            <a:off x="3376613" y="256698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134" name="直线箭头连接符 80"/>
          <p:cNvCxnSpPr>
            <a:stCxn id="23" idx="3"/>
            <a:endCxn id="24" idx="1"/>
          </p:cNvCxnSpPr>
          <p:nvPr/>
        </p:nvCxnSpPr>
        <p:spPr>
          <a:xfrm>
            <a:off x="1338263" y="2571751"/>
            <a:ext cx="2038350" cy="0"/>
          </a:xfrm>
          <a:prstGeom prst="straightConnector1">
            <a:avLst/>
          </a:prstGeom>
          <a:ln w="22860">
            <a:solidFill>
              <a:srgbClr val="355F52"/>
            </a:solidFill>
            <a:prstDash val="solid"/>
            <a:tailEnd type="triangle" w="sm" len="sm"/>
          </a:ln>
        </p:spPr>
      </p:cxnSp>
      <p:sp>
        <p:nvSpPr>
          <p:cNvPr id="26" name="付款请求＋幂等键＋版本">
            <a:extLst>
              <a:ext uri="{FF2B5EF4-FFF2-40B4-BE49-F238E27FC236}">
                <a16:creationId xmlns:a16="http://schemas.microsoft.com/office/drawing/2014/main" id="{6656C04D-8582-4947-A2BB-DFF394028551}"/>
              </a:ext>
            </a:extLst>
          </p:cNvPr>
          <p:cNvSpPr>
            <a:spLocks noGrp="1"/>
          </p:cNvSpPr>
          <p:nvPr/>
        </p:nvSpPr>
        <p:spPr>
          <a:xfrm>
            <a:off x="590550" y="2209800"/>
            <a:ext cx="31527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650">
                <a:solidFill>
                  <a:srgbClr val="292E32"/>
                </a:solidFill>
                <a:latin typeface="Yozai"/>
                <a:ea typeface="Yozai"/>
                <a:cs typeface="Yozai"/>
              </a:defRPr>
            </a:pPr>
            <a:r>
              <a:rPr sz="1650">
                <a:solidFill>
                  <a:srgbClr val="292E32"/>
                </a:solidFill>
                <a:latin typeface="Yozai"/>
                <a:ea typeface="Yozai"/>
                <a:cs typeface="Yozai"/>
              </a:rPr>
              <a:t>付款请求＋幂等键＋版本</a:t>
            </a:r>
          </a:p>
        </p:txBody>
      </p:sp>
      <p:sp>
        <p:nvSpPr>
          <p:cNvPr id="27" name="diagram-anchor-21">
            <a:extLst>
              <a:ext uri="{FF2B5EF4-FFF2-40B4-BE49-F238E27FC236}">
                <a16:creationId xmlns:a16="http://schemas.microsoft.com/office/drawing/2014/main" id="{759B8FA0-4DC1-4ABE-9EEE-895330D6E7D2}"/>
              </a:ext>
            </a:extLst>
          </p:cNvPr>
          <p:cNvSpPr>
            <a:spLocks noGrp="1"/>
          </p:cNvSpPr>
          <p:nvPr/>
        </p:nvSpPr>
        <p:spPr>
          <a:xfrm>
            <a:off x="3376613" y="305276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diagram-anchor-22">
            <a:extLst>
              <a:ext uri="{FF2B5EF4-FFF2-40B4-BE49-F238E27FC236}">
                <a16:creationId xmlns:a16="http://schemas.microsoft.com/office/drawing/2014/main" id="{EF92C4BF-D478-4C86-87D1-A220CABEFA29}"/>
              </a:ext>
            </a:extLst>
          </p:cNvPr>
          <p:cNvSpPr>
            <a:spLocks noGrp="1"/>
          </p:cNvSpPr>
          <p:nvPr/>
        </p:nvSpPr>
        <p:spPr>
          <a:xfrm>
            <a:off x="10853738" y="305276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138" name="直线箭头连接符 84"/>
          <p:cNvCxnSpPr>
            <a:stCxn id="27" idx="3"/>
            <a:endCxn id="28" idx="1"/>
          </p:cNvCxnSpPr>
          <p:nvPr/>
        </p:nvCxnSpPr>
        <p:spPr>
          <a:xfrm>
            <a:off x="3386138" y="3057526"/>
            <a:ext cx="7467600" cy="0"/>
          </a:xfrm>
          <a:prstGeom prst="straightConnector1">
            <a:avLst/>
          </a:prstGeom>
          <a:ln w="22860">
            <a:solidFill>
              <a:srgbClr val="355F52"/>
            </a:solidFill>
            <a:prstDash val="solid"/>
            <a:tailEnd type="triangle" w="sm" len="sm"/>
          </a:ln>
        </p:spPr>
      </p:cxnSp>
      <p:sp>
        <p:nvSpPr>
          <p:cNvPr id="30" name="锁定账户，查询幂等记录">
            <a:extLst>
              <a:ext uri="{FF2B5EF4-FFF2-40B4-BE49-F238E27FC236}">
                <a16:creationId xmlns:a16="http://schemas.microsoft.com/office/drawing/2014/main" id="{EA164DAF-9691-49E1-8C53-9E34C8B4FC3B}"/>
              </a:ext>
            </a:extLst>
          </p:cNvPr>
          <p:cNvSpPr>
            <a:spLocks noGrp="1"/>
          </p:cNvSpPr>
          <p:nvPr/>
        </p:nvSpPr>
        <p:spPr>
          <a:xfrm>
            <a:off x="3800475" y="2724150"/>
            <a:ext cx="51149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650">
                <a:solidFill>
                  <a:srgbClr val="292E32"/>
                </a:solidFill>
                <a:latin typeface="Yozai"/>
                <a:ea typeface="Yozai"/>
                <a:cs typeface="Yozai"/>
              </a:defRPr>
            </a:pPr>
            <a:r>
              <a:rPr sz="1650">
                <a:solidFill>
                  <a:srgbClr val="292E32"/>
                </a:solidFill>
                <a:latin typeface="Yozai"/>
                <a:ea typeface="Yozai"/>
                <a:cs typeface="Yozai"/>
              </a:rPr>
              <a:t>锁定账户，查询幂等记录</a:t>
            </a:r>
          </a:p>
        </p:txBody>
      </p:sp>
      <p:sp>
        <p:nvSpPr>
          <p:cNvPr id="31" name="diagram-anchor-23">
            <a:extLst>
              <a:ext uri="{FF2B5EF4-FFF2-40B4-BE49-F238E27FC236}">
                <a16:creationId xmlns:a16="http://schemas.microsoft.com/office/drawing/2014/main" id="{B5D483D9-C669-441E-9FDA-94F08D348A0E}"/>
              </a:ext>
            </a:extLst>
          </p:cNvPr>
          <p:cNvSpPr>
            <a:spLocks noGrp="1"/>
          </p:cNvSpPr>
          <p:nvPr/>
        </p:nvSpPr>
        <p:spPr>
          <a:xfrm>
            <a:off x="3376613" y="350996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2" name="diagram-anchor-24">
            <a:extLst>
              <a:ext uri="{FF2B5EF4-FFF2-40B4-BE49-F238E27FC236}">
                <a16:creationId xmlns:a16="http://schemas.microsoft.com/office/drawing/2014/main" id="{7829AD1C-6992-4FB4-9A66-661A90696064}"/>
              </a:ext>
            </a:extLst>
          </p:cNvPr>
          <p:cNvSpPr>
            <a:spLocks noGrp="1"/>
          </p:cNvSpPr>
          <p:nvPr/>
        </p:nvSpPr>
        <p:spPr>
          <a:xfrm>
            <a:off x="5805488" y="350996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142" name="直线箭头连接符 88"/>
          <p:cNvCxnSpPr>
            <a:stCxn id="31" idx="3"/>
            <a:endCxn id="32" idx="1"/>
          </p:cNvCxnSpPr>
          <p:nvPr/>
        </p:nvCxnSpPr>
        <p:spPr>
          <a:xfrm>
            <a:off x="3386138" y="3514726"/>
            <a:ext cx="2419350" cy="0"/>
          </a:xfrm>
          <a:prstGeom prst="straightConnector1">
            <a:avLst/>
          </a:prstGeom>
          <a:ln w="22860">
            <a:solidFill>
              <a:srgbClr val="355F52"/>
            </a:solidFill>
            <a:prstDash val="solid"/>
            <a:tailEnd type="triangle" w="sm" len="sm"/>
          </a:ln>
        </p:spPr>
      </p:cxnSp>
      <p:sp>
        <p:nvSpPr>
          <p:cNvPr id="34" name="执行付款，校验版本">
            <a:extLst>
              <a:ext uri="{FF2B5EF4-FFF2-40B4-BE49-F238E27FC236}">
                <a16:creationId xmlns:a16="http://schemas.microsoft.com/office/drawing/2014/main" id="{14F96515-A0C9-4A2C-8498-BDA28E0F54CA}"/>
              </a:ext>
            </a:extLst>
          </p:cNvPr>
          <p:cNvSpPr>
            <a:spLocks noGrp="1"/>
          </p:cNvSpPr>
          <p:nvPr/>
        </p:nvSpPr>
        <p:spPr>
          <a:xfrm>
            <a:off x="3409950" y="3181350"/>
            <a:ext cx="25050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650">
                <a:solidFill>
                  <a:srgbClr val="292E32"/>
                </a:solidFill>
                <a:latin typeface="Yozai"/>
                <a:ea typeface="Yozai"/>
                <a:cs typeface="Yozai"/>
              </a:defRPr>
            </a:pPr>
            <a:r>
              <a:rPr sz="1650">
                <a:solidFill>
                  <a:srgbClr val="292E32"/>
                </a:solidFill>
                <a:latin typeface="Yozai"/>
                <a:ea typeface="Yozai"/>
                <a:cs typeface="Yozai"/>
              </a:rPr>
              <a:t>执行付款，校验版本</a:t>
            </a:r>
          </a:p>
        </p:txBody>
      </p:sp>
      <p:sp>
        <p:nvSpPr>
          <p:cNvPr id="35" name="diagram-anchor-25">
            <a:extLst>
              <a:ext uri="{FF2B5EF4-FFF2-40B4-BE49-F238E27FC236}">
                <a16:creationId xmlns:a16="http://schemas.microsoft.com/office/drawing/2014/main" id="{2D10EA93-9CDD-456D-BE8A-AF0C13F60AC3}"/>
              </a:ext>
            </a:extLst>
          </p:cNvPr>
          <p:cNvSpPr>
            <a:spLocks noGrp="1"/>
          </p:cNvSpPr>
          <p:nvPr/>
        </p:nvSpPr>
        <p:spPr>
          <a:xfrm>
            <a:off x="5805488" y="397668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36" name="diagram-anchor-26">
            <a:extLst>
              <a:ext uri="{FF2B5EF4-FFF2-40B4-BE49-F238E27FC236}">
                <a16:creationId xmlns:a16="http://schemas.microsoft.com/office/drawing/2014/main" id="{A9EEE9B2-7B91-468C-B979-C137E33DEA4E}"/>
              </a:ext>
            </a:extLst>
          </p:cNvPr>
          <p:cNvSpPr>
            <a:spLocks noGrp="1"/>
          </p:cNvSpPr>
          <p:nvPr/>
        </p:nvSpPr>
        <p:spPr>
          <a:xfrm>
            <a:off x="8234363" y="397668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146" name="直线箭头连接符 92"/>
          <p:cNvCxnSpPr>
            <a:stCxn id="35" idx="3"/>
            <a:endCxn id="36" idx="1"/>
          </p:cNvCxnSpPr>
          <p:nvPr/>
        </p:nvCxnSpPr>
        <p:spPr>
          <a:xfrm>
            <a:off x="5815013" y="3981451"/>
            <a:ext cx="2419350" cy="0"/>
          </a:xfrm>
          <a:prstGeom prst="straightConnector1">
            <a:avLst/>
          </a:prstGeom>
          <a:ln w="22860">
            <a:solidFill>
              <a:srgbClr val="355F52"/>
            </a:solidFill>
            <a:prstDash val="solid"/>
            <a:tailEnd type="triangle" w="sm" len="sm"/>
          </a:ln>
        </p:spPr>
      </p:cxnSp>
      <p:sp>
        <p:nvSpPr>
          <p:cNvPr id="38" name="校验订单后扣库存">
            <a:extLst>
              <a:ext uri="{FF2B5EF4-FFF2-40B4-BE49-F238E27FC236}">
                <a16:creationId xmlns:a16="http://schemas.microsoft.com/office/drawing/2014/main" id="{87E0E558-E326-4D5F-B3DF-1A22AC3535BD}"/>
              </a:ext>
            </a:extLst>
          </p:cNvPr>
          <p:cNvSpPr>
            <a:spLocks noGrp="1"/>
          </p:cNvSpPr>
          <p:nvPr/>
        </p:nvSpPr>
        <p:spPr>
          <a:xfrm>
            <a:off x="5943600" y="3657600"/>
            <a:ext cx="23622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650">
                <a:solidFill>
                  <a:srgbClr val="292E32"/>
                </a:solidFill>
                <a:latin typeface="Yozai"/>
                <a:ea typeface="Yozai"/>
                <a:cs typeface="Yozai"/>
              </a:defRPr>
            </a:pPr>
            <a:r>
              <a:rPr sz="1650">
                <a:solidFill>
                  <a:srgbClr val="292E32"/>
                </a:solidFill>
                <a:latin typeface="Yozai"/>
                <a:ea typeface="Yozai"/>
                <a:cs typeface="Yozai"/>
              </a:rPr>
              <a:t>校验订单后扣库存</a:t>
            </a:r>
          </a:p>
        </p:txBody>
      </p:sp>
      <p:sp>
        <p:nvSpPr>
          <p:cNvPr id="39" name="diagram-anchor-27">
            <a:extLst>
              <a:ext uri="{FF2B5EF4-FFF2-40B4-BE49-F238E27FC236}">
                <a16:creationId xmlns:a16="http://schemas.microsoft.com/office/drawing/2014/main" id="{B99923A6-71B2-4E70-9F8B-E9584213D55D}"/>
              </a:ext>
            </a:extLst>
          </p:cNvPr>
          <p:cNvSpPr>
            <a:spLocks noGrp="1"/>
          </p:cNvSpPr>
          <p:nvPr/>
        </p:nvSpPr>
        <p:spPr>
          <a:xfrm>
            <a:off x="8234363" y="441483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diagram-anchor-28">
            <a:extLst>
              <a:ext uri="{FF2B5EF4-FFF2-40B4-BE49-F238E27FC236}">
                <a16:creationId xmlns:a16="http://schemas.microsoft.com/office/drawing/2014/main" id="{166C370C-7CBD-460D-B333-2997E5F509E1}"/>
              </a:ext>
            </a:extLst>
          </p:cNvPr>
          <p:cNvSpPr>
            <a:spLocks noGrp="1"/>
          </p:cNvSpPr>
          <p:nvPr/>
        </p:nvSpPr>
        <p:spPr>
          <a:xfrm>
            <a:off x="10853738" y="441483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150" name="直线箭头连接符 96"/>
          <p:cNvCxnSpPr>
            <a:stCxn id="39" idx="3"/>
            <a:endCxn id="40" idx="1"/>
          </p:cNvCxnSpPr>
          <p:nvPr/>
        </p:nvCxnSpPr>
        <p:spPr>
          <a:xfrm>
            <a:off x="8243888" y="4419601"/>
            <a:ext cx="2609850" cy="0"/>
          </a:xfrm>
          <a:prstGeom prst="straightConnector1">
            <a:avLst/>
          </a:prstGeom>
          <a:ln w="22860">
            <a:solidFill>
              <a:srgbClr val="355F52"/>
            </a:solidFill>
            <a:prstDash val="solid"/>
            <a:tailEnd type="triangle" w="sm" len="sm"/>
          </a:ln>
        </p:spPr>
      </p:cxnSp>
      <p:sp>
        <p:nvSpPr>
          <p:cNvPr id="42" name="库存余额与流水">
            <a:extLst>
              <a:ext uri="{FF2B5EF4-FFF2-40B4-BE49-F238E27FC236}">
                <a16:creationId xmlns:a16="http://schemas.microsoft.com/office/drawing/2014/main" id="{6FC8F9EF-15B8-4863-8234-F9E7C1043FF0}"/>
              </a:ext>
            </a:extLst>
          </p:cNvPr>
          <p:cNvSpPr>
            <a:spLocks noGrp="1"/>
          </p:cNvSpPr>
          <p:nvPr/>
        </p:nvSpPr>
        <p:spPr>
          <a:xfrm>
            <a:off x="8362950" y="4095750"/>
            <a:ext cx="24479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650">
                <a:solidFill>
                  <a:srgbClr val="292E32"/>
                </a:solidFill>
                <a:latin typeface="Yozai"/>
                <a:ea typeface="Yozai"/>
                <a:cs typeface="Yozai"/>
              </a:defRPr>
            </a:pPr>
            <a:r>
              <a:rPr sz="1650">
                <a:solidFill>
                  <a:srgbClr val="292E32"/>
                </a:solidFill>
                <a:latin typeface="Yozai"/>
                <a:ea typeface="Yozai"/>
                <a:cs typeface="Yozai"/>
              </a:rPr>
              <a:t>库存余额与流水</a:t>
            </a:r>
          </a:p>
        </p:txBody>
      </p:sp>
      <p:sp>
        <p:nvSpPr>
          <p:cNvPr id="43" name="diagram-anchor-29">
            <a:extLst>
              <a:ext uri="{FF2B5EF4-FFF2-40B4-BE49-F238E27FC236}">
                <a16:creationId xmlns:a16="http://schemas.microsoft.com/office/drawing/2014/main" id="{25364357-B450-4503-98F9-6267349EBD4C}"/>
              </a:ext>
            </a:extLst>
          </p:cNvPr>
          <p:cNvSpPr>
            <a:spLocks noGrp="1"/>
          </p:cNvSpPr>
          <p:nvPr/>
        </p:nvSpPr>
        <p:spPr>
          <a:xfrm>
            <a:off x="5805488" y="484346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4" name="diagram-anchor-30">
            <a:extLst>
              <a:ext uri="{FF2B5EF4-FFF2-40B4-BE49-F238E27FC236}">
                <a16:creationId xmlns:a16="http://schemas.microsoft.com/office/drawing/2014/main" id="{DC3D2704-F3F7-4D4A-A186-5B1C848A2BEE}"/>
              </a:ext>
            </a:extLst>
          </p:cNvPr>
          <p:cNvSpPr>
            <a:spLocks noGrp="1"/>
          </p:cNvSpPr>
          <p:nvPr/>
        </p:nvSpPr>
        <p:spPr>
          <a:xfrm>
            <a:off x="10853738" y="484346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154" name="直线箭头连接符 100"/>
          <p:cNvCxnSpPr>
            <a:stCxn id="43" idx="3"/>
            <a:endCxn id="44" idx="1"/>
          </p:cNvCxnSpPr>
          <p:nvPr/>
        </p:nvCxnSpPr>
        <p:spPr>
          <a:xfrm>
            <a:off x="5815013" y="4848226"/>
            <a:ext cx="5038725" cy="0"/>
          </a:xfrm>
          <a:prstGeom prst="straightConnector1">
            <a:avLst/>
          </a:prstGeom>
          <a:ln w="22860">
            <a:solidFill>
              <a:srgbClr val="355F52"/>
            </a:solidFill>
            <a:prstDash val="solid"/>
            <a:tailEnd type="triangle" w="sm" len="sm"/>
          </a:ln>
        </p:spPr>
      </p:cxnSp>
      <p:sp>
        <p:nvSpPr>
          <p:cNvPr id="46" name="付款、订单状态、历史与审计">
            <a:extLst>
              <a:ext uri="{FF2B5EF4-FFF2-40B4-BE49-F238E27FC236}">
                <a16:creationId xmlns:a16="http://schemas.microsoft.com/office/drawing/2014/main" id="{942087F8-66D1-4E71-BB33-934C99063EC7}"/>
              </a:ext>
            </a:extLst>
          </p:cNvPr>
          <p:cNvSpPr>
            <a:spLocks noGrp="1"/>
          </p:cNvSpPr>
          <p:nvPr/>
        </p:nvSpPr>
        <p:spPr>
          <a:xfrm>
            <a:off x="6067425" y="4524375"/>
            <a:ext cx="46767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650">
                <a:solidFill>
                  <a:srgbClr val="292E32"/>
                </a:solidFill>
                <a:latin typeface="Yozai"/>
                <a:ea typeface="Yozai"/>
                <a:cs typeface="Yozai"/>
              </a:defRPr>
            </a:pPr>
            <a:r>
              <a:rPr sz="1650">
                <a:solidFill>
                  <a:srgbClr val="292E32"/>
                </a:solidFill>
                <a:latin typeface="Yozai"/>
                <a:ea typeface="Yozai"/>
                <a:cs typeface="Yozai"/>
              </a:rPr>
              <a:t>付款、订单状态、历史与审计</a:t>
            </a:r>
          </a:p>
        </p:txBody>
      </p:sp>
      <p:sp>
        <p:nvSpPr>
          <p:cNvPr id="47" name="diagram-anchor-31">
            <a:extLst>
              <a:ext uri="{FF2B5EF4-FFF2-40B4-BE49-F238E27FC236}">
                <a16:creationId xmlns:a16="http://schemas.microsoft.com/office/drawing/2014/main" id="{EF81F411-77BB-4E61-AE88-B0C16EB74204}"/>
              </a:ext>
            </a:extLst>
          </p:cNvPr>
          <p:cNvSpPr>
            <a:spLocks noGrp="1"/>
          </p:cNvSpPr>
          <p:nvPr/>
        </p:nvSpPr>
        <p:spPr>
          <a:xfrm>
            <a:off x="3376613" y="527208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48" name="diagram-anchor-32">
            <a:extLst>
              <a:ext uri="{FF2B5EF4-FFF2-40B4-BE49-F238E27FC236}">
                <a16:creationId xmlns:a16="http://schemas.microsoft.com/office/drawing/2014/main" id="{E2EAE6D8-3CA0-42A8-BC0F-AD5B90BAC0F5}"/>
              </a:ext>
            </a:extLst>
          </p:cNvPr>
          <p:cNvSpPr>
            <a:spLocks noGrp="1"/>
          </p:cNvSpPr>
          <p:nvPr/>
        </p:nvSpPr>
        <p:spPr>
          <a:xfrm>
            <a:off x="10853738" y="5272088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158" name="直线箭头连接符 104"/>
          <p:cNvCxnSpPr>
            <a:stCxn id="47" idx="3"/>
            <a:endCxn id="48" idx="1"/>
          </p:cNvCxnSpPr>
          <p:nvPr/>
        </p:nvCxnSpPr>
        <p:spPr>
          <a:xfrm>
            <a:off x="3386138" y="5276851"/>
            <a:ext cx="7467600" cy="0"/>
          </a:xfrm>
          <a:prstGeom prst="straightConnector1">
            <a:avLst/>
          </a:prstGeom>
          <a:ln w="22860">
            <a:solidFill>
              <a:srgbClr val="355F52"/>
            </a:solidFill>
            <a:prstDash val="solid"/>
            <a:tailEnd type="triangle" w="sm" len="sm"/>
          </a:ln>
        </p:spPr>
      </p:cxnSp>
      <p:sp>
        <p:nvSpPr>
          <p:cNvPr id="50" name="保存响应，提交事务">
            <a:extLst>
              <a:ext uri="{FF2B5EF4-FFF2-40B4-BE49-F238E27FC236}">
                <a16:creationId xmlns:a16="http://schemas.microsoft.com/office/drawing/2014/main" id="{0E3FB8BE-EC52-4F24-AF41-5FCF2740C5E3}"/>
              </a:ext>
            </a:extLst>
          </p:cNvPr>
          <p:cNvSpPr>
            <a:spLocks noGrp="1"/>
          </p:cNvSpPr>
          <p:nvPr/>
        </p:nvSpPr>
        <p:spPr>
          <a:xfrm>
            <a:off x="5257800" y="4953000"/>
            <a:ext cx="40671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650">
                <a:solidFill>
                  <a:srgbClr val="355F52"/>
                </a:solidFill>
                <a:latin typeface="Yozai Medium"/>
                <a:ea typeface="Yozai Medium"/>
                <a:cs typeface="Yozai Medium"/>
              </a:defRPr>
            </a:pPr>
            <a:r>
              <a:rPr sz="1650">
                <a:solidFill>
                  <a:srgbClr val="355F52"/>
                </a:solidFill>
                <a:latin typeface="Yozai Medium"/>
                <a:ea typeface="Yozai Medium"/>
                <a:cs typeface="Yozai Medium"/>
              </a:rPr>
              <a:t>保存响应，提交事务</a:t>
            </a:r>
          </a:p>
        </p:txBody>
      </p:sp>
      <p:sp>
        <p:nvSpPr>
          <p:cNvPr id="51" name="diagram-anchor-33">
            <a:extLst>
              <a:ext uri="{FF2B5EF4-FFF2-40B4-BE49-F238E27FC236}">
                <a16:creationId xmlns:a16="http://schemas.microsoft.com/office/drawing/2014/main" id="{70B3A28C-16D6-470A-A31B-85785F3F4079}"/>
              </a:ext>
            </a:extLst>
          </p:cNvPr>
          <p:cNvSpPr>
            <a:spLocks noGrp="1"/>
          </p:cNvSpPr>
          <p:nvPr/>
        </p:nvSpPr>
        <p:spPr>
          <a:xfrm>
            <a:off x="3376613" y="583406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52" name="diagram-anchor-34">
            <a:extLst>
              <a:ext uri="{FF2B5EF4-FFF2-40B4-BE49-F238E27FC236}">
                <a16:creationId xmlns:a16="http://schemas.microsoft.com/office/drawing/2014/main" id="{2584B386-BA19-4F0C-9F03-00B8D20EF5B0}"/>
              </a:ext>
            </a:extLst>
          </p:cNvPr>
          <p:cNvSpPr>
            <a:spLocks noGrp="1"/>
          </p:cNvSpPr>
          <p:nvPr/>
        </p:nvSpPr>
        <p:spPr>
          <a:xfrm>
            <a:off x="1328738" y="5834063"/>
            <a:ext cx="9525" cy="9525"/>
          </a:xfrm>
          <a:prstGeom prst="rect">
            <a:avLst/>
          </a:prstGeom>
          <a:noFill/>
          <a:ln w="0">
            <a:noFill/>
          </a:ln>
        </p:spPr>
        <p:txBody>
          <a:bodyPr/>
          <a:lstStyle/>
          <a:p>
            <a:endParaRPr/>
          </a:p>
        </p:txBody>
      </p:sp>
      <p:cxnSp>
        <p:nvCxnSpPr>
          <p:cNvPr id="162" name="直线箭头连接符 108"/>
          <p:cNvCxnSpPr>
            <a:stCxn id="51" idx="3"/>
            <a:endCxn id="52" idx="1"/>
          </p:cNvCxnSpPr>
          <p:nvPr/>
        </p:nvCxnSpPr>
        <p:spPr>
          <a:xfrm flipH="1">
            <a:off x="1328738" y="5838826"/>
            <a:ext cx="2057400" cy="0"/>
          </a:xfrm>
          <a:prstGeom prst="straightConnector1">
            <a:avLst/>
          </a:prstGeom>
          <a:ln w="22860">
            <a:solidFill>
              <a:srgbClr val="355F52"/>
            </a:solidFill>
            <a:prstDash val="dash"/>
            <a:tailEnd type="triangle" w="sm" len="sm"/>
          </a:ln>
        </p:spPr>
      </p:cxnSp>
      <p:sp>
        <p:nvSpPr>
          <p:cNvPr id="54" name="同键＋同内容：返回原结果">
            <a:extLst>
              <a:ext uri="{FF2B5EF4-FFF2-40B4-BE49-F238E27FC236}">
                <a16:creationId xmlns:a16="http://schemas.microsoft.com/office/drawing/2014/main" id="{6890C59F-0E2B-45C2-B6EC-C7F9607898F5}"/>
              </a:ext>
            </a:extLst>
          </p:cNvPr>
          <p:cNvSpPr>
            <a:spLocks noGrp="1"/>
          </p:cNvSpPr>
          <p:nvPr/>
        </p:nvSpPr>
        <p:spPr>
          <a:xfrm>
            <a:off x="619125" y="5505450"/>
            <a:ext cx="40290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650">
                <a:solidFill>
                  <a:srgbClr val="355F52"/>
                </a:solidFill>
                <a:latin typeface="Yozai Medium"/>
                <a:ea typeface="Yozai Medium"/>
                <a:cs typeface="Yozai Medium"/>
              </a:defRPr>
            </a:pPr>
            <a:r>
              <a:rPr sz="1650">
                <a:solidFill>
                  <a:srgbClr val="355F52"/>
                </a:solidFill>
                <a:latin typeface="Yozai Medium"/>
                <a:ea typeface="Yozai Medium"/>
                <a:cs typeface="Yozai Medium"/>
              </a:rPr>
              <a:t>同键＋同内容：返回原结果</a:t>
            </a:r>
          </a:p>
        </p:txBody>
      </p:sp>
      <p:sp>
        <p:nvSpPr>
          <p:cNvPr id="55" name="同键不同内容：409">
            <a:extLst>
              <a:ext uri="{FF2B5EF4-FFF2-40B4-BE49-F238E27FC236}">
                <a16:creationId xmlns:a16="http://schemas.microsoft.com/office/drawing/2014/main" id="{7CAB21B6-B2AE-4EE3-BE0C-CDAD96F09EDD}"/>
              </a:ext>
            </a:extLst>
          </p:cNvPr>
          <p:cNvSpPr>
            <a:spLocks noGrp="1"/>
          </p:cNvSpPr>
          <p:nvPr/>
        </p:nvSpPr>
        <p:spPr>
          <a:xfrm>
            <a:off x="4629150" y="5505450"/>
            <a:ext cx="27432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575">
                <a:solidFill>
                  <a:srgbClr val="626970"/>
                </a:solidFill>
                <a:latin typeface="Yozai"/>
                <a:ea typeface="Yozai"/>
                <a:cs typeface="Yozai"/>
              </a:defRPr>
            </a:pPr>
            <a:r>
              <a:rPr sz="1575">
                <a:solidFill>
                  <a:srgbClr val="626970"/>
                </a:solidFill>
                <a:latin typeface="Yozai"/>
                <a:ea typeface="Yozai"/>
                <a:cs typeface="Yozai"/>
              </a:rPr>
              <a:t>同键不同内容：409</a:t>
            </a:r>
          </a:p>
        </p:txBody>
      </p:sp>
      <p:sp>
        <p:nvSpPr>
          <p:cNvPr id="56" name="任一步骤异常，整笔事务回滚">
            <a:extLst>
              <a:ext uri="{FF2B5EF4-FFF2-40B4-BE49-F238E27FC236}">
                <a16:creationId xmlns:a16="http://schemas.microsoft.com/office/drawing/2014/main" id="{134AFFD1-70FA-4475-8D53-64E862C097F4}"/>
              </a:ext>
            </a:extLst>
          </p:cNvPr>
          <p:cNvSpPr>
            <a:spLocks noGrp="1"/>
          </p:cNvSpPr>
          <p:nvPr/>
        </p:nvSpPr>
        <p:spPr>
          <a:xfrm>
            <a:off x="7610475" y="5657850"/>
            <a:ext cx="38100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buNone/>
              <a:defRPr sz="1725">
                <a:solidFill>
                  <a:srgbClr val="355F52"/>
                </a:solidFill>
                <a:latin typeface="Yozai"/>
                <a:ea typeface="Yozai"/>
                <a:cs typeface="Yozai"/>
              </a:defRPr>
            </a:pPr>
            <a:r>
              <a:rPr sz="1725">
                <a:solidFill>
                  <a:srgbClr val="355F52"/>
                </a:solidFill>
                <a:latin typeface="Yozai"/>
                <a:ea typeface="Yozai"/>
                <a:cs typeface="Yozai"/>
              </a:rPr>
              <a:t>任一步骤异常，整笔事务回滚</a:t>
            </a:r>
          </a:p>
        </p:txBody>
      </p:sp>
    </p:spTree>
    <p:extLst>
      <p:ext uri="{BB962C8B-B14F-4D97-AF65-F5344CB8AC3E}">
        <p14:creationId xmlns:p14="http://schemas.microsoft.com/office/powerpoint/2010/main" val="20158765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13 / VERIFICATION">
            <a:extLst>
              <a:ext uri="{FF2B5EF4-FFF2-40B4-BE49-F238E27FC236}">
                <a16:creationId xmlns:a16="http://schemas.microsoft.com/office/drawing/2014/main" id="{0EB7BD44-E23D-456B-8382-AFF2551A5B39}"/>
              </a:ext>
            </a:extLst>
          </p:cNvPr>
          <p:cNvSpPr>
            <a:spLocks noGrp="1"/>
          </p:cNvSpPr>
          <p:nvPr/>
        </p:nvSpPr>
        <p:spPr>
          <a:xfrm>
            <a:off x="571500" y="29527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350">
                <a:solidFill>
                  <a:srgbClr val="355F52"/>
                </a:solidFill>
                <a:latin typeface="Barlow Condensed SemiBold"/>
                <a:ea typeface="Barlow Condensed SemiBold"/>
                <a:cs typeface="Barlow Condensed SemiBold"/>
              </a:defRPr>
            </a:pPr>
            <a:r>
              <a:rPr sz="1350">
                <a:solidFill>
                  <a:srgbClr val="355F52"/>
                </a:solidFill>
                <a:latin typeface="Barlow Condensed SemiBold"/>
                <a:ea typeface="Barlow Condensed SemiBold"/>
                <a:cs typeface="Barlow Condensed SemiBold"/>
              </a:rPr>
              <a:t>13 / VERIFICATION</a:t>
            </a:r>
          </a:p>
        </p:txBody>
      </p:sp>
      <p:sp>
        <p:nvSpPr>
          <p:cNvPr id="2" name="用不同层次的证据验证实现">
            <a:extLst>
              <a:ext uri="{FF2B5EF4-FFF2-40B4-BE49-F238E27FC236}">
                <a16:creationId xmlns:a16="http://schemas.microsoft.com/office/drawing/2014/main" id="{736D7767-6C60-48E0-A6D0-8A971EBCEA61}"/>
              </a:ext>
            </a:extLst>
          </p:cNvPr>
          <p:cNvSpPr>
            <a:spLocks noGrp="1"/>
          </p:cNvSpPr>
          <p:nvPr/>
        </p:nvSpPr>
        <p:spPr>
          <a:xfrm>
            <a:off x="571500" y="647700"/>
            <a:ext cx="11049000" cy="504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850">
                <a:solidFill>
                  <a:srgbClr val="292E32"/>
                </a:solidFill>
                <a:latin typeface="Yozai Medium"/>
                <a:ea typeface="Yozai Medium"/>
                <a:cs typeface="Yozai Medium"/>
              </a:defRPr>
            </a:pPr>
            <a:r>
              <a:rPr sz="2850">
                <a:solidFill>
                  <a:srgbClr val="292E32"/>
                </a:solidFill>
                <a:latin typeface="Yozai Medium"/>
                <a:ea typeface="Yozai Medium"/>
                <a:cs typeface="Yozai Medium"/>
              </a:rPr>
              <a:t>用不同层次的证据验证实现</a:t>
            </a:r>
          </a:p>
        </p:txBody>
      </p:sp>
      <p:sp>
        <p:nvSpPr>
          <p:cNvPr id="3" name="已有分批记录；正式验收仍需在最终版本逐条执行">
            <a:extLst>
              <a:ext uri="{FF2B5EF4-FFF2-40B4-BE49-F238E27FC236}">
                <a16:creationId xmlns:a16="http://schemas.microsoft.com/office/drawing/2014/main" id="{C76C3DB8-459D-420A-9B07-DABF0FCE1FB7}"/>
              </a:ext>
            </a:extLst>
          </p:cNvPr>
          <p:cNvSpPr>
            <a:spLocks noGrp="1"/>
          </p:cNvSpPr>
          <p:nvPr/>
        </p:nvSpPr>
        <p:spPr>
          <a:xfrm>
            <a:off x="590550" y="1190625"/>
            <a:ext cx="110299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725">
                <a:solidFill>
                  <a:srgbClr val="626970"/>
                </a:solidFill>
                <a:latin typeface="Yozai"/>
                <a:ea typeface="Yozai"/>
                <a:cs typeface="Yozai"/>
              </a:defRPr>
            </a:pPr>
            <a:r>
              <a:rPr sz="1725">
                <a:solidFill>
                  <a:srgbClr val="626970"/>
                </a:solidFill>
                <a:latin typeface="Yozai"/>
                <a:ea typeface="Yozai"/>
                <a:cs typeface="Yozai"/>
              </a:rPr>
              <a:t>已有分批记录；正式验收仍需在最终版本逐条执行</a:t>
            </a:r>
          </a:p>
        </p:txBody>
      </p:sp>
      <p:sp>
        <p:nvSpPr>
          <p:cNvPr id="4" name="WEMOVE">
            <a:extLst>
              <a:ext uri="{FF2B5EF4-FFF2-40B4-BE49-F238E27FC236}">
                <a16:creationId xmlns:a16="http://schemas.microsoft.com/office/drawing/2014/main" id="{4D81D299-2A04-4B7D-B3D4-AF9919293362}"/>
              </a:ext>
            </a:extLst>
          </p:cNvPr>
          <p:cNvSpPr>
            <a:spLocks noGrp="1"/>
          </p:cNvSpPr>
          <p:nvPr/>
        </p:nvSpPr>
        <p:spPr>
          <a:xfrm>
            <a:off x="571500" y="6467475"/>
            <a:ext cx="19050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350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defRPr>
            </a:pPr>
            <a:r>
              <a:rPr sz="1350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rPr>
              <a:t>WEMOVE</a:t>
            </a:r>
          </a:p>
        </p:txBody>
      </p:sp>
      <p:sp>
        <p:nvSpPr>
          <p:cNvPr id="5" name="14">
            <a:extLst>
              <a:ext uri="{FF2B5EF4-FFF2-40B4-BE49-F238E27FC236}">
                <a16:creationId xmlns:a16="http://schemas.microsoft.com/office/drawing/2014/main" id="{695453D7-E318-4A74-B006-8EABE4DA8517}"/>
              </a:ext>
            </a:extLst>
          </p:cNvPr>
          <p:cNvSpPr>
            <a:spLocks noGrp="1"/>
          </p:cNvSpPr>
          <p:nvPr/>
        </p:nvSpPr>
        <p:spPr>
          <a:xfrm>
            <a:off x="11049000" y="6467475"/>
            <a:ext cx="5715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buNone/>
              <a:defRPr sz="1425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defRPr>
            </a:pPr>
            <a:r>
              <a:rPr sz="1425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rPr>
              <a:t>14</a:t>
            </a: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CCEDB6F4-F19C-4739-AC6A-51C6AD3D98C2}"/>
              </a:ext>
            </a:extLst>
          </p:cNvPr>
          <p:cNvSpPr>
            <a:spLocks noGrp="1"/>
          </p:cNvSpPr>
          <p:nvPr/>
        </p:nvSpPr>
        <p:spPr>
          <a:xfrm>
            <a:off x="571500" y="2038350"/>
            <a:ext cx="3257550" cy="3295650"/>
          </a:xfrm>
          <a:prstGeom prst="roundRect">
            <a:avLst>
              <a:gd name="adj" fmla="val 4386"/>
            </a:avLst>
          </a:prstGeom>
          <a:solidFill>
            <a:srgbClr val="D8E6D9"/>
          </a:solidFill>
          <a:ln w="11430">
            <a:solidFill>
              <a:srgbClr val="DCE0D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3E35886A-AA0C-44D5-BC01-C3B610C9E461}"/>
              </a:ext>
            </a:extLst>
          </p:cNvPr>
          <p:cNvSpPr>
            <a:spLocks noGrp="1"/>
          </p:cNvSpPr>
          <p:nvPr/>
        </p:nvSpPr>
        <p:spPr>
          <a:xfrm>
            <a:off x="4457700" y="2038350"/>
            <a:ext cx="3257550" cy="3295650"/>
          </a:xfrm>
          <a:prstGeom prst="roundRect">
            <a:avLst>
              <a:gd name="adj" fmla="val 4386"/>
            </a:avLst>
          </a:prstGeom>
          <a:solidFill>
            <a:srgbClr val="DCE8F5"/>
          </a:solidFill>
          <a:ln w="11430">
            <a:solidFill>
              <a:srgbClr val="DCE0D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E6493F6E-5A00-4857-A706-435E9EFF9B23}"/>
              </a:ext>
            </a:extLst>
          </p:cNvPr>
          <p:cNvSpPr>
            <a:spLocks noGrp="1"/>
          </p:cNvSpPr>
          <p:nvPr/>
        </p:nvSpPr>
        <p:spPr>
          <a:xfrm>
            <a:off x="8343900" y="2038350"/>
            <a:ext cx="3257550" cy="3295650"/>
          </a:xfrm>
          <a:prstGeom prst="roundRect">
            <a:avLst>
              <a:gd name="adj" fmla="val 4386"/>
            </a:avLst>
          </a:prstGeom>
          <a:solidFill>
            <a:srgbClr val="EED2BD"/>
          </a:solidFill>
          <a:ln w="11430">
            <a:solidFill>
              <a:srgbClr val="DCE0D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" name="01">
            <a:extLst>
              <a:ext uri="{FF2B5EF4-FFF2-40B4-BE49-F238E27FC236}">
                <a16:creationId xmlns:a16="http://schemas.microsoft.com/office/drawing/2014/main" id="{7F8931C1-94E7-4A05-A9B1-01C61BAAA4FD}"/>
              </a:ext>
            </a:extLst>
          </p:cNvPr>
          <p:cNvSpPr>
            <a:spLocks noGrp="1"/>
          </p:cNvSpPr>
          <p:nvPr/>
        </p:nvSpPr>
        <p:spPr>
          <a:xfrm>
            <a:off x="790575" y="2200275"/>
            <a:ext cx="276225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3150">
                <a:solidFill>
                  <a:srgbClr val="355F52"/>
                </a:solidFill>
                <a:latin typeface="Barlow Condensed SemiBold"/>
                <a:ea typeface="Barlow Condensed SemiBold"/>
                <a:cs typeface="Barlow Condensed SemiBold"/>
              </a:defRPr>
            </a:pPr>
            <a:r>
              <a:rPr sz="3150">
                <a:solidFill>
                  <a:srgbClr val="355F52"/>
                </a:solidFill>
                <a:latin typeface="Barlow Condensed SemiBold"/>
                <a:ea typeface="Barlow Condensed SemiBold"/>
                <a:cs typeface="Barlow Condensed SemiBold"/>
              </a:rPr>
              <a:t>01</a:t>
            </a:r>
          </a:p>
        </p:txBody>
      </p:sp>
      <p:sp>
        <p:nvSpPr>
          <p:cNvPr id="10" name="界面与业务操作">
            <a:extLst>
              <a:ext uri="{FF2B5EF4-FFF2-40B4-BE49-F238E27FC236}">
                <a16:creationId xmlns:a16="http://schemas.microsoft.com/office/drawing/2014/main" id="{A03C894F-33A6-4C9F-AF93-A3DCB31E0D5E}"/>
              </a:ext>
            </a:extLst>
          </p:cNvPr>
          <p:cNvSpPr>
            <a:spLocks noGrp="1"/>
          </p:cNvSpPr>
          <p:nvPr/>
        </p:nvSpPr>
        <p:spPr>
          <a:xfrm>
            <a:off x="790575" y="2857500"/>
            <a:ext cx="28194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175">
                <a:solidFill>
                  <a:srgbClr val="355F52"/>
                </a:solidFill>
                <a:latin typeface="Yozai Medium"/>
                <a:ea typeface="Yozai Medium"/>
                <a:cs typeface="Yozai Medium"/>
              </a:defRPr>
            </a:pPr>
            <a:r>
              <a:rPr sz="2175">
                <a:solidFill>
                  <a:srgbClr val="355F52"/>
                </a:solidFill>
                <a:latin typeface="Yozai Medium"/>
                <a:ea typeface="Yozai Medium"/>
                <a:cs typeface="Yozai Medium"/>
              </a:rPr>
              <a:t>界面与业务操作</a:t>
            </a:r>
          </a:p>
        </p:txBody>
      </p:sp>
      <p:sp>
        <p:nvSpPr>
          <p:cNvPr id="11" name="截图与持久化记录">
            <a:extLst>
              <a:ext uri="{FF2B5EF4-FFF2-40B4-BE49-F238E27FC236}">
                <a16:creationId xmlns:a16="http://schemas.microsoft.com/office/drawing/2014/main" id="{B974070D-0BCC-4A19-90A4-0A6EA9474006}"/>
              </a:ext>
            </a:extLst>
          </p:cNvPr>
          <p:cNvSpPr>
            <a:spLocks noGrp="1"/>
          </p:cNvSpPr>
          <p:nvPr/>
        </p:nvSpPr>
        <p:spPr>
          <a:xfrm>
            <a:off x="790575" y="3552825"/>
            <a:ext cx="281940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875">
                <a:solidFill>
                  <a:srgbClr val="292E32"/>
                </a:solidFill>
                <a:latin typeface="Yozai Medium"/>
                <a:ea typeface="Yozai Medium"/>
                <a:cs typeface="Yozai Medium"/>
              </a:defRPr>
            </a:pPr>
            <a:r>
              <a:rPr sz="1875">
                <a:solidFill>
                  <a:srgbClr val="292E32"/>
                </a:solidFill>
                <a:latin typeface="Yozai Medium"/>
                <a:ea typeface="Yozai Medium"/>
                <a:cs typeface="Yozai Medium"/>
              </a:rPr>
              <a:t>截图与持久化记录</a:t>
            </a:r>
          </a:p>
        </p:txBody>
      </p:sp>
      <p:sp>
        <p:nvSpPr>
          <p:cNvPr id="12" name="真实 API 冒烟&#10;编辑、保存与重新读取">
            <a:extLst>
              <a:ext uri="{FF2B5EF4-FFF2-40B4-BE49-F238E27FC236}">
                <a16:creationId xmlns:a16="http://schemas.microsoft.com/office/drawing/2014/main" id="{B0326FB9-5CCB-473D-BF78-3C2ED0595B43}"/>
              </a:ext>
            </a:extLst>
          </p:cNvPr>
          <p:cNvSpPr>
            <a:spLocks noGrp="1"/>
          </p:cNvSpPr>
          <p:nvPr/>
        </p:nvSpPr>
        <p:spPr>
          <a:xfrm>
            <a:off x="790575" y="4143375"/>
            <a:ext cx="2819400" cy="800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875">
                <a:solidFill>
                  <a:srgbClr val="626970"/>
                </a:solidFill>
                <a:latin typeface="Yozai"/>
                <a:ea typeface="Yozai"/>
                <a:cs typeface="Yozai"/>
              </a:defRPr>
            </a:pPr>
            <a:r>
              <a:rPr sz="1875">
                <a:solidFill>
                  <a:srgbClr val="626970"/>
                </a:solidFill>
                <a:latin typeface="Yozai"/>
                <a:ea typeface="Yozai"/>
                <a:cs typeface="Yozai"/>
              </a:rPr>
              <a:t>真实 API 冒烟</a:t>
            </a:r>
          </a:p>
          <a:p>
            <a:pPr algn="l">
              <a:buNone/>
              <a:defRPr sz="1875">
                <a:solidFill>
                  <a:srgbClr val="626970"/>
                </a:solidFill>
                <a:latin typeface="Yozai"/>
                <a:ea typeface="Yozai"/>
                <a:cs typeface="Yozai"/>
              </a:defRPr>
            </a:pPr>
            <a:r>
              <a:rPr sz="1875">
                <a:solidFill>
                  <a:srgbClr val="626970"/>
                </a:solidFill>
                <a:latin typeface="Yozai"/>
                <a:ea typeface="Yozai"/>
                <a:cs typeface="Yozai"/>
              </a:rPr>
              <a:t>编辑、保存与重新读取</a:t>
            </a:r>
          </a:p>
        </p:txBody>
      </p:sp>
      <p:sp>
        <p:nvSpPr>
          <p:cNvPr id="13" name="02">
            <a:extLst>
              <a:ext uri="{FF2B5EF4-FFF2-40B4-BE49-F238E27FC236}">
                <a16:creationId xmlns:a16="http://schemas.microsoft.com/office/drawing/2014/main" id="{C0CBF9C8-CD0D-4BF9-B95B-FDE75D2B8D7A}"/>
              </a:ext>
            </a:extLst>
          </p:cNvPr>
          <p:cNvSpPr>
            <a:spLocks noGrp="1"/>
          </p:cNvSpPr>
          <p:nvPr/>
        </p:nvSpPr>
        <p:spPr>
          <a:xfrm>
            <a:off x="4676775" y="2200275"/>
            <a:ext cx="276225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3150">
                <a:solidFill>
                  <a:srgbClr val="355F52"/>
                </a:solidFill>
                <a:latin typeface="Barlow Condensed SemiBold"/>
                <a:ea typeface="Barlow Condensed SemiBold"/>
                <a:cs typeface="Barlow Condensed SemiBold"/>
              </a:defRPr>
            </a:pPr>
            <a:r>
              <a:rPr sz="3150">
                <a:solidFill>
                  <a:srgbClr val="355F52"/>
                </a:solidFill>
                <a:latin typeface="Barlow Condensed SemiBold"/>
                <a:ea typeface="Barlow Condensed SemiBold"/>
                <a:cs typeface="Barlow Condensed SemiBold"/>
              </a:rPr>
              <a:t>02</a:t>
            </a:r>
          </a:p>
        </p:txBody>
      </p:sp>
      <p:sp>
        <p:nvSpPr>
          <p:cNvPr id="14" name="自动检查">
            <a:extLst>
              <a:ext uri="{FF2B5EF4-FFF2-40B4-BE49-F238E27FC236}">
                <a16:creationId xmlns:a16="http://schemas.microsoft.com/office/drawing/2014/main" id="{3DAEB367-7B50-4320-8C58-D84AA731CB15}"/>
              </a:ext>
            </a:extLst>
          </p:cNvPr>
          <p:cNvSpPr>
            <a:spLocks noGrp="1"/>
          </p:cNvSpPr>
          <p:nvPr/>
        </p:nvSpPr>
        <p:spPr>
          <a:xfrm>
            <a:off x="4676775" y="2857500"/>
            <a:ext cx="28194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175">
                <a:solidFill>
                  <a:srgbClr val="355F52"/>
                </a:solidFill>
                <a:latin typeface="Yozai Medium"/>
                <a:ea typeface="Yozai Medium"/>
                <a:cs typeface="Yozai Medium"/>
              </a:defRPr>
            </a:pPr>
            <a:r>
              <a:rPr sz="2175">
                <a:solidFill>
                  <a:srgbClr val="355F52"/>
                </a:solidFill>
                <a:latin typeface="Yozai Medium"/>
                <a:ea typeface="Yozai Medium"/>
                <a:cs typeface="Yozai Medium"/>
              </a:rPr>
              <a:t>自动检查</a:t>
            </a:r>
          </a:p>
        </p:txBody>
      </p:sp>
      <p:sp>
        <p:nvSpPr>
          <p:cNvPr id="15" name="171 项前端测试通过">
            <a:extLst>
              <a:ext uri="{FF2B5EF4-FFF2-40B4-BE49-F238E27FC236}">
                <a16:creationId xmlns:a16="http://schemas.microsoft.com/office/drawing/2014/main" id="{D4C3C842-5CDC-4A5A-9097-501819E090BB}"/>
              </a:ext>
            </a:extLst>
          </p:cNvPr>
          <p:cNvSpPr>
            <a:spLocks noGrp="1"/>
          </p:cNvSpPr>
          <p:nvPr/>
        </p:nvSpPr>
        <p:spPr>
          <a:xfrm>
            <a:off x="4676775" y="3552825"/>
            <a:ext cx="281940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875">
                <a:solidFill>
                  <a:srgbClr val="292E32"/>
                </a:solidFill>
                <a:latin typeface="Yozai Medium"/>
                <a:ea typeface="Yozai Medium"/>
                <a:cs typeface="Yozai Medium"/>
              </a:defRPr>
            </a:pPr>
            <a:r>
              <a:rPr sz="1875">
                <a:solidFill>
                  <a:srgbClr val="292E32"/>
                </a:solidFill>
                <a:latin typeface="Yozai Medium"/>
                <a:ea typeface="Yozai Medium"/>
                <a:cs typeface="Yozai Medium"/>
              </a:rPr>
              <a:t>171 项前端测试通过</a:t>
            </a:r>
          </a:p>
        </p:txBody>
      </p:sp>
      <p:sp>
        <p:nvSpPr>
          <p:cNvPr id="16" name="24 个测试文件&#10;类型检查与构建通过">
            <a:extLst>
              <a:ext uri="{FF2B5EF4-FFF2-40B4-BE49-F238E27FC236}">
                <a16:creationId xmlns:a16="http://schemas.microsoft.com/office/drawing/2014/main" id="{23B0FF97-A3CC-46E8-93AB-31A64F9DFAFC}"/>
              </a:ext>
            </a:extLst>
          </p:cNvPr>
          <p:cNvSpPr>
            <a:spLocks noGrp="1"/>
          </p:cNvSpPr>
          <p:nvPr/>
        </p:nvSpPr>
        <p:spPr>
          <a:xfrm>
            <a:off x="4676775" y="4143375"/>
            <a:ext cx="2819400" cy="800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875">
                <a:solidFill>
                  <a:srgbClr val="626970"/>
                </a:solidFill>
                <a:latin typeface="Yozai"/>
                <a:ea typeface="Yozai"/>
                <a:cs typeface="Yozai"/>
              </a:defRPr>
            </a:pPr>
            <a:r>
              <a:rPr sz="1875">
                <a:solidFill>
                  <a:srgbClr val="626970"/>
                </a:solidFill>
                <a:latin typeface="Yozai"/>
                <a:ea typeface="Yozai"/>
                <a:cs typeface="Yozai"/>
              </a:rPr>
              <a:t>24 个测试文件</a:t>
            </a:r>
          </a:p>
          <a:p>
            <a:pPr algn="l">
              <a:buNone/>
              <a:defRPr sz="1875">
                <a:solidFill>
                  <a:srgbClr val="626970"/>
                </a:solidFill>
                <a:latin typeface="Yozai"/>
                <a:ea typeface="Yozai"/>
                <a:cs typeface="Yozai"/>
              </a:defRPr>
            </a:pPr>
            <a:r>
              <a:rPr sz="1875">
                <a:solidFill>
                  <a:srgbClr val="626970"/>
                </a:solidFill>
                <a:latin typeface="Yozai"/>
                <a:ea typeface="Yozai"/>
                <a:cs typeface="Yozai"/>
              </a:rPr>
              <a:t>类型检查与构建通过</a:t>
            </a:r>
          </a:p>
        </p:txBody>
      </p:sp>
      <p:sp>
        <p:nvSpPr>
          <p:cNvPr id="17" name="03">
            <a:extLst>
              <a:ext uri="{FF2B5EF4-FFF2-40B4-BE49-F238E27FC236}">
                <a16:creationId xmlns:a16="http://schemas.microsoft.com/office/drawing/2014/main" id="{1FA776C7-E531-49C7-92E4-9E990AC429F1}"/>
              </a:ext>
            </a:extLst>
          </p:cNvPr>
          <p:cNvSpPr>
            <a:spLocks noGrp="1"/>
          </p:cNvSpPr>
          <p:nvPr/>
        </p:nvSpPr>
        <p:spPr>
          <a:xfrm>
            <a:off x="8562975" y="2200275"/>
            <a:ext cx="276225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3150">
                <a:solidFill>
                  <a:srgbClr val="355F52"/>
                </a:solidFill>
                <a:latin typeface="Barlow Condensed SemiBold"/>
                <a:ea typeface="Barlow Condensed SemiBold"/>
                <a:cs typeface="Barlow Condensed SemiBold"/>
              </a:defRPr>
            </a:pPr>
            <a:r>
              <a:rPr sz="3150">
                <a:solidFill>
                  <a:srgbClr val="355F52"/>
                </a:solidFill>
                <a:latin typeface="Barlow Condensed SemiBold"/>
                <a:ea typeface="Barlow Condensed SemiBold"/>
                <a:cs typeface="Barlow Condensed SemiBold"/>
              </a:rPr>
              <a:t>03</a:t>
            </a:r>
          </a:p>
        </p:txBody>
      </p:sp>
      <p:sp>
        <p:nvSpPr>
          <p:cNvPr id="18" name="课程正式验收">
            <a:extLst>
              <a:ext uri="{FF2B5EF4-FFF2-40B4-BE49-F238E27FC236}">
                <a16:creationId xmlns:a16="http://schemas.microsoft.com/office/drawing/2014/main" id="{8BFB06C1-9E69-4510-B10A-1529CD63B6EF}"/>
              </a:ext>
            </a:extLst>
          </p:cNvPr>
          <p:cNvSpPr>
            <a:spLocks noGrp="1"/>
          </p:cNvSpPr>
          <p:nvPr/>
        </p:nvSpPr>
        <p:spPr>
          <a:xfrm>
            <a:off x="8562975" y="2857500"/>
            <a:ext cx="28194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175">
                <a:solidFill>
                  <a:srgbClr val="355F52"/>
                </a:solidFill>
                <a:latin typeface="Yozai Medium"/>
                <a:ea typeface="Yozai Medium"/>
                <a:cs typeface="Yozai Medium"/>
              </a:defRPr>
            </a:pPr>
            <a:r>
              <a:rPr sz="2175">
                <a:solidFill>
                  <a:srgbClr val="355F52"/>
                </a:solidFill>
                <a:latin typeface="Yozai Medium"/>
                <a:ea typeface="Yozai Medium"/>
                <a:cs typeface="Yozai Medium"/>
              </a:rPr>
              <a:t>课程正式验收</a:t>
            </a:r>
          </a:p>
        </p:txBody>
      </p:sp>
      <p:sp>
        <p:nvSpPr>
          <p:cNvPr id="19" name="159 条验收设计">
            <a:extLst>
              <a:ext uri="{FF2B5EF4-FFF2-40B4-BE49-F238E27FC236}">
                <a16:creationId xmlns:a16="http://schemas.microsoft.com/office/drawing/2014/main" id="{C6AD5D0B-76BC-4EFD-9728-D781A9493B13}"/>
              </a:ext>
            </a:extLst>
          </p:cNvPr>
          <p:cNvSpPr>
            <a:spLocks noGrp="1"/>
          </p:cNvSpPr>
          <p:nvPr/>
        </p:nvSpPr>
        <p:spPr>
          <a:xfrm>
            <a:off x="8562975" y="3552825"/>
            <a:ext cx="2819400" cy="3714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875">
                <a:solidFill>
                  <a:srgbClr val="292E32"/>
                </a:solidFill>
                <a:latin typeface="Yozai Medium"/>
                <a:ea typeface="Yozai Medium"/>
                <a:cs typeface="Yozai Medium"/>
              </a:defRPr>
            </a:pPr>
            <a:r>
              <a:rPr sz="1875">
                <a:solidFill>
                  <a:srgbClr val="292E32"/>
                </a:solidFill>
                <a:latin typeface="Yozai Medium"/>
                <a:ea typeface="Yozai Medium"/>
                <a:cs typeface="Yozai Medium"/>
              </a:rPr>
              <a:t>159 条验收设计</a:t>
            </a:r>
          </a:p>
        </p:txBody>
      </p:sp>
      <p:sp>
        <p:nvSpPr>
          <p:cNvPr id="20" name="待审核、待逐条执行&#10;归档证据与成员贡献">
            <a:extLst>
              <a:ext uri="{FF2B5EF4-FFF2-40B4-BE49-F238E27FC236}">
                <a16:creationId xmlns:a16="http://schemas.microsoft.com/office/drawing/2014/main" id="{9E9BE4AE-AB0D-4072-A65A-C4825CCE3999}"/>
              </a:ext>
            </a:extLst>
          </p:cNvPr>
          <p:cNvSpPr>
            <a:spLocks noGrp="1"/>
          </p:cNvSpPr>
          <p:nvPr/>
        </p:nvSpPr>
        <p:spPr>
          <a:xfrm>
            <a:off x="8562975" y="4143375"/>
            <a:ext cx="2819400" cy="800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1875">
                <a:solidFill>
                  <a:srgbClr val="626970"/>
                </a:solidFill>
                <a:latin typeface="Yozai"/>
                <a:ea typeface="Yozai"/>
                <a:cs typeface="Yozai"/>
              </a:defRPr>
            </a:pPr>
            <a:r>
              <a:rPr sz="1875">
                <a:solidFill>
                  <a:srgbClr val="626970"/>
                </a:solidFill>
                <a:latin typeface="Yozai"/>
                <a:ea typeface="Yozai"/>
                <a:cs typeface="Yozai"/>
              </a:rPr>
              <a:t>待审核、待逐条执行</a:t>
            </a:r>
          </a:p>
          <a:p>
            <a:pPr algn="l">
              <a:buNone/>
              <a:defRPr sz="1875">
                <a:solidFill>
                  <a:srgbClr val="626970"/>
                </a:solidFill>
                <a:latin typeface="Yozai"/>
                <a:ea typeface="Yozai"/>
                <a:cs typeface="Yozai"/>
              </a:defRPr>
            </a:pPr>
            <a:r>
              <a:rPr sz="1875">
                <a:solidFill>
                  <a:srgbClr val="626970"/>
                </a:solidFill>
                <a:latin typeface="Yozai"/>
                <a:ea typeface="Yozai"/>
                <a:cs typeface="Yozai"/>
              </a:rPr>
              <a:t>归档证据与成员贡献</a:t>
            </a:r>
          </a:p>
        </p:txBody>
      </p:sp>
      <p:cxnSp>
        <p:nvCxnSpPr>
          <p:cNvPr id="67" name="直线箭头连接符 44"/>
          <p:cNvCxnSpPr>
            <a:stCxn id="6" idx="3"/>
            <a:endCxn id="7" idx="1"/>
          </p:cNvCxnSpPr>
          <p:nvPr/>
        </p:nvCxnSpPr>
        <p:spPr>
          <a:xfrm>
            <a:off x="3829050" y="3686175"/>
            <a:ext cx="628650" cy="0"/>
          </a:xfrm>
          <a:prstGeom prst="straightConnector1">
            <a:avLst/>
          </a:prstGeom>
          <a:ln w="22860">
            <a:solidFill>
              <a:srgbClr val="355F52"/>
            </a:solidFill>
            <a:tailEnd type="triangle" w="sm" len="sm"/>
          </a:ln>
        </p:spPr>
      </p:cxnSp>
      <p:cxnSp>
        <p:nvCxnSpPr>
          <p:cNvPr id="68" name="直线箭头连接符 45"/>
          <p:cNvCxnSpPr>
            <a:stCxn id="7" idx="3"/>
            <a:endCxn id="8" idx="1"/>
          </p:cNvCxnSpPr>
          <p:nvPr/>
        </p:nvCxnSpPr>
        <p:spPr>
          <a:xfrm>
            <a:off x="7715250" y="3686175"/>
            <a:ext cx="628650" cy="0"/>
          </a:xfrm>
          <a:prstGeom prst="straightConnector1">
            <a:avLst/>
          </a:prstGeom>
          <a:ln w="22860">
            <a:solidFill>
              <a:srgbClr val="355F52"/>
            </a:solidFill>
            <a:tailEnd type="triangle" w="sm" len="sm"/>
          </a:ln>
        </p:spPr>
      </p:cxnSp>
      <p:sp>
        <p:nvSpPr>
          <p:cNvPr id="23" name="已有记录来自不同范围与批次，不累计为一次“全部通过”">
            <a:extLst>
              <a:ext uri="{FF2B5EF4-FFF2-40B4-BE49-F238E27FC236}">
                <a16:creationId xmlns:a16="http://schemas.microsoft.com/office/drawing/2014/main" id="{D2DCE304-6601-4091-B67B-62C5ADB498BF}"/>
              </a:ext>
            </a:extLst>
          </p:cNvPr>
          <p:cNvSpPr>
            <a:spLocks noGrp="1"/>
          </p:cNvSpPr>
          <p:nvPr/>
        </p:nvSpPr>
        <p:spPr>
          <a:xfrm>
            <a:off x="571500" y="5676900"/>
            <a:ext cx="110490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875">
                <a:solidFill>
                  <a:srgbClr val="355F52"/>
                </a:solidFill>
                <a:latin typeface="Yozai"/>
                <a:ea typeface="Yozai"/>
                <a:cs typeface="Yozai"/>
              </a:defRPr>
            </a:pPr>
            <a:r>
              <a:rPr sz="1875">
                <a:solidFill>
                  <a:srgbClr val="355F52"/>
                </a:solidFill>
                <a:latin typeface="Yozai"/>
                <a:ea typeface="Yozai"/>
                <a:cs typeface="Yozai"/>
              </a:rPr>
              <a:t>已有记录来自不同范围与批次</a:t>
            </a:r>
          </a:p>
        </p:txBody>
      </p:sp>
    </p:spTree>
    <p:extLst>
      <p:ext uri="{BB962C8B-B14F-4D97-AF65-F5344CB8AC3E}">
        <p14:creationId xmlns:p14="http://schemas.microsoft.com/office/powerpoint/2010/main" val="20950366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14 / SUMMARY">
            <a:extLst>
              <a:ext uri="{FF2B5EF4-FFF2-40B4-BE49-F238E27FC236}">
                <a16:creationId xmlns:a16="http://schemas.microsoft.com/office/drawing/2014/main" id="{AA407A37-53D0-426E-8F77-6EDE5FC386C8}"/>
              </a:ext>
            </a:extLst>
          </p:cNvPr>
          <p:cNvSpPr>
            <a:spLocks noGrp="1"/>
          </p:cNvSpPr>
          <p:nvPr/>
        </p:nvSpPr>
        <p:spPr>
          <a:xfrm>
            <a:off x="571500" y="295275"/>
            <a:ext cx="104775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350">
                <a:solidFill>
                  <a:srgbClr val="355F52"/>
                </a:solidFill>
                <a:latin typeface="Barlow Condensed SemiBold"/>
                <a:ea typeface="Barlow Condensed SemiBold"/>
                <a:cs typeface="Barlow Condensed SemiBold"/>
              </a:defRPr>
            </a:pPr>
            <a:r>
              <a:rPr sz="1350">
                <a:solidFill>
                  <a:srgbClr val="355F52"/>
                </a:solidFill>
                <a:latin typeface="Barlow Condensed SemiBold"/>
                <a:ea typeface="Barlow Condensed SemiBold"/>
                <a:cs typeface="Barlow Condensed SemiBold"/>
              </a:rPr>
              <a:t>14 / SUMMARY</a:t>
            </a:r>
          </a:p>
        </p:txBody>
      </p:sp>
      <p:sp>
        <p:nvSpPr>
          <p:cNvPr id="2" name="总结">
            <a:extLst>
              <a:ext uri="{FF2B5EF4-FFF2-40B4-BE49-F238E27FC236}">
                <a16:creationId xmlns:a16="http://schemas.microsoft.com/office/drawing/2014/main" id="{6C7D5490-EAA2-4831-AE74-CB7FF1F1B530}"/>
              </a:ext>
            </a:extLst>
          </p:cNvPr>
          <p:cNvSpPr>
            <a:spLocks noGrp="1"/>
          </p:cNvSpPr>
          <p:nvPr/>
        </p:nvSpPr>
        <p:spPr>
          <a:xfrm>
            <a:off x="571500" y="647700"/>
            <a:ext cx="11049000" cy="5048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850">
                <a:solidFill>
                  <a:srgbClr val="292E32"/>
                </a:solidFill>
                <a:latin typeface="Yozai Medium"/>
                <a:ea typeface="Yozai Medium"/>
                <a:cs typeface="Yozai Medium"/>
              </a:defRPr>
            </a:pPr>
            <a:r>
              <a:rPr sz="2850">
                <a:solidFill>
                  <a:srgbClr val="292E32"/>
                </a:solidFill>
                <a:latin typeface="Yozai Medium"/>
                <a:ea typeface="Yozai Medium"/>
                <a:cs typeface="Yozai Medium"/>
              </a:rPr>
              <a:t>总结</a:t>
            </a:r>
          </a:p>
        </p:txBody>
      </p:sp>
      <p:sp>
        <p:nvSpPr>
          <p:cNvPr id="3" name="本次实现的主要功能">
            <a:extLst>
              <a:ext uri="{FF2B5EF4-FFF2-40B4-BE49-F238E27FC236}">
                <a16:creationId xmlns:a16="http://schemas.microsoft.com/office/drawing/2014/main" id="{5FAC1307-D2AE-40C5-BF9B-3599F1C5EA35}"/>
              </a:ext>
            </a:extLst>
          </p:cNvPr>
          <p:cNvSpPr>
            <a:spLocks noGrp="1"/>
          </p:cNvSpPr>
          <p:nvPr/>
        </p:nvSpPr>
        <p:spPr>
          <a:xfrm>
            <a:off x="590550" y="1190625"/>
            <a:ext cx="110299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725">
                <a:solidFill>
                  <a:srgbClr val="626970"/>
                </a:solidFill>
                <a:latin typeface="Yozai"/>
                <a:ea typeface="Yozai"/>
                <a:cs typeface="Yozai"/>
              </a:defRPr>
            </a:pPr>
            <a:r>
              <a:rPr sz="1725">
                <a:solidFill>
                  <a:srgbClr val="626970"/>
                </a:solidFill>
                <a:latin typeface="Yozai"/>
                <a:ea typeface="Yozai"/>
                <a:cs typeface="Yozai"/>
              </a:rPr>
              <a:t>本次实现的主要功能</a:t>
            </a: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71500" y="1924050"/>
            <a:ext cx="742950" cy="742950"/>
          </a:xfrm>
          <a:prstGeom prst="rect">
            <a:avLst/>
          </a:prstGeom>
        </p:spPr>
      </p:pic>
      <p:sp>
        <p:nvSpPr>
          <p:cNvPr id="5" name="账户与权限">
            <a:extLst>
              <a:ext uri="{FF2B5EF4-FFF2-40B4-BE49-F238E27FC236}">
                <a16:creationId xmlns:a16="http://schemas.microsoft.com/office/drawing/2014/main" id="{F7744702-A075-413F-BC66-68906BDB86A8}"/>
              </a:ext>
            </a:extLst>
          </p:cNvPr>
          <p:cNvSpPr>
            <a:spLocks noGrp="1"/>
          </p:cNvSpPr>
          <p:nvPr/>
        </p:nvSpPr>
        <p:spPr>
          <a:xfrm>
            <a:off x="1447800" y="1952625"/>
            <a:ext cx="26289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75">
                <a:solidFill>
                  <a:srgbClr val="355F52"/>
                </a:solidFill>
                <a:latin typeface="Yozai Medium"/>
                <a:ea typeface="Yozai Medium"/>
                <a:cs typeface="Yozai Medium"/>
              </a:defRPr>
            </a:pPr>
            <a:r>
              <a:rPr sz="2175">
                <a:solidFill>
                  <a:srgbClr val="355F52"/>
                </a:solidFill>
                <a:latin typeface="Yozai Medium"/>
                <a:ea typeface="Yozai Medium"/>
                <a:cs typeface="Yozai Medium"/>
              </a:rPr>
              <a:t>账户与权限</a:t>
            </a:r>
          </a:p>
        </p:txBody>
      </p:sp>
      <p:sp>
        <p:nvSpPr>
          <p:cNvPr id="6" name="注册登录与资料维护&#10;会话、角色和访问权限">
            <a:extLst>
              <a:ext uri="{FF2B5EF4-FFF2-40B4-BE49-F238E27FC236}">
                <a16:creationId xmlns:a16="http://schemas.microsoft.com/office/drawing/2014/main" id="{EC00E7A0-BCB4-40A8-B39D-39FBDE2CB748}"/>
              </a:ext>
            </a:extLst>
          </p:cNvPr>
          <p:cNvSpPr>
            <a:spLocks noGrp="1"/>
          </p:cNvSpPr>
          <p:nvPr/>
        </p:nvSpPr>
        <p:spPr>
          <a:xfrm>
            <a:off x="1447800" y="2457450"/>
            <a:ext cx="2628900" cy="790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725">
                <a:solidFill>
                  <a:srgbClr val="292E32"/>
                </a:solidFill>
                <a:latin typeface="Yozai"/>
                <a:ea typeface="Yozai"/>
                <a:cs typeface="Yozai"/>
              </a:defRPr>
            </a:pPr>
            <a:r>
              <a:rPr sz="1725">
                <a:solidFill>
                  <a:srgbClr val="292E32"/>
                </a:solidFill>
                <a:latin typeface="Yozai"/>
                <a:ea typeface="Yozai"/>
                <a:cs typeface="Yozai"/>
              </a:rPr>
              <a:t>注册登录与资料维护</a:t>
            </a:r>
          </a:p>
          <a:p>
            <a:pPr algn="l">
              <a:defRPr sz="1725">
                <a:solidFill>
                  <a:srgbClr val="292E32"/>
                </a:solidFill>
                <a:latin typeface="Yozai"/>
                <a:ea typeface="Yozai"/>
                <a:cs typeface="Yozai"/>
              </a:defRPr>
            </a:pPr>
            <a:r>
              <a:rPr sz="1725">
                <a:solidFill>
                  <a:srgbClr val="292E32"/>
                </a:solidFill>
                <a:latin typeface="Yozai"/>
                <a:ea typeface="Yozai"/>
                <a:cs typeface="Yozai"/>
              </a:rPr>
              <a:t>会话、角色和访问权限</a:t>
            </a: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381500" y="1924050"/>
            <a:ext cx="742950" cy="742950"/>
          </a:xfrm>
          <a:prstGeom prst="rect">
            <a:avLst/>
          </a:prstGeom>
        </p:spPr>
      </p:pic>
      <p:sp>
        <p:nvSpPr>
          <p:cNvPr id="8" name="商品与库存">
            <a:extLst>
              <a:ext uri="{FF2B5EF4-FFF2-40B4-BE49-F238E27FC236}">
                <a16:creationId xmlns:a16="http://schemas.microsoft.com/office/drawing/2014/main" id="{0D57B95E-BC9D-436D-8FD1-1F46D70D5254}"/>
              </a:ext>
            </a:extLst>
          </p:cNvPr>
          <p:cNvSpPr>
            <a:spLocks noGrp="1"/>
          </p:cNvSpPr>
          <p:nvPr/>
        </p:nvSpPr>
        <p:spPr>
          <a:xfrm>
            <a:off x="5257800" y="1952625"/>
            <a:ext cx="26289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75">
                <a:solidFill>
                  <a:srgbClr val="355F52"/>
                </a:solidFill>
                <a:latin typeface="Yozai Medium"/>
                <a:ea typeface="Yozai Medium"/>
                <a:cs typeface="Yozai Medium"/>
              </a:defRPr>
            </a:pPr>
            <a:r>
              <a:rPr sz="2175">
                <a:solidFill>
                  <a:srgbClr val="355F52"/>
                </a:solidFill>
                <a:latin typeface="Yozai Medium"/>
                <a:ea typeface="Yozai Medium"/>
                <a:cs typeface="Yozai Medium"/>
              </a:rPr>
              <a:t>商品与库存</a:t>
            </a:r>
          </a:p>
        </p:txBody>
      </p:sp>
      <p:sp>
        <p:nvSpPr>
          <p:cNvPr id="9" name="商品检索、详情与玩法&#10;商品管理与库存流水">
            <a:extLst>
              <a:ext uri="{FF2B5EF4-FFF2-40B4-BE49-F238E27FC236}">
                <a16:creationId xmlns:a16="http://schemas.microsoft.com/office/drawing/2014/main" id="{73986AE1-F684-4C37-B1F4-5FCE65667AEB}"/>
              </a:ext>
            </a:extLst>
          </p:cNvPr>
          <p:cNvSpPr>
            <a:spLocks noGrp="1"/>
          </p:cNvSpPr>
          <p:nvPr/>
        </p:nvSpPr>
        <p:spPr>
          <a:xfrm>
            <a:off x="5257800" y="2457450"/>
            <a:ext cx="2628900" cy="790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725">
                <a:solidFill>
                  <a:srgbClr val="292E32"/>
                </a:solidFill>
                <a:latin typeface="Yozai"/>
                <a:ea typeface="Yozai"/>
                <a:cs typeface="Yozai"/>
              </a:defRPr>
            </a:pPr>
            <a:r>
              <a:rPr sz="1725">
                <a:solidFill>
                  <a:srgbClr val="292E32"/>
                </a:solidFill>
                <a:latin typeface="Yozai"/>
                <a:ea typeface="Yozai"/>
                <a:cs typeface="Yozai"/>
              </a:rPr>
              <a:t>商品检索、详情与玩法</a:t>
            </a:r>
          </a:p>
          <a:p>
            <a:pPr algn="l">
              <a:defRPr sz="1725">
                <a:solidFill>
                  <a:srgbClr val="292E32"/>
                </a:solidFill>
                <a:latin typeface="Yozai"/>
                <a:ea typeface="Yozai"/>
                <a:cs typeface="Yozai"/>
              </a:defRPr>
            </a:pPr>
            <a:r>
              <a:rPr sz="1725">
                <a:solidFill>
                  <a:srgbClr val="292E32"/>
                </a:solidFill>
                <a:latin typeface="Yozai"/>
                <a:ea typeface="Yozai"/>
                <a:cs typeface="Yozai"/>
              </a:rPr>
              <a:t>商品管理与库存流水</a:t>
            </a: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191500" y="1924050"/>
            <a:ext cx="742950" cy="742950"/>
          </a:xfrm>
          <a:prstGeom prst="rect">
            <a:avLst/>
          </a:prstGeom>
        </p:spPr>
      </p:pic>
      <p:sp>
        <p:nvSpPr>
          <p:cNvPr id="11" name="零售交易">
            <a:extLst>
              <a:ext uri="{FF2B5EF4-FFF2-40B4-BE49-F238E27FC236}">
                <a16:creationId xmlns:a16="http://schemas.microsoft.com/office/drawing/2014/main" id="{1CE8B31D-2236-46D8-B089-8B186DA376A1}"/>
              </a:ext>
            </a:extLst>
          </p:cNvPr>
          <p:cNvSpPr>
            <a:spLocks noGrp="1"/>
          </p:cNvSpPr>
          <p:nvPr/>
        </p:nvSpPr>
        <p:spPr>
          <a:xfrm>
            <a:off x="9067800" y="1952625"/>
            <a:ext cx="26289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75">
                <a:solidFill>
                  <a:srgbClr val="355F52"/>
                </a:solidFill>
                <a:latin typeface="Yozai Medium"/>
                <a:ea typeface="Yozai Medium"/>
                <a:cs typeface="Yozai Medium"/>
              </a:defRPr>
            </a:pPr>
            <a:r>
              <a:rPr sz="2175">
                <a:solidFill>
                  <a:srgbClr val="355F52"/>
                </a:solidFill>
                <a:latin typeface="Yozai Medium"/>
                <a:ea typeface="Yozai Medium"/>
                <a:cs typeface="Yozai Medium"/>
              </a:rPr>
              <a:t>零售交易</a:t>
            </a:r>
          </a:p>
        </p:txBody>
      </p:sp>
      <p:sp>
        <p:nvSpPr>
          <p:cNvPr id="12" name="购物车、结算与订单&#10;模拟付款、履约与退款">
            <a:extLst>
              <a:ext uri="{FF2B5EF4-FFF2-40B4-BE49-F238E27FC236}">
                <a16:creationId xmlns:a16="http://schemas.microsoft.com/office/drawing/2014/main" id="{5C6C9A8F-BBCB-4D1D-A6AB-FEC634BD6E0A}"/>
              </a:ext>
            </a:extLst>
          </p:cNvPr>
          <p:cNvSpPr>
            <a:spLocks noGrp="1"/>
          </p:cNvSpPr>
          <p:nvPr/>
        </p:nvSpPr>
        <p:spPr>
          <a:xfrm>
            <a:off x="9067800" y="2457450"/>
            <a:ext cx="2628900" cy="790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725">
                <a:solidFill>
                  <a:srgbClr val="292E32"/>
                </a:solidFill>
                <a:latin typeface="Yozai"/>
                <a:ea typeface="Yozai"/>
                <a:cs typeface="Yozai"/>
              </a:defRPr>
            </a:pPr>
            <a:r>
              <a:rPr sz="1725">
                <a:solidFill>
                  <a:srgbClr val="292E32"/>
                </a:solidFill>
                <a:latin typeface="Yozai"/>
                <a:ea typeface="Yozai"/>
                <a:cs typeface="Yozai"/>
              </a:rPr>
              <a:t>购物车、结算与订单</a:t>
            </a:r>
          </a:p>
          <a:p>
            <a:pPr algn="l">
              <a:defRPr sz="1725">
                <a:solidFill>
                  <a:srgbClr val="292E32"/>
                </a:solidFill>
                <a:latin typeface="Yozai"/>
                <a:ea typeface="Yozai"/>
                <a:cs typeface="Yozai"/>
              </a:defRPr>
            </a:pPr>
            <a:r>
              <a:rPr sz="1725">
                <a:solidFill>
                  <a:srgbClr val="292E32"/>
                </a:solidFill>
                <a:latin typeface="Yozai"/>
                <a:ea typeface="Yozai"/>
                <a:cs typeface="Yozai"/>
              </a:rPr>
              <a:t>模拟付款、履约与退款</a:t>
            </a: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571500" y="3838575"/>
            <a:ext cx="742950" cy="742950"/>
          </a:xfrm>
          <a:prstGeom prst="rect">
            <a:avLst/>
          </a:prstGeom>
        </p:spPr>
      </p:pic>
      <p:sp>
        <p:nvSpPr>
          <p:cNvPr id="14" name="经销合作">
            <a:extLst>
              <a:ext uri="{FF2B5EF4-FFF2-40B4-BE49-F238E27FC236}">
                <a16:creationId xmlns:a16="http://schemas.microsoft.com/office/drawing/2014/main" id="{6D7FE5E5-FDA7-48CC-9AA7-EADB3A60D5BA}"/>
              </a:ext>
            </a:extLst>
          </p:cNvPr>
          <p:cNvSpPr>
            <a:spLocks noGrp="1"/>
          </p:cNvSpPr>
          <p:nvPr/>
        </p:nvSpPr>
        <p:spPr>
          <a:xfrm>
            <a:off x="1447800" y="3867150"/>
            <a:ext cx="26289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75">
                <a:solidFill>
                  <a:srgbClr val="355F52"/>
                </a:solidFill>
                <a:latin typeface="Yozai Medium"/>
                <a:ea typeface="Yozai Medium"/>
                <a:cs typeface="Yozai Medium"/>
              </a:defRPr>
            </a:pPr>
            <a:r>
              <a:rPr sz="2175">
                <a:solidFill>
                  <a:srgbClr val="355F52"/>
                </a:solidFill>
                <a:latin typeface="Yozai Medium"/>
                <a:ea typeface="Yozai Medium"/>
                <a:cs typeface="Yozai Medium"/>
              </a:rPr>
              <a:t>经销合作</a:t>
            </a:r>
          </a:p>
        </p:txBody>
      </p:sp>
      <p:sp>
        <p:nvSpPr>
          <p:cNvPr id="15" name="合作申请与资格审核&#10;专属目录、询价与渠道">
            <a:extLst>
              <a:ext uri="{FF2B5EF4-FFF2-40B4-BE49-F238E27FC236}">
                <a16:creationId xmlns:a16="http://schemas.microsoft.com/office/drawing/2014/main" id="{71A64DF1-E702-4CB7-9D58-27458F025DC5}"/>
              </a:ext>
            </a:extLst>
          </p:cNvPr>
          <p:cNvSpPr>
            <a:spLocks noGrp="1"/>
          </p:cNvSpPr>
          <p:nvPr/>
        </p:nvSpPr>
        <p:spPr>
          <a:xfrm>
            <a:off x="1447800" y="4371975"/>
            <a:ext cx="2628900" cy="790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725">
                <a:solidFill>
                  <a:srgbClr val="292E32"/>
                </a:solidFill>
                <a:latin typeface="Yozai"/>
                <a:ea typeface="Yozai"/>
                <a:cs typeface="Yozai"/>
              </a:defRPr>
            </a:pPr>
            <a:r>
              <a:rPr sz="1725">
                <a:solidFill>
                  <a:srgbClr val="292E32"/>
                </a:solidFill>
                <a:latin typeface="Yozai"/>
                <a:ea typeface="Yozai"/>
                <a:cs typeface="Yozai"/>
              </a:rPr>
              <a:t>合作申请与资格审核</a:t>
            </a:r>
          </a:p>
          <a:p>
            <a:pPr algn="l">
              <a:defRPr sz="1725">
                <a:solidFill>
                  <a:srgbClr val="292E32"/>
                </a:solidFill>
                <a:latin typeface="Yozai"/>
                <a:ea typeface="Yozai"/>
                <a:cs typeface="Yozai"/>
              </a:defRPr>
            </a:pPr>
            <a:r>
              <a:rPr sz="1725">
                <a:solidFill>
                  <a:srgbClr val="292E32"/>
                </a:solidFill>
                <a:latin typeface="Yozai"/>
                <a:ea typeface="Yozai"/>
                <a:cs typeface="Yozai"/>
              </a:rPr>
              <a:t>专属目录、询价与渠道</a:t>
            </a:r>
          </a:p>
        </p:txBody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4381500" y="3838575"/>
            <a:ext cx="742950" cy="742950"/>
          </a:xfrm>
          <a:prstGeom prst="rect">
            <a:avLst/>
          </a:prstGeom>
        </p:spPr>
      </p:pic>
      <p:sp>
        <p:nvSpPr>
          <p:cNvPr id="17" name="内容与资料">
            <a:extLst>
              <a:ext uri="{FF2B5EF4-FFF2-40B4-BE49-F238E27FC236}">
                <a16:creationId xmlns:a16="http://schemas.microsoft.com/office/drawing/2014/main" id="{F6E0E9B9-B5CB-48B3-BA87-61E6A751A1C1}"/>
              </a:ext>
            </a:extLst>
          </p:cNvPr>
          <p:cNvSpPr>
            <a:spLocks noGrp="1"/>
          </p:cNvSpPr>
          <p:nvPr/>
        </p:nvSpPr>
        <p:spPr>
          <a:xfrm>
            <a:off x="5257800" y="3867150"/>
            <a:ext cx="26289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75">
                <a:solidFill>
                  <a:srgbClr val="355F52"/>
                </a:solidFill>
                <a:latin typeface="Yozai Medium"/>
                <a:ea typeface="Yozai Medium"/>
                <a:cs typeface="Yozai Medium"/>
              </a:defRPr>
            </a:pPr>
            <a:r>
              <a:rPr sz="2175">
                <a:solidFill>
                  <a:srgbClr val="355F52"/>
                </a:solidFill>
                <a:latin typeface="Yozai Medium"/>
                <a:ea typeface="Yozai Medium"/>
                <a:cs typeface="Yozai Medium"/>
              </a:rPr>
              <a:t>内容与资料</a:t>
            </a:r>
          </a:p>
        </p:txBody>
      </p:sp>
      <p:sp>
        <p:nvSpPr>
          <p:cNvPr id="18" name="文章、FAQ 和首页配置&#10;图文编辑、媒体与下载">
            <a:extLst>
              <a:ext uri="{FF2B5EF4-FFF2-40B4-BE49-F238E27FC236}">
                <a16:creationId xmlns:a16="http://schemas.microsoft.com/office/drawing/2014/main" id="{B7F53869-F9E2-4E9E-8383-741AE043C180}"/>
              </a:ext>
            </a:extLst>
          </p:cNvPr>
          <p:cNvSpPr>
            <a:spLocks noGrp="1"/>
          </p:cNvSpPr>
          <p:nvPr/>
        </p:nvSpPr>
        <p:spPr>
          <a:xfrm>
            <a:off x="5257800" y="4371975"/>
            <a:ext cx="2628900" cy="790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725">
                <a:solidFill>
                  <a:srgbClr val="292E32"/>
                </a:solidFill>
                <a:latin typeface="Yozai"/>
                <a:ea typeface="Yozai"/>
                <a:cs typeface="Yozai"/>
              </a:defRPr>
            </a:pPr>
            <a:r>
              <a:rPr sz="1725">
                <a:solidFill>
                  <a:srgbClr val="292E32"/>
                </a:solidFill>
                <a:latin typeface="Yozai"/>
                <a:ea typeface="Yozai"/>
                <a:cs typeface="Yozai"/>
              </a:rPr>
              <a:t>文章、FAQ 和首页配置</a:t>
            </a:r>
          </a:p>
          <a:p>
            <a:pPr algn="l">
              <a:defRPr sz="1725">
                <a:solidFill>
                  <a:srgbClr val="292E32"/>
                </a:solidFill>
                <a:latin typeface="Yozai"/>
                <a:ea typeface="Yozai"/>
                <a:cs typeface="Yozai"/>
              </a:defRPr>
            </a:pPr>
            <a:r>
              <a:rPr sz="1725">
                <a:solidFill>
                  <a:srgbClr val="292E32"/>
                </a:solidFill>
                <a:latin typeface="Yozai"/>
                <a:ea typeface="Yozai"/>
                <a:cs typeface="Yozai"/>
              </a:rPr>
              <a:t>图文编辑、媒体与下载</a:t>
            </a:r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8191500" y="3838575"/>
            <a:ext cx="742950" cy="742950"/>
          </a:xfrm>
          <a:prstGeom prst="rect">
            <a:avLst/>
          </a:prstGeom>
        </p:spPr>
      </p:pic>
      <p:sp>
        <p:nvSpPr>
          <p:cNvPr id="20" name="支持与运营">
            <a:extLst>
              <a:ext uri="{FF2B5EF4-FFF2-40B4-BE49-F238E27FC236}">
                <a16:creationId xmlns:a16="http://schemas.microsoft.com/office/drawing/2014/main" id="{A6448E7E-40E3-4DDC-9828-C4693C78E370}"/>
              </a:ext>
            </a:extLst>
          </p:cNvPr>
          <p:cNvSpPr>
            <a:spLocks noGrp="1"/>
          </p:cNvSpPr>
          <p:nvPr/>
        </p:nvSpPr>
        <p:spPr>
          <a:xfrm>
            <a:off x="9067800" y="3867150"/>
            <a:ext cx="26289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2175">
                <a:solidFill>
                  <a:srgbClr val="355F52"/>
                </a:solidFill>
                <a:latin typeface="Yozai Medium"/>
                <a:ea typeface="Yozai Medium"/>
                <a:cs typeface="Yozai Medium"/>
              </a:defRPr>
            </a:pPr>
            <a:r>
              <a:rPr sz="2175">
                <a:solidFill>
                  <a:srgbClr val="355F52"/>
                </a:solidFill>
                <a:latin typeface="Yozai Medium"/>
                <a:ea typeface="Yozai Medium"/>
                <a:cs typeface="Yozai Medium"/>
              </a:rPr>
              <a:t>支持与运营</a:t>
            </a:r>
          </a:p>
        </p:txBody>
      </p:sp>
      <p:sp>
        <p:nvSpPr>
          <p:cNvPr id="21" name="咨询工单与持续回复&#10;运营总览与审计查询">
            <a:extLst>
              <a:ext uri="{FF2B5EF4-FFF2-40B4-BE49-F238E27FC236}">
                <a16:creationId xmlns:a16="http://schemas.microsoft.com/office/drawing/2014/main" id="{A9FF9241-D421-480A-97D8-F0E8D5A35483}"/>
              </a:ext>
            </a:extLst>
          </p:cNvPr>
          <p:cNvSpPr>
            <a:spLocks noGrp="1"/>
          </p:cNvSpPr>
          <p:nvPr/>
        </p:nvSpPr>
        <p:spPr>
          <a:xfrm>
            <a:off x="9067800" y="4371975"/>
            <a:ext cx="2628900" cy="790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725">
                <a:solidFill>
                  <a:srgbClr val="292E32"/>
                </a:solidFill>
                <a:latin typeface="Yozai"/>
                <a:ea typeface="Yozai"/>
                <a:cs typeface="Yozai"/>
              </a:defRPr>
            </a:pPr>
            <a:r>
              <a:rPr sz="1725">
                <a:solidFill>
                  <a:srgbClr val="292E32"/>
                </a:solidFill>
                <a:latin typeface="Yozai"/>
                <a:ea typeface="Yozai"/>
                <a:cs typeface="Yozai"/>
              </a:rPr>
              <a:t>咨询工单与持续回复</a:t>
            </a:r>
          </a:p>
          <a:p>
            <a:pPr algn="l">
              <a:defRPr sz="1725">
                <a:solidFill>
                  <a:srgbClr val="292E32"/>
                </a:solidFill>
                <a:latin typeface="Yozai"/>
                <a:ea typeface="Yozai"/>
                <a:cs typeface="Yozai"/>
              </a:defRPr>
            </a:pPr>
            <a:r>
              <a:rPr sz="1725">
                <a:solidFill>
                  <a:srgbClr val="292E32"/>
                </a:solidFill>
                <a:latin typeface="Yozai"/>
                <a:ea typeface="Yozai"/>
                <a:cs typeface="Yozai"/>
              </a:rPr>
              <a:t>运营总览与审计查询</a:t>
            </a:r>
          </a:p>
        </p:txBody>
      </p:sp>
      <p:sp>
        <p:nvSpPr>
          <p:cNvPr id="22" name="六个业务模块在同一套前后端中协作，共享身份、事务与幂等能力">
            <a:extLst>
              <a:ext uri="{FF2B5EF4-FFF2-40B4-BE49-F238E27FC236}">
                <a16:creationId xmlns:a16="http://schemas.microsoft.com/office/drawing/2014/main" id="{25354AE0-AE71-4582-974E-BCBEFF8EF501}"/>
              </a:ext>
            </a:extLst>
          </p:cNvPr>
          <p:cNvSpPr>
            <a:spLocks noGrp="1"/>
          </p:cNvSpPr>
          <p:nvPr/>
        </p:nvSpPr>
        <p:spPr>
          <a:xfrm>
            <a:off x="571500" y="5791200"/>
            <a:ext cx="110490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1875">
                <a:solidFill>
                  <a:srgbClr val="355F52"/>
                </a:solidFill>
                <a:latin typeface="Yozai"/>
                <a:ea typeface="Yozai"/>
                <a:cs typeface="Yozai"/>
              </a:defRPr>
            </a:pPr>
            <a:r>
              <a:rPr sz="1875" dirty="0" err="1">
                <a:solidFill>
                  <a:srgbClr val="355F52"/>
                </a:solidFill>
                <a:latin typeface="Yozai"/>
                <a:ea typeface="Yozai"/>
                <a:cs typeface="Yozai"/>
              </a:rPr>
              <a:t>六个业务模块在同一套前后端中协作，共享身份、事务等能力</a:t>
            </a:r>
            <a:endParaRPr sz="1875" dirty="0">
              <a:solidFill>
                <a:srgbClr val="355F52"/>
              </a:solidFill>
              <a:latin typeface="Yozai"/>
              <a:ea typeface="Yozai"/>
              <a:cs typeface="Yozai"/>
            </a:endParaRPr>
          </a:p>
        </p:txBody>
      </p:sp>
      <p:sp>
        <p:nvSpPr>
          <p:cNvPr id="23" name="WEMOVE">
            <a:extLst>
              <a:ext uri="{FF2B5EF4-FFF2-40B4-BE49-F238E27FC236}">
                <a16:creationId xmlns:a16="http://schemas.microsoft.com/office/drawing/2014/main" id="{76C7C012-BD58-4A8D-8309-7431A058A6EA}"/>
              </a:ext>
            </a:extLst>
          </p:cNvPr>
          <p:cNvSpPr>
            <a:spLocks noGrp="1"/>
          </p:cNvSpPr>
          <p:nvPr/>
        </p:nvSpPr>
        <p:spPr>
          <a:xfrm>
            <a:off x="571500" y="6467475"/>
            <a:ext cx="19050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1350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defRPr>
            </a:pPr>
            <a:r>
              <a:rPr sz="1350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rPr>
              <a:t>WEMOVE</a:t>
            </a:r>
          </a:p>
        </p:txBody>
      </p:sp>
      <p:sp>
        <p:nvSpPr>
          <p:cNvPr id="24" name="15">
            <a:extLst>
              <a:ext uri="{FF2B5EF4-FFF2-40B4-BE49-F238E27FC236}">
                <a16:creationId xmlns:a16="http://schemas.microsoft.com/office/drawing/2014/main" id="{E5644042-A82E-4C0E-97AC-B589287D8EA5}"/>
              </a:ext>
            </a:extLst>
          </p:cNvPr>
          <p:cNvSpPr>
            <a:spLocks noGrp="1"/>
          </p:cNvSpPr>
          <p:nvPr/>
        </p:nvSpPr>
        <p:spPr>
          <a:xfrm>
            <a:off x="11049000" y="6467475"/>
            <a:ext cx="5715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r">
              <a:defRPr sz="1425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defRPr>
            </a:pPr>
            <a:r>
              <a:rPr sz="1425">
                <a:solidFill>
                  <a:srgbClr val="626970"/>
                </a:solidFill>
                <a:latin typeface="Barlow Condensed SemiBold"/>
                <a:ea typeface="Barlow Condensed SemiBold"/>
                <a:cs typeface="Barlow Condensed SemiBold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652405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0075" y="424628"/>
            <a:ext cx="333375" cy="322319"/>
          </a:xfrm>
          <a:prstGeom prst="rect">
            <a:avLst/>
          </a:prstGeom>
        </p:spPr>
      </p:pic>
      <p:sp>
        <p:nvSpPr>
          <p:cNvPr id="2" name="WEMOVE">
            <a:extLst>
              <a:ext uri="{FF2B5EF4-FFF2-40B4-BE49-F238E27FC236}">
                <a16:creationId xmlns:a16="http://schemas.microsoft.com/office/drawing/2014/main" id="{DEAFF37A-4435-41BF-ACFD-B6DEFC63C013}"/>
              </a:ext>
            </a:extLst>
          </p:cNvPr>
          <p:cNvSpPr>
            <a:spLocks noGrp="1"/>
          </p:cNvSpPr>
          <p:nvPr/>
        </p:nvSpPr>
        <p:spPr>
          <a:xfrm>
            <a:off x="1038225" y="409575"/>
            <a:ext cx="1905000" cy="466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buNone/>
              <a:defRPr sz="2550">
                <a:solidFill>
                  <a:srgbClr val="292E32"/>
                </a:solidFill>
                <a:latin typeface="Barlow Condensed SemiBold"/>
                <a:ea typeface="Barlow Condensed SemiBold"/>
                <a:cs typeface="Barlow Condensed SemiBold"/>
              </a:defRPr>
            </a:pPr>
            <a:r>
              <a:rPr sz="2550">
                <a:solidFill>
                  <a:srgbClr val="292E32"/>
                </a:solidFill>
                <a:latin typeface="Barlow Condensed SemiBold"/>
                <a:ea typeface="Barlow Condensed SemiBold"/>
                <a:cs typeface="Barlow Condensed SemiBold"/>
              </a:rPr>
              <a:t>WEMOVE</a:t>
            </a:r>
          </a:p>
        </p:txBody>
      </p:sp>
      <p:sp>
        <p:nvSpPr>
          <p:cNvPr id="3" name="A little play,">
            <a:extLst>
              <a:ext uri="{FF2B5EF4-FFF2-40B4-BE49-F238E27FC236}">
                <a16:creationId xmlns:a16="http://schemas.microsoft.com/office/drawing/2014/main" id="{F4836C7E-CA0F-4555-9ADD-872801A513C8}"/>
              </a:ext>
            </a:extLst>
          </p:cNvPr>
          <p:cNvSpPr>
            <a:spLocks noGrp="1"/>
          </p:cNvSpPr>
          <p:nvPr/>
        </p:nvSpPr>
        <p:spPr>
          <a:xfrm>
            <a:off x="762000" y="1895475"/>
            <a:ext cx="10668000" cy="1409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9075">
                <a:solidFill>
                  <a:srgbClr val="292E32"/>
                </a:solidFill>
                <a:latin typeface="Caveat"/>
                <a:ea typeface="Caveat"/>
                <a:cs typeface="Caveat"/>
              </a:defRPr>
            </a:pPr>
            <a:r>
              <a:rPr sz="9075">
                <a:solidFill>
                  <a:srgbClr val="292E32"/>
                </a:solidFill>
                <a:latin typeface="Caveat"/>
                <a:ea typeface="Caveat"/>
                <a:cs typeface="Caveat"/>
              </a:rPr>
              <a:t>A little play,</a:t>
            </a:r>
          </a:p>
        </p:txBody>
      </p:sp>
      <p:sp>
        <p:nvSpPr>
          <p:cNvPr id="4" name="every day.">
            <a:extLst>
              <a:ext uri="{FF2B5EF4-FFF2-40B4-BE49-F238E27FC236}">
                <a16:creationId xmlns:a16="http://schemas.microsoft.com/office/drawing/2014/main" id="{F5CF73AD-DCCC-4D99-963C-29CCB7A55F93}"/>
              </a:ext>
            </a:extLst>
          </p:cNvPr>
          <p:cNvSpPr>
            <a:spLocks noGrp="1"/>
          </p:cNvSpPr>
          <p:nvPr/>
        </p:nvSpPr>
        <p:spPr>
          <a:xfrm>
            <a:off x="762000" y="3257550"/>
            <a:ext cx="10668000" cy="1438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10275">
                <a:solidFill>
                  <a:srgbClr val="355F52"/>
                </a:solidFill>
                <a:latin typeface="Caveat"/>
                <a:ea typeface="Caveat"/>
                <a:cs typeface="Caveat"/>
              </a:defRPr>
            </a:pPr>
            <a:r>
              <a:rPr sz="10275">
                <a:solidFill>
                  <a:srgbClr val="355F52"/>
                </a:solidFill>
                <a:latin typeface="Caveat"/>
                <a:ea typeface="Caveat"/>
                <a:cs typeface="Caveat"/>
              </a:rPr>
              <a:t>every day.</a:t>
            </a:r>
          </a:p>
        </p:txBody>
      </p:sp>
      <p:sp>
        <p:nvSpPr>
          <p:cNvPr id="5" name="感谢聆听，欢迎提问">
            <a:extLst>
              <a:ext uri="{FF2B5EF4-FFF2-40B4-BE49-F238E27FC236}">
                <a16:creationId xmlns:a16="http://schemas.microsoft.com/office/drawing/2014/main" id="{4D30442A-49C9-435E-BB8E-68AC4B1877B3}"/>
              </a:ext>
            </a:extLst>
          </p:cNvPr>
          <p:cNvSpPr>
            <a:spLocks noGrp="1"/>
          </p:cNvSpPr>
          <p:nvPr/>
        </p:nvSpPr>
        <p:spPr>
          <a:xfrm>
            <a:off x="762000" y="5162550"/>
            <a:ext cx="10668000" cy="609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ctr">
              <a:buNone/>
              <a:defRPr sz="3300">
                <a:solidFill>
                  <a:srgbClr val="292E32"/>
                </a:solidFill>
                <a:latin typeface="Yozai Medium"/>
                <a:ea typeface="Yozai Medium"/>
                <a:cs typeface="Yozai Medium"/>
              </a:defRPr>
            </a:pPr>
            <a:r>
              <a:rPr sz="3300">
                <a:solidFill>
                  <a:srgbClr val="292E32"/>
                </a:solidFill>
                <a:latin typeface="Yozai Medium"/>
                <a:ea typeface="Yozai Medium"/>
                <a:cs typeface="Yozai Medium"/>
              </a:rPr>
              <a:t>感谢聆听，欢迎提问</a:t>
            </a:r>
          </a:p>
        </p:txBody>
      </p:sp>
    </p:spTree>
    <p:extLst>
      <p:ext uri="{BB962C8B-B14F-4D97-AF65-F5344CB8AC3E}">
        <p14:creationId xmlns:p14="http://schemas.microsoft.com/office/powerpoint/2010/main" val="147984981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1573</Words>
  <Application>Microsoft Macintosh PowerPoint</Application>
  <DocSecurity>0</DocSecurity>
  <PresentationFormat>宽屏</PresentationFormat>
  <Paragraphs>351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2" baseType="lpstr">
      <vt:lpstr>Yozai</vt:lpstr>
      <vt:lpstr>Yozai Medium</vt:lpstr>
      <vt:lpstr>Barlow Condensed SemiBold</vt:lpstr>
      <vt:lpstr>Calibri</vt:lpstr>
      <vt:lpstr>Caveat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2585867006@qq.com</cp:lastModifiedBy>
  <cp:revision>1</cp:revision>
  <dcterms:created xsi:type="dcterms:W3CDTF">2026-09-08T11:35:09Z</dcterms:created>
  <dcterms:modified xsi:type="dcterms:W3CDTF">2026-09-08T11:42:46Z</dcterms:modified>
</cp:coreProperties>
</file>